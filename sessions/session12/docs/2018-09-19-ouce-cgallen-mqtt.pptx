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p:sldMasterIdLst>
    <p:sldMasterId id="2147483648" r:id="rId1"/>
  </p:sldMasterIdLst>
  <p:notesMasterIdLst>
    <p:notesMasterId r:id="rId30"/>
  </p:notesMasterIdLst>
  <p:handoutMasterIdLst>
    <p:handoutMasterId r:id="rId31"/>
  </p:handoutMasterIdLst>
  <p:sldIdLst>
    <p:sldId id="260" r:id="rId2"/>
    <p:sldId id="553" r:id="rId3"/>
    <p:sldId id="534" r:id="rId4"/>
    <p:sldId id="532" r:id="rId5"/>
    <p:sldId id="529" r:id="rId6"/>
    <p:sldId id="535" r:id="rId7"/>
    <p:sldId id="530" r:id="rId8"/>
    <p:sldId id="562" r:id="rId9"/>
    <p:sldId id="540" r:id="rId10"/>
    <p:sldId id="541" r:id="rId11"/>
    <p:sldId id="542" r:id="rId12"/>
    <p:sldId id="563" r:id="rId13"/>
    <p:sldId id="547" r:id="rId14"/>
    <p:sldId id="567" r:id="rId15"/>
    <p:sldId id="552" r:id="rId16"/>
    <p:sldId id="568" r:id="rId17"/>
    <p:sldId id="548" r:id="rId18"/>
    <p:sldId id="551" r:id="rId19"/>
    <p:sldId id="545" r:id="rId20"/>
    <p:sldId id="546" r:id="rId21"/>
    <p:sldId id="550" r:id="rId22"/>
    <p:sldId id="564" r:id="rId23"/>
    <p:sldId id="556" r:id="rId24"/>
    <p:sldId id="557" r:id="rId25"/>
    <p:sldId id="558" r:id="rId26"/>
    <p:sldId id="559" r:id="rId27"/>
    <p:sldId id="566" r:id="rId28"/>
    <p:sldId id="539" r:id="rId29"/>
  </p:sldIdLst>
  <p:sldSz cx="9906000" cy="6858000" type="A4"/>
  <p:notesSz cx="10234613" cy="7099300"/>
  <p:defaultTextStyle>
    <a:defPPr>
      <a:defRPr lang="en-GB"/>
    </a:defPPr>
    <a:lvl1pPr algn="ctr" rtl="0" eaLnBrk="0" fontAlgn="base" hangingPunct="0">
      <a:spcBef>
        <a:spcPct val="0"/>
      </a:spcBef>
      <a:spcAft>
        <a:spcPct val="0"/>
      </a:spcAft>
      <a:defRPr kern="1200">
        <a:solidFill>
          <a:schemeClr val="tx1"/>
        </a:solidFill>
        <a:latin typeface="Arial"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00"/>
    <a:srgbClr val="339966"/>
    <a:srgbClr val="9DBEFF"/>
    <a:srgbClr val="1F5D3E"/>
    <a:srgbClr val="143E29"/>
    <a:srgbClr val="246E49"/>
    <a:srgbClr val="292929"/>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257" autoAdjust="0"/>
    <p:restoredTop sz="86435" autoAdjust="0"/>
  </p:normalViewPr>
  <p:slideViewPr>
    <p:cSldViewPr snapToObjects="1" showGuides="1">
      <p:cViewPr varScale="1">
        <p:scale>
          <a:sx n="53" d="100"/>
          <a:sy n="53" d="100"/>
        </p:scale>
        <p:origin x="-120" y="-90"/>
      </p:cViewPr>
      <p:guideLst>
        <p:guide orient="horz" pos="1842"/>
        <p:guide pos="4844"/>
      </p:guideLst>
    </p:cSldViewPr>
  </p:slideViewPr>
  <p:outlineViewPr>
    <p:cViewPr>
      <p:scale>
        <a:sx n="33" d="100"/>
        <a:sy n="33" d="100"/>
      </p:scale>
      <p:origin x="0" y="6612"/>
    </p:cViewPr>
    <p:sldLst>
      <p:sld r:id="rId1" collapse="1"/>
    </p:sldLst>
  </p:outlineViewPr>
  <p:notesTextViewPr>
    <p:cViewPr>
      <p:scale>
        <a:sx n="100" d="100"/>
        <a:sy n="100" d="100"/>
      </p:scale>
      <p:origin x="0" y="0"/>
    </p:cViewPr>
  </p:notesTextViewPr>
  <p:sorterViewPr>
    <p:cViewPr>
      <p:scale>
        <a:sx n="75" d="100"/>
        <a:sy n="75" d="100"/>
      </p:scale>
      <p:origin x="0" y="0"/>
    </p:cViewPr>
  </p:sorterViewPr>
  <p:notesViewPr>
    <p:cSldViewPr snapToObjects="1" showGuides="1">
      <p:cViewPr varScale="1">
        <p:scale>
          <a:sx n="85" d="100"/>
          <a:sy n="85" d="100"/>
        </p:scale>
        <p:origin x="-2196" y="-78"/>
      </p:cViewPr>
      <p:guideLst>
        <p:guide orient="horz" pos="2235"/>
        <p:guide pos="3223"/>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1"/>
            <a:ext cx="180750" cy="288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9469" tIns="43890" rIns="89469" bIns="43890" numCol="1" anchor="t" anchorCtr="0" compatLnSpc="1">
            <a:prstTxWarp prst="textNoShape">
              <a:avLst/>
            </a:prstTxWarp>
            <a:spAutoFit/>
          </a:bodyPr>
          <a:lstStyle>
            <a:lvl1pPr algn="l" defTabSz="984843">
              <a:defRPr sz="1300" smtClean="0">
                <a:effectLst>
                  <a:outerShdw blurRad="38100" dist="38100" dir="2700000" algn="tl">
                    <a:srgbClr val="C0C0C0"/>
                  </a:outerShdw>
                </a:effectLst>
                <a:latin typeface="Arial" charset="0"/>
              </a:defRPr>
            </a:lvl1pPr>
          </a:lstStyle>
          <a:p>
            <a:pPr>
              <a:defRPr/>
            </a:pPr>
            <a:endParaRPr lang="en-GB" dirty="0"/>
          </a:p>
        </p:txBody>
      </p:sp>
      <p:sp>
        <p:nvSpPr>
          <p:cNvPr id="4099" name="Rectangle 3"/>
          <p:cNvSpPr>
            <a:spLocks noGrp="1" noChangeArrowheads="1"/>
          </p:cNvSpPr>
          <p:nvPr>
            <p:ph type="dt" sz="quarter" idx="1"/>
          </p:nvPr>
        </p:nvSpPr>
        <p:spPr bwMode="auto">
          <a:xfrm>
            <a:off x="10053864" y="1"/>
            <a:ext cx="180750" cy="288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9469" tIns="43890" rIns="89469" bIns="43890" numCol="1" anchor="t" anchorCtr="0" compatLnSpc="1">
            <a:prstTxWarp prst="textNoShape">
              <a:avLst/>
            </a:prstTxWarp>
            <a:spAutoFit/>
          </a:bodyPr>
          <a:lstStyle>
            <a:lvl1pPr algn="r" defTabSz="984843">
              <a:defRPr sz="1300" smtClean="0">
                <a:effectLst>
                  <a:outerShdw blurRad="38100" dist="38100" dir="2700000" algn="tl">
                    <a:srgbClr val="C0C0C0"/>
                  </a:outerShdw>
                </a:effectLst>
                <a:latin typeface="Arial" charset="0"/>
              </a:defRPr>
            </a:lvl1pPr>
          </a:lstStyle>
          <a:p>
            <a:pPr>
              <a:defRPr/>
            </a:pPr>
            <a:endParaRPr lang="en-GB" dirty="0"/>
          </a:p>
        </p:txBody>
      </p:sp>
      <p:sp>
        <p:nvSpPr>
          <p:cNvPr id="4100" name="Rectangle 4"/>
          <p:cNvSpPr>
            <a:spLocks noGrp="1" noChangeArrowheads="1"/>
          </p:cNvSpPr>
          <p:nvPr>
            <p:ph type="ftr" sz="quarter" idx="2"/>
          </p:nvPr>
        </p:nvSpPr>
        <p:spPr bwMode="auto">
          <a:xfrm>
            <a:off x="0" y="6781879"/>
            <a:ext cx="180750" cy="288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9469" tIns="43890" rIns="89469" bIns="43890" numCol="1" anchor="b" anchorCtr="0" compatLnSpc="1">
            <a:prstTxWarp prst="textNoShape">
              <a:avLst/>
            </a:prstTxWarp>
            <a:spAutoFit/>
          </a:bodyPr>
          <a:lstStyle>
            <a:lvl1pPr algn="l" defTabSz="984843">
              <a:defRPr sz="1300" smtClean="0">
                <a:effectLst>
                  <a:outerShdw blurRad="38100" dist="38100" dir="2700000" algn="tl">
                    <a:srgbClr val="C0C0C0"/>
                  </a:outerShdw>
                </a:effectLst>
                <a:latin typeface="Arial" charset="0"/>
              </a:defRPr>
            </a:lvl1pPr>
          </a:lstStyle>
          <a:p>
            <a:pPr>
              <a:defRPr/>
            </a:pPr>
            <a:endParaRPr lang="en-GB" dirty="0"/>
          </a:p>
        </p:txBody>
      </p:sp>
      <p:sp>
        <p:nvSpPr>
          <p:cNvPr id="4101" name="Rectangle 5"/>
          <p:cNvSpPr>
            <a:spLocks noGrp="1" noChangeArrowheads="1"/>
          </p:cNvSpPr>
          <p:nvPr>
            <p:ph type="sldNum" sz="quarter" idx="3"/>
          </p:nvPr>
        </p:nvSpPr>
        <p:spPr bwMode="auto">
          <a:xfrm>
            <a:off x="9848743" y="6781879"/>
            <a:ext cx="385870" cy="288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9469" tIns="43890" rIns="89469" bIns="43890" numCol="1" anchor="b" anchorCtr="0" compatLnSpc="1">
            <a:prstTxWarp prst="textNoShape">
              <a:avLst/>
            </a:prstTxWarp>
            <a:spAutoFit/>
          </a:bodyPr>
          <a:lstStyle>
            <a:lvl1pPr algn="r" defTabSz="984843">
              <a:defRPr sz="1300" smtClean="0">
                <a:effectLst>
                  <a:outerShdw blurRad="38100" dist="38100" dir="2700000" algn="tl">
                    <a:srgbClr val="C0C0C0"/>
                  </a:outerShdw>
                </a:effectLst>
                <a:latin typeface="Arial" charset="0"/>
              </a:defRPr>
            </a:lvl1pPr>
          </a:lstStyle>
          <a:p>
            <a:pPr>
              <a:defRPr/>
            </a:pPr>
            <a:fld id="{23173B6F-1C26-42F6-889B-B6CE9DE33C6A}" type="slidenum">
              <a:rPr lang="en-GB"/>
              <a:pPr>
                <a:defRPr/>
              </a:pPr>
              <a:t>‹#›</a:t>
            </a:fld>
            <a:endParaRPr lang="en-GB" dirty="0"/>
          </a:p>
        </p:txBody>
      </p:sp>
    </p:spTree>
    <p:extLst>
      <p:ext uri="{BB962C8B-B14F-4D97-AF65-F5344CB8AC3E}">
        <p14:creationId xmlns:p14="http://schemas.microsoft.com/office/powerpoint/2010/main" val="12123362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1"/>
            <a:ext cx="4433963" cy="298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907" tIns="48955" rIns="97907" bIns="48955" numCol="1" anchor="t" anchorCtr="0" compatLnSpc="1">
            <a:prstTxWarp prst="textNoShape">
              <a:avLst/>
            </a:prstTxWarp>
            <a:spAutoFit/>
          </a:bodyPr>
          <a:lstStyle>
            <a:lvl1pPr algn="l" defTabSz="984843">
              <a:defRPr sz="1300" smtClean="0">
                <a:solidFill>
                  <a:srgbClr val="FFFF00"/>
                </a:solidFill>
                <a:latin typeface="Arial" charset="0"/>
              </a:defRPr>
            </a:lvl1pPr>
          </a:lstStyle>
          <a:p>
            <a:pPr>
              <a:defRPr/>
            </a:pPr>
            <a:endParaRPr lang="en-GB" dirty="0"/>
          </a:p>
        </p:txBody>
      </p:sp>
      <p:sp>
        <p:nvSpPr>
          <p:cNvPr id="2051" name="Rectangle 3"/>
          <p:cNvSpPr>
            <a:spLocks noGrp="1" noChangeArrowheads="1"/>
          </p:cNvSpPr>
          <p:nvPr>
            <p:ph type="dt" idx="1"/>
          </p:nvPr>
        </p:nvSpPr>
        <p:spPr bwMode="auto">
          <a:xfrm>
            <a:off x="5800650" y="1"/>
            <a:ext cx="4433963" cy="298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907" tIns="48955" rIns="97907" bIns="48955" numCol="1" anchor="t" anchorCtr="0" compatLnSpc="1">
            <a:prstTxWarp prst="textNoShape">
              <a:avLst/>
            </a:prstTxWarp>
            <a:spAutoFit/>
          </a:bodyPr>
          <a:lstStyle>
            <a:lvl1pPr algn="r" defTabSz="984843">
              <a:defRPr sz="1300" smtClean="0">
                <a:solidFill>
                  <a:srgbClr val="FFFF00"/>
                </a:solidFill>
                <a:latin typeface="Arial" charset="0"/>
              </a:defRPr>
            </a:lvl1pPr>
          </a:lstStyle>
          <a:p>
            <a:pPr>
              <a:defRPr/>
            </a:pPr>
            <a:endParaRPr lang="en-GB" dirty="0"/>
          </a:p>
        </p:txBody>
      </p:sp>
      <p:sp>
        <p:nvSpPr>
          <p:cNvPr id="26628" name="Rectangle 4"/>
          <p:cNvSpPr>
            <a:spLocks noGrp="1" noRot="1" noChangeAspect="1" noChangeArrowheads="1" noTextEdit="1"/>
          </p:cNvSpPr>
          <p:nvPr>
            <p:ph type="sldImg" idx="2"/>
          </p:nvPr>
        </p:nvSpPr>
        <p:spPr bwMode="auto">
          <a:xfrm>
            <a:off x="3201988" y="533400"/>
            <a:ext cx="3838575" cy="2659063"/>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3" name="Rectangle 5"/>
          <p:cNvSpPr>
            <a:spLocks noGrp="1" noChangeArrowheads="1"/>
          </p:cNvSpPr>
          <p:nvPr>
            <p:ph type="body" sz="quarter" idx="3"/>
          </p:nvPr>
        </p:nvSpPr>
        <p:spPr bwMode="auto">
          <a:xfrm>
            <a:off x="1363415" y="3371365"/>
            <a:ext cx="7507783" cy="1243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907" tIns="48955" rIns="97907" bIns="48955" numCol="1" anchor="t" anchorCtr="0" compatLnSpc="1">
            <a:prstTxWarp prst="textNoShape">
              <a:avLst/>
            </a:prstTxWarp>
            <a:spAutoFit/>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2054" name="Rectangle 6"/>
          <p:cNvSpPr>
            <a:spLocks noGrp="1" noChangeArrowheads="1"/>
          </p:cNvSpPr>
          <p:nvPr>
            <p:ph type="ftr" sz="quarter" idx="4"/>
          </p:nvPr>
        </p:nvSpPr>
        <p:spPr bwMode="auto">
          <a:xfrm>
            <a:off x="0" y="6800379"/>
            <a:ext cx="4433963" cy="298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907" tIns="48955" rIns="97907" bIns="48955" numCol="1" anchor="b" anchorCtr="0" compatLnSpc="1">
            <a:prstTxWarp prst="textNoShape">
              <a:avLst/>
            </a:prstTxWarp>
            <a:spAutoFit/>
          </a:bodyPr>
          <a:lstStyle>
            <a:lvl1pPr algn="l" defTabSz="984843">
              <a:defRPr sz="1300" smtClean="0">
                <a:solidFill>
                  <a:srgbClr val="FFFF00"/>
                </a:solidFill>
                <a:latin typeface="Arial" charset="0"/>
              </a:defRPr>
            </a:lvl1pPr>
          </a:lstStyle>
          <a:p>
            <a:pPr>
              <a:defRPr/>
            </a:pPr>
            <a:endParaRPr lang="en-GB" dirty="0"/>
          </a:p>
        </p:txBody>
      </p:sp>
      <p:sp>
        <p:nvSpPr>
          <p:cNvPr id="2055" name="Rectangle 7"/>
          <p:cNvSpPr>
            <a:spLocks noGrp="1" noChangeArrowheads="1"/>
          </p:cNvSpPr>
          <p:nvPr>
            <p:ph type="sldNum" sz="quarter" idx="5"/>
          </p:nvPr>
        </p:nvSpPr>
        <p:spPr bwMode="auto">
          <a:xfrm>
            <a:off x="5800650" y="6800379"/>
            <a:ext cx="4433963" cy="298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907" tIns="48955" rIns="97907" bIns="48955" numCol="1" anchor="b" anchorCtr="0" compatLnSpc="1">
            <a:prstTxWarp prst="textNoShape">
              <a:avLst/>
            </a:prstTxWarp>
            <a:spAutoFit/>
          </a:bodyPr>
          <a:lstStyle>
            <a:lvl1pPr algn="r" defTabSz="984843">
              <a:defRPr sz="1300" smtClean="0">
                <a:solidFill>
                  <a:srgbClr val="FFFF00"/>
                </a:solidFill>
                <a:latin typeface="Arial" charset="0"/>
              </a:defRPr>
            </a:lvl1pPr>
          </a:lstStyle>
          <a:p>
            <a:pPr>
              <a:defRPr/>
            </a:pPr>
            <a:fld id="{526F3C13-27BE-4DC8-9E92-A4A15C16D1FD}" type="slidenum">
              <a:rPr lang="en-GB"/>
              <a:pPr>
                <a:defRPr/>
              </a:pPr>
              <a:t>‹#›</a:t>
            </a:fld>
            <a:endParaRPr lang="en-GB" dirty="0"/>
          </a:p>
        </p:txBody>
      </p:sp>
    </p:spTree>
    <p:extLst>
      <p:ext uri="{BB962C8B-B14F-4D97-AF65-F5344CB8AC3E}">
        <p14:creationId xmlns:p14="http://schemas.microsoft.com/office/powerpoint/2010/main" val="19253154"/>
      </p:ext>
    </p:extLst>
  </p:cSld>
  <p:clrMap bg1="lt1" tx1="dk1" bg2="lt2" tx2="dk2" accent1="accent1" accent2="accent2" accent3="accent3" accent4="accent4" accent5="accent5" accent6="accent6" hlink="hlink" folHlink="folHlink"/>
  <p:notesStyle>
    <a:lvl1pPr marL="114300" indent="-114300" algn="l" rtl="0" eaLnBrk="0" fontAlgn="base" hangingPunct="0">
      <a:spcBef>
        <a:spcPct val="30000"/>
      </a:spcBef>
      <a:spcAft>
        <a:spcPct val="0"/>
      </a:spcAft>
      <a:buChar char="•"/>
      <a:defRPr sz="1200" kern="1200">
        <a:solidFill>
          <a:schemeClr val="tx1"/>
        </a:solidFill>
        <a:latin typeface="Times New Roman" pitchFamily="18" charset="0"/>
        <a:ea typeface="+mn-ea"/>
        <a:cs typeface="+mn-cs"/>
      </a:defRPr>
    </a:lvl1pPr>
    <a:lvl2pPr marL="571500" indent="-114300" algn="l" rtl="0" eaLnBrk="0" fontAlgn="base" hangingPunct="0">
      <a:spcBef>
        <a:spcPct val="30000"/>
      </a:spcBef>
      <a:spcAft>
        <a:spcPct val="0"/>
      </a:spcAft>
      <a:buChar char="•"/>
      <a:defRPr sz="1200" kern="1200">
        <a:solidFill>
          <a:schemeClr val="tx1"/>
        </a:solidFill>
        <a:latin typeface="Times New Roman" pitchFamily="18" charset="0"/>
        <a:ea typeface="+mn-ea"/>
        <a:cs typeface="+mn-cs"/>
      </a:defRPr>
    </a:lvl2pPr>
    <a:lvl3pPr marL="1028700" indent="-114300" algn="l" rtl="0" eaLnBrk="0" fontAlgn="base" hangingPunct="0">
      <a:spcBef>
        <a:spcPct val="30000"/>
      </a:spcBef>
      <a:spcAft>
        <a:spcPct val="0"/>
      </a:spcAft>
      <a:buChar char="•"/>
      <a:defRPr sz="1200" kern="1200">
        <a:solidFill>
          <a:schemeClr val="tx1"/>
        </a:solidFill>
        <a:latin typeface="Times New Roman" pitchFamily="18" charset="0"/>
        <a:ea typeface="+mn-ea"/>
        <a:cs typeface="+mn-cs"/>
      </a:defRPr>
    </a:lvl3pPr>
    <a:lvl4pPr marL="1485900" indent="-114300" algn="l" rtl="0" eaLnBrk="0" fontAlgn="base" hangingPunct="0">
      <a:spcBef>
        <a:spcPct val="30000"/>
      </a:spcBef>
      <a:spcAft>
        <a:spcPct val="0"/>
      </a:spcAft>
      <a:buChar char="•"/>
      <a:defRPr sz="1200" kern="1200">
        <a:solidFill>
          <a:schemeClr val="tx1"/>
        </a:solidFill>
        <a:latin typeface="Times New Roman" pitchFamily="18" charset="0"/>
        <a:ea typeface="+mn-ea"/>
        <a:cs typeface="+mn-cs"/>
      </a:defRPr>
    </a:lvl4pPr>
    <a:lvl5pPr marL="1943100" indent="-114300" algn="l" rtl="0" eaLnBrk="0" fontAlgn="base" hangingPunct="0">
      <a:spcBef>
        <a:spcPct val="30000"/>
      </a:spcBef>
      <a:spcAft>
        <a:spcPct val="0"/>
      </a:spcAft>
      <a:buChar char="•"/>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defTabSz="984843">
              <a:defRPr>
                <a:solidFill>
                  <a:schemeClr val="tx1"/>
                </a:solidFill>
                <a:latin typeface="Arial" pitchFamily="34" charset="0"/>
              </a:defRPr>
            </a:lvl1pPr>
            <a:lvl2pPr marL="775937" indent="-298437" defTabSz="984843">
              <a:defRPr>
                <a:solidFill>
                  <a:schemeClr val="tx1"/>
                </a:solidFill>
                <a:latin typeface="Arial" pitchFamily="34" charset="0"/>
              </a:defRPr>
            </a:lvl2pPr>
            <a:lvl3pPr marL="1193749" indent="-238750" defTabSz="984843">
              <a:defRPr>
                <a:solidFill>
                  <a:schemeClr val="tx1"/>
                </a:solidFill>
                <a:latin typeface="Arial" pitchFamily="34" charset="0"/>
              </a:defRPr>
            </a:lvl3pPr>
            <a:lvl4pPr marL="1671249" indent="-238750" defTabSz="984843">
              <a:defRPr>
                <a:solidFill>
                  <a:schemeClr val="tx1"/>
                </a:solidFill>
                <a:latin typeface="Arial" pitchFamily="34" charset="0"/>
              </a:defRPr>
            </a:lvl4pPr>
            <a:lvl5pPr marL="2148749" indent="-238750" defTabSz="984843">
              <a:defRPr>
                <a:solidFill>
                  <a:schemeClr val="tx1"/>
                </a:solidFill>
                <a:latin typeface="Arial" pitchFamily="34" charset="0"/>
              </a:defRPr>
            </a:lvl5pPr>
            <a:lvl6pPr marL="2626248" indent="-238750" algn="ctr" defTabSz="984843" eaLnBrk="0" fontAlgn="base" hangingPunct="0">
              <a:spcBef>
                <a:spcPct val="0"/>
              </a:spcBef>
              <a:spcAft>
                <a:spcPct val="0"/>
              </a:spcAft>
              <a:defRPr>
                <a:solidFill>
                  <a:schemeClr val="tx1"/>
                </a:solidFill>
                <a:latin typeface="Arial" pitchFamily="34" charset="0"/>
              </a:defRPr>
            </a:lvl6pPr>
            <a:lvl7pPr marL="3103748" indent="-238750" algn="ctr" defTabSz="984843" eaLnBrk="0" fontAlgn="base" hangingPunct="0">
              <a:spcBef>
                <a:spcPct val="0"/>
              </a:spcBef>
              <a:spcAft>
                <a:spcPct val="0"/>
              </a:spcAft>
              <a:defRPr>
                <a:solidFill>
                  <a:schemeClr val="tx1"/>
                </a:solidFill>
                <a:latin typeface="Arial" pitchFamily="34" charset="0"/>
              </a:defRPr>
            </a:lvl7pPr>
            <a:lvl8pPr marL="3581248" indent="-238750" algn="ctr" defTabSz="984843" eaLnBrk="0" fontAlgn="base" hangingPunct="0">
              <a:spcBef>
                <a:spcPct val="0"/>
              </a:spcBef>
              <a:spcAft>
                <a:spcPct val="0"/>
              </a:spcAft>
              <a:defRPr>
                <a:solidFill>
                  <a:schemeClr val="tx1"/>
                </a:solidFill>
                <a:latin typeface="Arial" pitchFamily="34" charset="0"/>
              </a:defRPr>
            </a:lvl8pPr>
            <a:lvl9pPr marL="4058747" indent="-238750" algn="ctr" defTabSz="984843" eaLnBrk="0" fontAlgn="base" hangingPunct="0">
              <a:spcBef>
                <a:spcPct val="0"/>
              </a:spcBef>
              <a:spcAft>
                <a:spcPct val="0"/>
              </a:spcAft>
              <a:defRPr>
                <a:solidFill>
                  <a:schemeClr val="tx1"/>
                </a:solidFill>
                <a:latin typeface="Arial" pitchFamily="34" charset="0"/>
              </a:defRPr>
            </a:lvl9pPr>
          </a:lstStyle>
          <a:p>
            <a:fld id="{51D90E7E-ADEF-4761-BB6B-196D130960B9}" type="slidenum">
              <a:rPr lang="en-GB">
                <a:solidFill>
                  <a:srgbClr val="FFFF00"/>
                </a:solidFill>
              </a:rPr>
              <a:pPr/>
              <a:t>0</a:t>
            </a:fld>
            <a:endParaRPr lang="en-GB" dirty="0">
              <a:solidFill>
                <a:srgbClr val="FFFF00"/>
              </a:solidFill>
            </a:endParaRPr>
          </a:p>
        </p:txBody>
      </p:sp>
      <p:sp>
        <p:nvSpPr>
          <p:cNvPr id="27651" name="Rectangle 2"/>
          <p:cNvSpPr>
            <a:spLocks noGrp="1" noRot="1" noChangeAspect="1" noChangeArrowheads="1" noTextEdit="1"/>
          </p:cNvSpPr>
          <p:nvPr>
            <p:ph type="sldImg"/>
          </p:nvPr>
        </p:nvSpPr>
        <p:spPr>
          <a:xfrm>
            <a:off x="3203575" y="533400"/>
            <a:ext cx="3838575" cy="2659063"/>
          </a:xfrm>
          <a:ln/>
        </p:spPr>
      </p:sp>
      <p:sp>
        <p:nvSpPr>
          <p:cNvPr id="27652" name="Rectangle 3"/>
          <p:cNvSpPr>
            <a:spLocks noGrp="1" noChangeArrowheads="1"/>
          </p:cNvSpPr>
          <p:nvPr>
            <p:ph type="body" idx="1"/>
          </p:nvPr>
        </p:nvSpPr>
        <p:spPr>
          <a:xfrm>
            <a:off x="1363415" y="3371365"/>
            <a:ext cx="7507783" cy="283532"/>
          </a:xfrm>
          <a:noFill/>
        </p:spPr>
        <p:txBody>
          <a:bodyPr/>
          <a:lstStyle/>
          <a:p>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a:spLocks noChangeArrowheads="1"/>
          </p:cNvSpPr>
          <p:nvPr/>
        </p:nvSpPr>
        <p:spPr bwMode="auto">
          <a:xfrm>
            <a:off x="8329613" y="6599238"/>
            <a:ext cx="1576387" cy="2587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9" name="Rectangle 40"/>
          <p:cNvSpPr>
            <a:spLocks noChangeArrowheads="1"/>
          </p:cNvSpPr>
          <p:nvPr userDrawn="1"/>
        </p:nvSpPr>
        <p:spPr bwMode="auto">
          <a:xfrm>
            <a:off x="6022975" y="6608763"/>
            <a:ext cx="3883025" cy="1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550" tIns="0" rIns="82550" bIns="0">
            <a:spAutoFit/>
          </a:bodyPr>
          <a:lstStyle/>
          <a:p>
            <a:pPr algn="l">
              <a:tabLst>
                <a:tab pos="538163" algn="l"/>
              </a:tabLst>
            </a:pPr>
            <a:r>
              <a:rPr lang="en-US" sz="900" dirty="0">
                <a:solidFill>
                  <a:srgbClr val="339966"/>
                </a:solidFill>
                <a:latin typeface="Garamond" pitchFamily="18" charset="0"/>
              </a:rPr>
              <a:t>entimOSS limited </a:t>
            </a:r>
            <a:r>
              <a:rPr lang="en-GB" sz="900" dirty="0">
                <a:solidFill>
                  <a:srgbClr val="339966"/>
                </a:solidFill>
                <a:latin typeface="Garamond" pitchFamily="18" charset="0"/>
              </a:rPr>
              <a:t>Company registered in England and Wales No. 06402040</a:t>
            </a:r>
            <a:endParaRPr lang="en-US" sz="900" dirty="0">
              <a:solidFill>
                <a:srgbClr val="339966"/>
              </a:solidFill>
              <a:latin typeface="Garamond" pitchFamily="18" charset="0"/>
            </a:endParaRPr>
          </a:p>
        </p:txBody>
      </p:sp>
      <p:sp>
        <p:nvSpPr>
          <p:cNvPr id="10" name="Rectangle 41"/>
          <p:cNvSpPr>
            <a:spLocks noChangeArrowheads="1"/>
          </p:cNvSpPr>
          <p:nvPr userDrawn="1"/>
        </p:nvSpPr>
        <p:spPr bwMode="auto">
          <a:xfrm>
            <a:off x="153988" y="6608763"/>
            <a:ext cx="3929062" cy="13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550" tIns="0" rIns="82550" bIns="0">
            <a:spAutoFit/>
          </a:bodyPr>
          <a:lstStyle/>
          <a:p>
            <a:pPr algn="l">
              <a:tabLst>
                <a:tab pos="538163" algn="l"/>
              </a:tabLst>
            </a:pPr>
            <a:r>
              <a:rPr lang="en-US" sz="900" dirty="0">
                <a:solidFill>
                  <a:srgbClr val="339966"/>
                </a:solidFill>
                <a:latin typeface="Garamond" pitchFamily="18" charset="0"/>
              </a:rPr>
              <a:t>© OpenNMS / </a:t>
            </a:r>
            <a:r>
              <a:rPr lang="en-US" sz="900" dirty="0" err="1">
                <a:solidFill>
                  <a:srgbClr val="339966"/>
                </a:solidFill>
                <a:latin typeface="Garamond" pitchFamily="18" charset="0"/>
              </a:rPr>
              <a:t>Entimoss</a:t>
            </a:r>
            <a:r>
              <a:rPr lang="en-US" sz="900" dirty="0">
                <a:solidFill>
                  <a:srgbClr val="339966"/>
                </a:solidFill>
                <a:latin typeface="Garamond" pitchFamily="18" charset="0"/>
              </a:rPr>
              <a:t> </a:t>
            </a:r>
            <a:r>
              <a:rPr lang="en-US" sz="900" dirty="0" smtClean="0">
                <a:solidFill>
                  <a:srgbClr val="339966"/>
                </a:solidFill>
                <a:latin typeface="Garamond" pitchFamily="18" charset="0"/>
              </a:rPr>
              <a:t>2018</a:t>
            </a:r>
            <a:endParaRPr lang="en-US" sz="900" dirty="0">
              <a:solidFill>
                <a:srgbClr val="339966"/>
              </a:solidFill>
              <a:latin typeface="Garamond" pitchFamily="18" charset="0"/>
            </a:endParaRPr>
          </a:p>
        </p:txBody>
      </p:sp>
      <p:sp>
        <p:nvSpPr>
          <p:cNvPr id="3077" name="Rectangle 5"/>
          <p:cNvSpPr>
            <a:spLocks noGrp="1" noChangeArrowheads="1"/>
          </p:cNvSpPr>
          <p:nvPr>
            <p:ph type="ctrTitle" sz="quarter"/>
          </p:nvPr>
        </p:nvSpPr>
        <p:spPr bwMode="auto">
          <a:xfrm>
            <a:off x="2535238" y="2424113"/>
            <a:ext cx="5754687" cy="506412"/>
          </a:xfrm>
        </p:spPr>
        <p:txBody>
          <a:bodyPr wrap="none" lIns="82550" tIns="41275" rIns="82550" bIns="41275" anchor="ctr"/>
          <a:lstStyle>
            <a:lvl1pPr>
              <a:defRPr>
                <a:solidFill>
                  <a:srgbClr val="1F5D3E"/>
                </a:solidFill>
              </a:defRPr>
            </a:lvl1pPr>
          </a:lstStyle>
          <a:p>
            <a:pPr lvl="0"/>
            <a:r>
              <a:rPr lang="en-GB" noProof="0" smtClean="0"/>
              <a:t>Click to edit Master title style</a:t>
            </a:r>
          </a:p>
        </p:txBody>
      </p:sp>
      <p:sp>
        <p:nvSpPr>
          <p:cNvPr id="3078" name="Rectangle 6"/>
          <p:cNvSpPr>
            <a:spLocks noGrp="1" noChangeArrowheads="1"/>
          </p:cNvSpPr>
          <p:nvPr>
            <p:ph type="subTitle" sz="quarter" idx="1"/>
          </p:nvPr>
        </p:nvSpPr>
        <p:spPr bwMode="auto">
          <a:xfrm>
            <a:off x="2547938" y="3295650"/>
            <a:ext cx="6197600" cy="357188"/>
          </a:xfrm>
        </p:spPr>
        <p:txBody>
          <a:bodyPr lIns="82550" tIns="41275" rIns="82550" bIns="41275" anchor="ctr">
            <a:spAutoFit/>
          </a:bodyPr>
          <a:lstStyle>
            <a:lvl1pPr marL="0" indent="0" algn="ctr">
              <a:buFontTx/>
              <a:buNone/>
              <a:defRPr/>
            </a:lvl1pPr>
          </a:lstStyle>
          <a:p>
            <a:pPr lvl="0"/>
            <a:r>
              <a:rPr lang="en-GB" noProof="0" smtClean="0"/>
              <a:t>Click to edit Master subtitle style</a:t>
            </a:r>
          </a:p>
        </p:txBody>
      </p:sp>
      <p:grpSp>
        <p:nvGrpSpPr>
          <p:cNvPr id="2" name="Group 1"/>
          <p:cNvGrpSpPr/>
          <p:nvPr userDrawn="1"/>
        </p:nvGrpSpPr>
        <p:grpSpPr>
          <a:xfrm>
            <a:off x="7257256" y="3629"/>
            <a:ext cx="2633776" cy="776684"/>
            <a:chOff x="7257256" y="3629"/>
            <a:chExt cx="2633776" cy="776684"/>
          </a:xfrm>
        </p:grpSpPr>
        <p:pic>
          <p:nvPicPr>
            <p:cNvPr id="8" name="Picture 2" descr="C:\Users\cgallen\Pictures\OpenNMSUK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257256" y="3629"/>
              <a:ext cx="2633776" cy="593775"/>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userDrawn="1"/>
          </p:nvSpPr>
          <p:spPr>
            <a:xfrm>
              <a:off x="7791548" y="583336"/>
              <a:ext cx="1880834" cy="196977"/>
            </a:xfrm>
            <a:prstGeom prst="rect">
              <a:avLst/>
            </a:prstGeom>
          </p:spPr>
          <p:txBody>
            <a:bodyPr wrap="square" lIns="0" tIns="0" rIns="0" bIns="0">
              <a:spAutoFit/>
            </a:bodyPr>
            <a:lstStyle/>
            <a:p>
              <a:pPr marL="0" marR="0" indent="0" algn="l" defTabSz="914400" rtl="0" eaLnBrk="0" fontAlgn="base" latinLnBrk="0" hangingPunct="0">
                <a:lnSpc>
                  <a:spcPct val="80000"/>
                </a:lnSpc>
                <a:spcBef>
                  <a:spcPct val="10000"/>
                </a:spcBef>
                <a:spcAft>
                  <a:spcPct val="0"/>
                </a:spcAft>
                <a:buClr>
                  <a:srgbClr val="990000"/>
                </a:buClr>
                <a:buSzPct val="110000"/>
                <a:buFontTx/>
                <a:buNone/>
                <a:tabLst/>
                <a:defRPr/>
              </a:pPr>
              <a:r>
                <a:rPr lang="en-GB" sz="1600" dirty="0" smtClean="0">
                  <a:solidFill>
                    <a:schemeClr val="bg1">
                      <a:lumMod val="50000"/>
                    </a:schemeClr>
                  </a:solidFill>
                </a:rPr>
                <a:t>www.opennms.co.uk</a:t>
              </a:r>
              <a:endParaRPr lang="en-GB" sz="1600" dirty="0">
                <a:solidFill>
                  <a:srgbClr val="333333"/>
                </a:solidFill>
              </a:endParaRPr>
            </a:p>
          </p:txBody>
        </p:sp>
      </p:grpSp>
    </p:spTree>
    <p:extLst>
      <p:ext uri="{BB962C8B-B14F-4D97-AF65-F5344CB8AC3E}">
        <p14:creationId xmlns:p14="http://schemas.microsoft.com/office/powerpoint/2010/main" val="380491516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25109380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20100" cy="1362075"/>
          </a:xfrm>
        </p:spPr>
        <p:txBody>
          <a:bodyPr/>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838782969"/>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176213" y="838200"/>
            <a:ext cx="4687887" cy="5454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5016500" y="838200"/>
            <a:ext cx="4689475" cy="5454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106553811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3936467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Tree>
    <p:extLst>
      <p:ext uri="{BB962C8B-B14F-4D97-AF65-F5344CB8AC3E}">
        <p14:creationId xmlns:p14="http://schemas.microsoft.com/office/powerpoint/2010/main" val="2198126194"/>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8431914"/>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138"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75210044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36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smtClean="0"/>
          </a:p>
        </p:txBody>
      </p:sp>
      <p:sp>
        <p:nvSpPr>
          <p:cNvPr id="4" name="Text Placeholder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54873466"/>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289381617"/>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24725" y="207963"/>
            <a:ext cx="2381250" cy="6084887"/>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176213" y="207963"/>
            <a:ext cx="6996112" cy="60848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210480963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gray">
          <a:xfrm>
            <a:off x="176213" y="838200"/>
            <a:ext cx="9529762" cy="545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GB" dirty="0" smtClean="0"/>
              <a:t>Click to edit Master text styles</a:t>
            </a:r>
          </a:p>
          <a:p>
            <a:pPr lvl="1"/>
            <a:r>
              <a:rPr lang="en-GB" dirty="0" smtClean="0"/>
              <a:t> This is the first level bullet</a:t>
            </a:r>
          </a:p>
          <a:p>
            <a:pPr lvl="2"/>
            <a:r>
              <a:rPr lang="en-GB" dirty="0" smtClean="0"/>
              <a:t>This is the second level bullet</a:t>
            </a:r>
          </a:p>
          <a:p>
            <a:pPr lvl="3"/>
            <a:r>
              <a:rPr lang="en-GB" dirty="0" smtClean="0"/>
              <a:t>This is the third level bullet</a:t>
            </a:r>
          </a:p>
          <a:p>
            <a:pPr lvl="4"/>
            <a:r>
              <a:rPr lang="en-GB" dirty="0" smtClean="0"/>
              <a:t>This is the forth level bullet</a:t>
            </a:r>
          </a:p>
        </p:txBody>
      </p:sp>
      <p:sp>
        <p:nvSpPr>
          <p:cNvPr id="1027" name="Rectangle 3"/>
          <p:cNvSpPr>
            <a:spLocks noGrp="1" noChangeArrowheads="1"/>
          </p:cNvSpPr>
          <p:nvPr>
            <p:ph type="title"/>
          </p:nvPr>
        </p:nvSpPr>
        <p:spPr bwMode="gray">
          <a:xfrm>
            <a:off x="176213" y="207963"/>
            <a:ext cx="6937027" cy="428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6038" tIns="0" rIns="46038" bIns="0" numCol="1" anchor="t" anchorCtr="0" compatLnSpc="1">
            <a:prstTxWarp prst="textNoShape">
              <a:avLst/>
            </a:prstTxWarp>
            <a:spAutoFit/>
          </a:bodyPr>
          <a:lstStyle/>
          <a:p>
            <a:pPr lvl="0"/>
            <a:r>
              <a:rPr lang="en-GB" dirty="0" smtClean="0"/>
              <a:t>Title</a:t>
            </a:r>
          </a:p>
        </p:txBody>
      </p:sp>
      <p:sp>
        <p:nvSpPr>
          <p:cNvPr id="1028" name="Rectangle 5"/>
          <p:cNvSpPr>
            <a:spLocks noChangeArrowheads="1"/>
          </p:cNvSpPr>
          <p:nvPr/>
        </p:nvSpPr>
        <p:spPr bwMode="auto">
          <a:xfrm>
            <a:off x="5976938" y="6608763"/>
            <a:ext cx="3929062" cy="1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550" tIns="0" rIns="82550" bIns="0">
            <a:spAutoFit/>
          </a:bodyPr>
          <a:lstStyle/>
          <a:p>
            <a:pPr algn="r">
              <a:tabLst>
                <a:tab pos="538163" algn="l"/>
              </a:tabLst>
            </a:pPr>
            <a:r>
              <a:rPr lang="en-GB" sz="900" dirty="0">
                <a:solidFill>
                  <a:srgbClr val="339966"/>
                </a:solidFill>
                <a:latin typeface="Garamond" pitchFamily="18" charset="0"/>
              </a:rPr>
              <a:t>slide - </a:t>
            </a:r>
            <a:fld id="{BB277E4E-1E33-4488-8EAA-C11FCCCFA207}" type="slidenum">
              <a:rPr lang="en-GB" sz="900">
                <a:solidFill>
                  <a:srgbClr val="339966"/>
                </a:solidFill>
                <a:latin typeface="Garamond" pitchFamily="18" charset="0"/>
              </a:rPr>
              <a:pPr algn="r">
                <a:tabLst>
                  <a:tab pos="538163" algn="l"/>
                </a:tabLst>
              </a:pPr>
              <a:t>‹#›</a:t>
            </a:fld>
            <a:endParaRPr lang="en-GB" sz="900" dirty="0">
              <a:solidFill>
                <a:srgbClr val="339966"/>
              </a:solidFill>
              <a:latin typeface="Garamond" pitchFamily="18" charset="0"/>
            </a:endParaRPr>
          </a:p>
        </p:txBody>
      </p:sp>
      <p:sp>
        <p:nvSpPr>
          <p:cNvPr id="1029" name="Rectangle 9"/>
          <p:cNvSpPr>
            <a:spLocks noChangeArrowheads="1"/>
          </p:cNvSpPr>
          <p:nvPr/>
        </p:nvSpPr>
        <p:spPr bwMode="auto">
          <a:xfrm>
            <a:off x="153988" y="6608763"/>
            <a:ext cx="3929062" cy="13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550" tIns="0" rIns="82550" bIns="0">
            <a:spAutoFit/>
          </a:bodyPr>
          <a:lstStyle/>
          <a:p>
            <a:pPr algn="l">
              <a:tabLst>
                <a:tab pos="538163" algn="l"/>
              </a:tabLst>
            </a:pPr>
            <a:r>
              <a:rPr lang="en-US" sz="900" dirty="0">
                <a:solidFill>
                  <a:srgbClr val="339966"/>
                </a:solidFill>
                <a:latin typeface="Garamond" pitchFamily="18" charset="0"/>
              </a:rPr>
              <a:t>© OpenNMS / </a:t>
            </a:r>
            <a:r>
              <a:rPr lang="en-US" sz="900" dirty="0" err="1">
                <a:solidFill>
                  <a:srgbClr val="339966"/>
                </a:solidFill>
                <a:latin typeface="Garamond" pitchFamily="18" charset="0"/>
              </a:rPr>
              <a:t>Entimoss</a:t>
            </a:r>
            <a:r>
              <a:rPr lang="en-US" sz="900" dirty="0">
                <a:solidFill>
                  <a:srgbClr val="339966"/>
                </a:solidFill>
                <a:latin typeface="Garamond" pitchFamily="18" charset="0"/>
              </a:rPr>
              <a:t> </a:t>
            </a:r>
            <a:r>
              <a:rPr lang="en-US" sz="900" dirty="0" smtClean="0">
                <a:solidFill>
                  <a:srgbClr val="339966"/>
                </a:solidFill>
                <a:latin typeface="Garamond" pitchFamily="18" charset="0"/>
              </a:rPr>
              <a:t>2018</a:t>
            </a:r>
            <a:endParaRPr lang="en-US" sz="900" dirty="0">
              <a:solidFill>
                <a:srgbClr val="339966"/>
              </a:solidFill>
              <a:latin typeface="Garamond" pitchFamily="18" charset="0"/>
            </a:endParaRPr>
          </a:p>
        </p:txBody>
      </p:sp>
      <p:grpSp>
        <p:nvGrpSpPr>
          <p:cNvPr id="7" name="Group 6"/>
          <p:cNvGrpSpPr/>
          <p:nvPr/>
        </p:nvGrpSpPr>
        <p:grpSpPr>
          <a:xfrm>
            <a:off x="7257256" y="3629"/>
            <a:ext cx="2633776" cy="776684"/>
            <a:chOff x="7257256" y="3629"/>
            <a:chExt cx="2633776" cy="776684"/>
          </a:xfrm>
        </p:grpSpPr>
        <p:pic>
          <p:nvPicPr>
            <p:cNvPr id="8" name="Picture 2" descr="C:\Users\cgallen\Pictures\OpenNMSUK1.jpg"/>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257256" y="3629"/>
              <a:ext cx="2633776" cy="59377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userDrawn="1"/>
          </p:nvSpPr>
          <p:spPr>
            <a:xfrm>
              <a:off x="7791548" y="583336"/>
              <a:ext cx="1880834" cy="196977"/>
            </a:xfrm>
            <a:prstGeom prst="rect">
              <a:avLst/>
            </a:prstGeom>
          </p:spPr>
          <p:txBody>
            <a:bodyPr wrap="square" lIns="0" tIns="0" rIns="0" bIns="0">
              <a:spAutoFit/>
            </a:bodyPr>
            <a:lstStyle/>
            <a:p>
              <a:pPr marL="0" marR="0" indent="0" algn="l" defTabSz="914400" rtl="0" eaLnBrk="0" fontAlgn="base" latinLnBrk="0" hangingPunct="0">
                <a:lnSpc>
                  <a:spcPct val="80000"/>
                </a:lnSpc>
                <a:spcBef>
                  <a:spcPct val="10000"/>
                </a:spcBef>
                <a:spcAft>
                  <a:spcPct val="0"/>
                </a:spcAft>
                <a:buClr>
                  <a:srgbClr val="990000"/>
                </a:buClr>
                <a:buSzPct val="110000"/>
                <a:buFontTx/>
                <a:buNone/>
                <a:tabLst/>
                <a:defRPr/>
              </a:pPr>
              <a:r>
                <a:rPr lang="en-GB" sz="1600" dirty="0" smtClean="0">
                  <a:solidFill>
                    <a:schemeClr val="bg1">
                      <a:lumMod val="50000"/>
                    </a:schemeClr>
                  </a:solidFill>
                </a:rPr>
                <a:t>www.opennms.co.uk</a:t>
              </a:r>
              <a:endParaRPr lang="en-GB" sz="1600" dirty="0">
                <a:solidFill>
                  <a:srgbClr val="333333"/>
                </a:solidFill>
              </a:endParaRPr>
            </a:p>
          </p:txBody>
        </p:sp>
      </p:grpSp>
    </p:spTree>
  </p:cSld>
  <p:clrMap bg1="lt1" tx1="dk1" bg2="lt2" tx2="dk2" accent1="accent1" accent2="accent2" accent3="accent3" accent4="accent4" accent5="accent5" accent6="accent6" hlink="hlink" folHlink="folHlink"/>
  <p:sldLayoutIdLst>
    <p:sldLayoutId id="2147483671"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iming>
    <p:tnLst>
      <p:par>
        <p:cTn id="1" dur="indefinite" restart="never" nodeType="tmRoot"/>
      </p:par>
    </p:tnLst>
  </p:timing>
  <p:txStyles>
    <p:titleStyle>
      <a:lvl1pPr algn="l" rtl="0" eaLnBrk="0" fontAlgn="base" hangingPunct="0">
        <a:lnSpc>
          <a:spcPct val="87000"/>
        </a:lnSpc>
        <a:spcBef>
          <a:spcPct val="0"/>
        </a:spcBef>
        <a:spcAft>
          <a:spcPct val="0"/>
        </a:spcAft>
        <a:defRPr sz="3200" b="1">
          <a:solidFill>
            <a:srgbClr val="339966"/>
          </a:solidFill>
          <a:effectLst>
            <a:outerShdw blurRad="38100" dist="38100" dir="2700000" algn="tl">
              <a:srgbClr val="C0C0C0"/>
            </a:outerShdw>
          </a:effectLst>
          <a:latin typeface="+mj-lt"/>
          <a:ea typeface="+mj-ea"/>
          <a:cs typeface="+mj-cs"/>
        </a:defRPr>
      </a:lvl1pPr>
      <a:lvl2pPr algn="l" rtl="0" eaLnBrk="0" fontAlgn="base" hangingPunct="0">
        <a:lnSpc>
          <a:spcPct val="87000"/>
        </a:lnSpc>
        <a:spcBef>
          <a:spcPct val="0"/>
        </a:spcBef>
        <a:spcAft>
          <a:spcPct val="0"/>
        </a:spcAft>
        <a:defRPr sz="3200" b="1">
          <a:solidFill>
            <a:srgbClr val="339966"/>
          </a:solidFill>
          <a:effectLst>
            <a:outerShdw blurRad="38100" dist="38100" dir="2700000" algn="tl">
              <a:srgbClr val="C0C0C0"/>
            </a:outerShdw>
          </a:effectLst>
          <a:latin typeface="Arial" charset="0"/>
        </a:defRPr>
      </a:lvl2pPr>
      <a:lvl3pPr algn="l" rtl="0" eaLnBrk="0" fontAlgn="base" hangingPunct="0">
        <a:lnSpc>
          <a:spcPct val="87000"/>
        </a:lnSpc>
        <a:spcBef>
          <a:spcPct val="0"/>
        </a:spcBef>
        <a:spcAft>
          <a:spcPct val="0"/>
        </a:spcAft>
        <a:defRPr sz="3200" b="1">
          <a:solidFill>
            <a:srgbClr val="339966"/>
          </a:solidFill>
          <a:effectLst>
            <a:outerShdw blurRad="38100" dist="38100" dir="2700000" algn="tl">
              <a:srgbClr val="C0C0C0"/>
            </a:outerShdw>
          </a:effectLst>
          <a:latin typeface="Arial" charset="0"/>
        </a:defRPr>
      </a:lvl3pPr>
      <a:lvl4pPr algn="l" rtl="0" eaLnBrk="0" fontAlgn="base" hangingPunct="0">
        <a:lnSpc>
          <a:spcPct val="87000"/>
        </a:lnSpc>
        <a:spcBef>
          <a:spcPct val="0"/>
        </a:spcBef>
        <a:spcAft>
          <a:spcPct val="0"/>
        </a:spcAft>
        <a:defRPr sz="3200" b="1">
          <a:solidFill>
            <a:srgbClr val="339966"/>
          </a:solidFill>
          <a:effectLst>
            <a:outerShdw blurRad="38100" dist="38100" dir="2700000" algn="tl">
              <a:srgbClr val="C0C0C0"/>
            </a:outerShdw>
          </a:effectLst>
          <a:latin typeface="Arial" charset="0"/>
        </a:defRPr>
      </a:lvl4pPr>
      <a:lvl5pPr algn="l" rtl="0" eaLnBrk="0" fontAlgn="base" hangingPunct="0">
        <a:lnSpc>
          <a:spcPct val="87000"/>
        </a:lnSpc>
        <a:spcBef>
          <a:spcPct val="0"/>
        </a:spcBef>
        <a:spcAft>
          <a:spcPct val="0"/>
        </a:spcAft>
        <a:defRPr sz="3200" b="1">
          <a:solidFill>
            <a:srgbClr val="339966"/>
          </a:solidFill>
          <a:effectLst>
            <a:outerShdw blurRad="38100" dist="38100" dir="2700000" algn="tl">
              <a:srgbClr val="C0C0C0"/>
            </a:outerShdw>
          </a:effectLst>
          <a:latin typeface="Arial" charset="0"/>
        </a:defRPr>
      </a:lvl5pPr>
      <a:lvl6pPr marL="457200" algn="l" rtl="0" eaLnBrk="0" fontAlgn="base" hangingPunct="0">
        <a:lnSpc>
          <a:spcPct val="87000"/>
        </a:lnSpc>
        <a:spcBef>
          <a:spcPct val="0"/>
        </a:spcBef>
        <a:spcAft>
          <a:spcPct val="0"/>
        </a:spcAft>
        <a:defRPr sz="3200" b="1">
          <a:solidFill>
            <a:srgbClr val="339966"/>
          </a:solidFill>
          <a:effectLst>
            <a:outerShdw blurRad="38100" dist="38100" dir="2700000" algn="tl">
              <a:srgbClr val="C0C0C0"/>
            </a:outerShdw>
          </a:effectLst>
          <a:latin typeface="Arial" charset="0"/>
        </a:defRPr>
      </a:lvl6pPr>
      <a:lvl7pPr marL="914400" algn="l" rtl="0" eaLnBrk="0" fontAlgn="base" hangingPunct="0">
        <a:lnSpc>
          <a:spcPct val="87000"/>
        </a:lnSpc>
        <a:spcBef>
          <a:spcPct val="0"/>
        </a:spcBef>
        <a:spcAft>
          <a:spcPct val="0"/>
        </a:spcAft>
        <a:defRPr sz="3200" b="1">
          <a:solidFill>
            <a:srgbClr val="339966"/>
          </a:solidFill>
          <a:effectLst>
            <a:outerShdw blurRad="38100" dist="38100" dir="2700000" algn="tl">
              <a:srgbClr val="C0C0C0"/>
            </a:outerShdw>
          </a:effectLst>
          <a:latin typeface="Arial" charset="0"/>
        </a:defRPr>
      </a:lvl7pPr>
      <a:lvl8pPr marL="1371600" algn="l" rtl="0" eaLnBrk="0" fontAlgn="base" hangingPunct="0">
        <a:lnSpc>
          <a:spcPct val="87000"/>
        </a:lnSpc>
        <a:spcBef>
          <a:spcPct val="0"/>
        </a:spcBef>
        <a:spcAft>
          <a:spcPct val="0"/>
        </a:spcAft>
        <a:defRPr sz="3200" b="1">
          <a:solidFill>
            <a:srgbClr val="339966"/>
          </a:solidFill>
          <a:effectLst>
            <a:outerShdw blurRad="38100" dist="38100" dir="2700000" algn="tl">
              <a:srgbClr val="C0C0C0"/>
            </a:outerShdw>
          </a:effectLst>
          <a:latin typeface="Arial" charset="0"/>
        </a:defRPr>
      </a:lvl8pPr>
      <a:lvl9pPr marL="1828800" algn="l" rtl="0" eaLnBrk="0" fontAlgn="base" hangingPunct="0">
        <a:lnSpc>
          <a:spcPct val="87000"/>
        </a:lnSpc>
        <a:spcBef>
          <a:spcPct val="0"/>
        </a:spcBef>
        <a:spcAft>
          <a:spcPct val="0"/>
        </a:spcAft>
        <a:defRPr sz="3200" b="1">
          <a:solidFill>
            <a:srgbClr val="339966"/>
          </a:solidFill>
          <a:effectLst>
            <a:outerShdw blurRad="38100" dist="38100" dir="2700000" algn="tl">
              <a:srgbClr val="C0C0C0"/>
            </a:outerShdw>
          </a:effectLst>
          <a:latin typeface="Arial" charset="0"/>
        </a:defRPr>
      </a:lvl9pPr>
    </p:titleStyle>
    <p:bodyStyle>
      <a:lvl1pPr marL="349250" indent="-349250" algn="l" rtl="0" eaLnBrk="0" fontAlgn="base" hangingPunct="0">
        <a:spcBef>
          <a:spcPct val="10000"/>
        </a:spcBef>
        <a:spcAft>
          <a:spcPct val="0"/>
        </a:spcAft>
        <a:buClr>
          <a:srgbClr val="990000"/>
        </a:buClr>
        <a:buSzPct val="110000"/>
        <a:buChar char="•"/>
        <a:defRPr b="1">
          <a:solidFill>
            <a:schemeClr val="tx1"/>
          </a:solidFill>
          <a:latin typeface="+mn-lt"/>
          <a:ea typeface="+mn-ea"/>
          <a:cs typeface="+mn-cs"/>
        </a:defRPr>
      </a:lvl1pPr>
      <a:lvl2pPr marL="800100" indent="-336550" algn="l" rtl="0" eaLnBrk="0" fontAlgn="base" hangingPunct="0">
        <a:spcBef>
          <a:spcPct val="10000"/>
        </a:spcBef>
        <a:spcAft>
          <a:spcPct val="0"/>
        </a:spcAft>
        <a:buClr>
          <a:srgbClr val="003399"/>
        </a:buClr>
        <a:buChar char="—"/>
        <a:defRPr sz="1600">
          <a:solidFill>
            <a:schemeClr val="tx1"/>
          </a:solidFill>
          <a:latin typeface="+mn-lt"/>
        </a:defRPr>
      </a:lvl2pPr>
      <a:lvl3pPr marL="1146175" indent="-231775" algn="l" rtl="0" eaLnBrk="0" fontAlgn="base" hangingPunct="0">
        <a:spcBef>
          <a:spcPct val="10000"/>
        </a:spcBef>
        <a:spcAft>
          <a:spcPct val="0"/>
        </a:spcAft>
        <a:buClr>
          <a:srgbClr val="003399"/>
        </a:buClr>
        <a:buChar char="–"/>
        <a:defRPr sz="1600">
          <a:solidFill>
            <a:schemeClr val="tx1"/>
          </a:solidFill>
          <a:latin typeface="+mn-lt"/>
        </a:defRPr>
      </a:lvl3pPr>
      <a:lvl4pPr marL="1485900" indent="-225425" algn="l" rtl="0" eaLnBrk="0" fontAlgn="base" hangingPunct="0">
        <a:spcBef>
          <a:spcPct val="10000"/>
        </a:spcBef>
        <a:spcAft>
          <a:spcPct val="0"/>
        </a:spcAft>
        <a:buClr>
          <a:srgbClr val="003399"/>
        </a:buClr>
        <a:buChar char="–"/>
        <a:defRPr sz="1600">
          <a:solidFill>
            <a:schemeClr val="tx1"/>
          </a:solidFill>
          <a:latin typeface="+mn-lt"/>
        </a:defRPr>
      </a:lvl4pPr>
      <a:lvl5pPr marL="2057400" indent="-228600" algn="l" rtl="0" eaLnBrk="0" fontAlgn="base" hangingPunct="0">
        <a:spcBef>
          <a:spcPct val="10000"/>
        </a:spcBef>
        <a:spcAft>
          <a:spcPct val="0"/>
        </a:spcAft>
        <a:buClr>
          <a:srgbClr val="003399"/>
        </a:buClr>
        <a:buChar char="–"/>
        <a:defRPr sz="1600">
          <a:solidFill>
            <a:schemeClr val="tx1"/>
          </a:solidFill>
          <a:latin typeface="+mn-lt"/>
        </a:defRPr>
      </a:lvl5pPr>
      <a:lvl6pPr marL="2514600" indent="-228600" algn="l" rtl="0" eaLnBrk="0" fontAlgn="base" hangingPunct="0">
        <a:spcBef>
          <a:spcPct val="10000"/>
        </a:spcBef>
        <a:spcAft>
          <a:spcPct val="0"/>
        </a:spcAft>
        <a:buClr>
          <a:srgbClr val="003399"/>
        </a:buClr>
        <a:buChar char="–"/>
        <a:defRPr sz="1600">
          <a:solidFill>
            <a:schemeClr val="tx1"/>
          </a:solidFill>
          <a:latin typeface="+mn-lt"/>
        </a:defRPr>
      </a:lvl6pPr>
      <a:lvl7pPr marL="2971800" indent="-228600" algn="l" rtl="0" eaLnBrk="0" fontAlgn="base" hangingPunct="0">
        <a:spcBef>
          <a:spcPct val="10000"/>
        </a:spcBef>
        <a:spcAft>
          <a:spcPct val="0"/>
        </a:spcAft>
        <a:buClr>
          <a:srgbClr val="003399"/>
        </a:buClr>
        <a:buChar char="–"/>
        <a:defRPr sz="1600">
          <a:solidFill>
            <a:schemeClr val="tx1"/>
          </a:solidFill>
          <a:latin typeface="+mn-lt"/>
        </a:defRPr>
      </a:lvl7pPr>
      <a:lvl8pPr marL="3429000" indent="-228600" algn="l" rtl="0" eaLnBrk="0" fontAlgn="base" hangingPunct="0">
        <a:spcBef>
          <a:spcPct val="10000"/>
        </a:spcBef>
        <a:spcAft>
          <a:spcPct val="0"/>
        </a:spcAft>
        <a:buClr>
          <a:srgbClr val="003399"/>
        </a:buClr>
        <a:buChar char="–"/>
        <a:defRPr sz="1600">
          <a:solidFill>
            <a:schemeClr val="tx1"/>
          </a:solidFill>
          <a:latin typeface="+mn-lt"/>
        </a:defRPr>
      </a:lvl8pPr>
      <a:lvl9pPr marL="3886200" indent="-228600" algn="l" rtl="0" eaLnBrk="0" fontAlgn="base" hangingPunct="0">
        <a:spcBef>
          <a:spcPct val="10000"/>
        </a:spcBef>
        <a:spcAft>
          <a:spcPct val="0"/>
        </a:spcAft>
        <a:buClr>
          <a:srgbClr val="003399"/>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craig.gallen@entimoss.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image" Target="../media/image2.jpeg"/><Relationship Id="rId4" Type="http://schemas.openxmlformats.org/officeDocument/2006/relationships/hyperlink" Target="mailto:cgallen@opennms.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tiff"/><Relationship Id="rId7" Type="http://schemas.openxmlformats.org/officeDocument/2006/relationships/image" Target="../media/image13.png"/><Relationship Id="rId2" Type="http://schemas.openxmlformats.org/officeDocument/2006/relationships/image" Target="../media/image8.jp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jpeg"/><Relationship Id="rId4" Type="http://schemas.openxmlformats.org/officeDocument/2006/relationships/image" Target="../media/image10.jpeg"/><Relationship Id="rId9" Type="http://schemas.openxmlformats.org/officeDocument/2006/relationships/image" Target="../media/image15.jpeg"/></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9.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22.jpeg"/></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3.png"/><Relationship Id="rId7" Type="http://schemas.openxmlformats.org/officeDocument/2006/relationships/image" Target="../media/image36.jpe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14.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4" name="Rectangle 1028"/>
          <p:cNvSpPr>
            <a:spLocks noGrp="1" noChangeArrowheads="1"/>
          </p:cNvSpPr>
          <p:nvPr>
            <p:ph type="ctrTitle"/>
          </p:nvPr>
        </p:nvSpPr>
        <p:spPr>
          <a:xfrm>
            <a:off x="663720" y="1617097"/>
            <a:ext cx="5360843" cy="565348"/>
          </a:xfrm>
        </p:spPr>
        <p:txBody>
          <a:bodyPr wrap="square"/>
          <a:lstStyle/>
          <a:p>
            <a:pPr>
              <a:defRPr/>
            </a:pPr>
            <a:r>
              <a:rPr lang="en-GB" sz="3600" dirty="0" err="1" smtClean="0">
                <a:solidFill>
                  <a:srgbClr val="339966"/>
                </a:solidFill>
              </a:rPr>
              <a:t>IoT</a:t>
            </a:r>
            <a:r>
              <a:rPr lang="en-GB" sz="3600" dirty="0" smtClean="0">
                <a:solidFill>
                  <a:srgbClr val="339966"/>
                </a:solidFill>
              </a:rPr>
              <a:t> and </a:t>
            </a:r>
            <a:r>
              <a:rPr lang="en-GB" sz="3600" dirty="0" err="1" smtClean="0">
                <a:solidFill>
                  <a:srgbClr val="339966"/>
                </a:solidFill>
              </a:rPr>
              <a:t>OpenNMS</a:t>
            </a:r>
            <a:endParaRPr lang="en-GB" sz="3600" dirty="0" smtClean="0">
              <a:solidFill>
                <a:srgbClr val="339966"/>
              </a:solidFill>
            </a:endParaRPr>
          </a:p>
        </p:txBody>
      </p:sp>
      <p:sp>
        <p:nvSpPr>
          <p:cNvPr id="3077" name="Rectangle 1029"/>
          <p:cNvSpPr txBox="1">
            <a:spLocks noChangeArrowheads="1"/>
          </p:cNvSpPr>
          <p:nvPr/>
        </p:nvSpPr>
        <p:spPr bwMode="auto">
          <a:xfrm>
            <a:off x="677535" y="2290488"/>
            <a:ext cx="3636380" cy="951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296" rIns="82296">
            <a:spAutoFit/>
          </a:bodyPr>
          <a:lstStyle>
            <a:lvl1pPr>
              <a:tabLst>
                <a:tab pos="444500" algn="l"/>
              </a:tabLst>
              <a:defRPr>
                <a:solidFill>
                  <a:schemeClr val="tx1"/>
                </a:solidFill>
                <a:latin typeface="Arial" pitchFamily="34" charset="0"/>
              </a:defRPr>
            </a:lvl1pPr>
            <a:lvl2pPr marL="742950" indent="-285750">
              <a:tabLst>
                <a:tab pos="444500" algn="l"/>
              </a:tabLst>
              <a:defRPr>
                <a:solidFill>
                  <a:schemeClr val="tx1"/>
                </a:solidFill>
                <a:latin typeface="Arial" pitchFamily="34" charset="0"/>
              </a:defRPr>
            </a:lvl2pPr>
            <a:lvl3pPr marL="1143000" indent="-228600">
              <a:tabLst>
                <a:tab pos="444500" algn="l"/>
              </a:tabLst>
              <a:defRPr>
                <a:solidFill>
                  <a:schemeClr val="tx1"/>
                </a:solidFill>
                <a:latin typeface="Arial" pitchFamily="34" charset="0"/>
              </a:defRPr>
            </a:lvl3pPr>
            <a:lvl4pPr marL="1600200" indent="-228600">
              <a:tabLst>
                <a:tab pos="444500" algn="l"/>
              </a:tabLst>
              <a:defRPr>
                <a:solidFill>
                  <a:schemeClr val="tx1"/>
                </a:solidFill>
                <a:latin typeface="Arial" pitchFamily="34" charset="0"/>
              </a:defRPr>
            </a:lvl4pPr>
            <a:lvl5pPr marL="2057400" indent="-228600">
              <a:tabLst>
                <a:tab pos="444500" algn="l"/>
              </a:tabLst>
              <a:defRPr>
                <a:solidFill>
                  <a:schemeClr val="tx1"/>
                </a:solidFill>
                <a:latin typeface="Arial" pitchFamily="34" charset="0"/>
              </a:defRPr>
            </a:lvl5pPr>
            <a:lvl6pPr marL="2514600" indent="-228600" algn="ctr" eaLnBrk="0" fontAlgn="base" hangingPunct="0">
              <a:spcBef>
                <a:spcPct val="0"/>
              </a:spcBef>
              <a:spcAft>
                <a:spcPct val="0"/>
              </a:spcAft>
              <a:tabLst>
                <a:tab pos="444500" algn="l"/>
              </a:tabLst>
              <a:defRPr>
                <a:solidFill>
                  <a:schemeClr val="tx1"/>
                </a:solidFill>
                <a:latin typeface="Arial" pitchFamily="34" charset="0"/>
              </a:defRPr>
            </a:lvl6pPr>
            <a:lvl7pPr marL="2971800" indent="-228600" algn="ctr" eaLnBrk="0" fontAlgn="base" hangingPunct="0">
              <a:spcBef>
                <a:spcPct val="0"/>
              </a:spcBef>
              <a:spcAft>
                <a:spcPct val="0"/>
              </a:spcAft>
              <a:tabLst>
                <a:tab pos="444500" algn="l"/>
              </a:tabLst>
              <a:defRPr>
                <a:solidFill>
                  <a:schemeClr val="tx1"/>
                </a:solidFill>
                <a:latin typeface="Arial" pitchFamily="34" charset="0"/>
              </a:defRPr>
            </a:lvl7pPr>
            <a:lvl8pPr marL="3429000" indent="-228600" algn="ctr" eaLnBrk="0" fontAlgn="base" hangingPunct="0">
              <a:spcBef>
                <a:spcPct val="0"/>
              </a:spcBef>
              <a:spcAft>
                <a:spcPct val="0"/>
              </a:spcAft>
              <a:tabLst>
                <a:tab pos="444500" algn="l"/>
              </a:tabLst>
              <a:defRPr>
                <a:solidFill>
                  <a:schemeClr val="tx1"/>
                </a:solidFill>
                <a:latin typeface="Arial" pitchFamily="34" charset="0"/>
              </a:defRPr>
            </a:lvl8pPr>
            <a:lvl9pPr marL="3886200" indent="-228600" algn="ctr" eaLnBrk="0" fontAlgn="base" hangingPunct="0">
              <a:spcBef>
                <a:spcPct val="0"/>
              </a:spcBef>
              <a:spcAft>
                <a:spcPct val="0"/>
              </a:spcAft>
              <a:tabLst>
                <a:tab pos="444500" algn="l"/>
              </a:tabLst>
              <a:defRPr>
                <a:solidFill>
                  <a:schemeClr val="tx1"/>
                </a:solidFill>
                <a:latin typeface="Arial" pitchFamily="34" charset="0"/>
              </a:defRPr>
            </a:lvl9pPr>
          </a:lstStyle>
          <a:p>
            <a:pPr algn="l">
              <a:lnSpc>
                <a:spcPct val="150000"/>
              </a:lnSpc>
              <a:spcBef>
                <a:spcPct val="10000"/>
              </a:spcBef>
              <a:buClr>
                <a:srgbClr val="990000"/>
              </a:buClr>
              <a:buSzPct val="110000"/>
            </a:pPr>
            <a:r>
              <a:rPr lang="en-GB" b="1" spc="20" dirty="0" smtClean="0">
                <a:solidFill>
                  <a:schemeClr val="tx1">
                    <a:lumMod val="65000"/>
                    <a:lumOff val="35000"/>
                  </a:schemeClr>
                </a:solidFill>
              </a:rPr>
              <a:t>Dr Craig </a:t>
            </a:r>
            <a:r>
              <a:rPr lang="en-GB" b="1" spc="20" dirty="0" err="1" smtClean="0">
                <a:solidFill>
                  <a:schemeClr val="tx1">
                    <a:lumMod val="65000"/>
                    <a:lumOff val="35000"/>
                  </a:schemeClr>
                </a:solidFill>
              </a:rPr>
              <a:t>Gallen</a:t>
            </a:r>
            <a:r>
              <a:rPr lang="en-GB" b="1" spc="20" dirty="0" smtClean="0">
                <a:solidFill>
                  <a:schemeClr val="tx1">
                    <a:lumMod val="65000"/>
                    <a:lumOff val="35000"/>
                  </a:schemeClr>
                </a:solidFill>
              </a:rPr>
              <a:t> </a:t>
            </a:r>
            <a:r>
              <a:rPr lang="en-GB" b="1" spc="20" dirty="0">
                <a:solidFill>
                  <a:schemeClr val="tx1">
                    <a:lumMod val="65000"/>
                    <a:lumOff val="35000"/>
                  </a:schemeClr>
                </a:solidFill>
              </a:rPr>
              <a:t>(OpenNMS UK</a:t>
            </a:r>
            <a:r>
              <a:rPr lang="en-GB" b="1" spc="20" dirty="0" smtClean="0">
                <a:solidFill>
                  <a:schemeClr val="tx1">
                    <a:lumMod val="65000"/>
                    <a:lumOff val="35000"/>
                  </a:schemeClr>
                </a:solidFill>
              </a:rPr>
              <a:t>)</a:t>
            </a:r>
          </a:p>
          <a:p>
            <a:pPr algn="l">
              <a:lnSpc>
                <a:spcPct val="150000"/>
              </a:lnSpc>
              <a:spcBef>
                <a:spcPct val="10000"/>
              </a:spcBef>
              <a:buClr>
                <a:srgbClr val="990000"/>
              </a:buClr>
              <a:buSzPct val="110000"/>
            </a:pPr>
            <a:r>
              <a:rPr lang="en-GB" b="1" spc="20" dirty="0" smtClean="0">
                <a:solidFill>
                  <a:schemeClr val="tx1">
                    <a:lumMod val="65000"/>
                    <a:lumOff val="35000"/>
                  </a:schemeClr>
                </a:solidFill>
              </a:rPr>
              <a:t>(also Solent University)</a:t>
            </a:r>
          </a:p>
        </p:txBody>
      </p:sp>
      <p:sp>
        <p:nvSpPr>
          <p:cNvPr id="3079" name="Rectangle 1029"/>
          <p:cNvSpPr txBox="1">
            <a:spLocks noChangeArrowheads="1"/>
          </p:cNvSpPr>
          <p:nvPr/>
        </p:nvSpPr>
        <p:spPr bwMode="auto">
          <a:xfrm>
            <a:off x="732989" y="3501008"/>
            <a:ext cx="2607573" cy="1071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296" rIns="82296">
            <a:spAutoFit/>
          </a:bodyPr>
          <a:lstStyle>
            <a:lvl1pPr>
              <a:tabLst>
                <a:tab pos="444500" algn="l"/>
              </a:tabLst>
              <a:defRPr>
                <a:solidFill>
                  <a:schemeClr val="tx1"/>
                </a:solidFill>
                <a:latin typeface="Arial" pitchFamily="34" charset="0"/>
              </a:defRPr>
            </a:lvl1pPr>
            <a:lvl2pPr marL="742950" indent="-285750">
              <a:tabLst>
                <a:tab pos="444500" algn="l"/>
              </a:tabLst>
              <a:defRPr>
                <a:solidFill>
                  <a:schemeClr val="tx1"/>
                </a:solidFill>
                <a:latin typeface="Arial" pitchFamily="34" charset="0"/>
              </a:defRPr>
            </a:lvl2pPr>
            <a:lvl3pPr marL="1143000" indent="-228600">
              <a:tabLst>
                <a:tab pos="444500" algn="l"/>
              </a:tabLst>
              <a:defRPr>
                <a:solidFill>
                  <a:schemeClr val="tx1"/>
                </a:solidFill>
                <a:latin typeface="Arial" pitchFamily="34" charset="0"/>
              </a:defRPr>
            </a:lvl3pPr>
            <a:lvl4pPr marL="1600200" indent="-228600">
              <a:tabLst>
                <a:tab pos="444500" algn="l"/>
              </a:tabLst>
              <a:defRPr>
                <a:solidFill>
                  <a:schemeClr val="tx1"/>
                </a:solidFill>
                <a:latin typeface="Arial" pitchFamily="34" charset="0"/>
              </a:defRPr>
            </a:lvl4pPr>
            <a:lvl5pPr marL="2057400" indent="-228600">
              <a:tabLst>
                <a:tab pos="444500" algn="l"/>
              </a:tabLst>
              <a:defRPr>
                <a:solidFill>
                  <a:schemeClr val="tx1"/>
                </a:solidFill>
                <a:latin typeface="Arial" pitchFamily="34" charset="0"/>
              </a:defRPr>
            </a:lvl5pPr>
            <a:lvl6pPr marL="2514600" indent="-228600" algn="ctr" eaLnBrk="0" fontAlgn="base" hangingPunct="0">
              <a:spcBef>
                <a:spcPct val="0"/>
              </a:spcBef>
              <a:spcAft>
                <a:spcPct val="0"/>
              </a:spcAft>
              <a:tabLst>
                <a:tab pos="444500" algn="l"/>
              </a:tabLst>
              <a:defRPr>
                <a:solidFill>
                  <a:schemeClr val="tx1"/>
                </a:solidFill>
                <a:latin typeface="Arial" pitchFamily="34" charset="0"/>
              </a:defRPr>
            </a:lvl6pPr>
            <a:lvl7pPr marL="2971800" indent="-228600" algn="ctr" eaLnBrk="0" fontAlgn="base" hangingPunct="0">
              <a:spcBef>
                <a:spcPct val="0"/>
              </a:spcBef>
              <a:spcAft>
                <a:spcPct val="0"/>
              </a:spcAft>
              <a:tabLst>
                <a:tab pos="444500" algn="l"/>
              </a:tabLst>
              <a:defRPr>
                <a:solidFill>
                  <a:schemeClr val="tx1"/>
                </a:solidFill>
                <a:latin typeface="Arial" pitchFamily="34" charset="0"/>
              </a:defRPr>
            </a:lvl7pPr>
            <a:lvl8pPr marL="3429000" indent="-228600" algn="ctr" eaLnBrk="0" fontAlgn="base" hangingPunct="0">
              <a:spcBef>
                <a:spcPct val="0"/>
              </a:spcBef>
              <a:spcAft>
                <a:spcPct val="0"/>
              </a:spcAft>
              <a:tabLst>
                <a:tab pos="444500" algn="l"/>
              </a:tabLst>
              <a:defRPr>
                <a:solidFill>
                  <a:schemeClr val="tx1"/>
                </a:solidFill>
                <a:latin typeface="Arial" pitchFamily="34" charset="0"/>
              </a:defRPr>
            </a:lvl8pPr>
            <a:lvl9pPr marL="3886200" indent="-228600" algn="ctr" eaLnBrk="0" fontAlgn="base" hangingPunct="0">
              <a:spcBef>
                <a:spcPct val="0"/>
              </a:spcBef>
              <a:spcAft>
                <a:spcPct val="0"/>
              </a:spcAft>
              <a:tabLst>
                <a:tab pos="444500" algn="l"/>
              </a:tabLst>
              <a:defRPr>
                <a:solidFill>
                  <a:schemeClr val="tx1"/>
                </a:solidFill>
                <a:latin typeface="Arial" pitchFamily="34" charset="0"/>
              </a:defRPr>
            </a:lvl9pPr>
          </a:lstStyle>
          <a:p>
            <a:pPr algn="l">
              <a:lnSpc>
                <a:spcPct val="80000"/>
              </a:lnSpc>
              <a:spcBef>
                <a:spcPct val="10000"/>
              </a:spcBef>
              <a:buClr>
                <a:srgbClr val="990000"/>
              </a:buClr>
              <a:buSzPct val="110000"/>
            </a:pPr>
            <a:r>
              <a:rPr lang="en-GB" sz="1200" dirty="0" smtClean="0">
                <a:solidFill>
                  <a:srgbClr val="333333"/>
                </a:solidFill>
              </a:rPr>
              <a:t>Craig Gallen</a:t>
            </a:r>
          </a:p>
          <a:p>
            <a:pPr algn="l">
              <a:lnSpc>
                <a:spcPct val="80000"/>
              </a:lnSpc>
              <a:spcBef>
                <a:spcPct val="10000"/>
              </a:spcBef>
              <a:buClr>
                <a:srgbClr val="990000"/>
              </a:buClr>
              <a:buSzPct val="110000"/>
            </a:pPr>
            <a:endParaRPr lang="en-GB" sz="1200" dirty="0">
              <a:solidFill>
                <a:srgbClr val="333333"/>
              </a:solidFill>
            </a:endParaRPr>
          </a:p>
          <a:p>
            <a:pPr algn="l">
              <a:lnSpc>
                <a:spcPct val="80000"/>
              </a:lnSpc>
              <a:spcBef>
                <a:spcPct val="10000"/>
              </a:spcBef>
              <a:buClr>
                <a:srgbClr val="990000"/>
              </a:buClr>
              <a:buSzPct val="110000"/>
            </a:pPr>
            <a:r>
              <a:rPr lang="en-GB" sz="1200" dirty="0">
                <a:solidFill>
                  <a:srgbClr val="333333"/>
                </a:solidFill>
              </a:rPr>
              <a:t>Email </a:t>
            </a:r>
            <a:r>
              <a:rPr lang="en-GB" sz="1200" dirty="0" smtClean="0">
                <a:solidFill>
                  <a:srgbClr val="333333"/>
                </a:solidFill>
              </a:rPr>
              <a:t> : </a:t>
            </a:r>
            <a:r>
              <a:rPr lang="en-GB" sz="1200" dirty="0">
                <a:solidFill>
                  <a:srgbClr val="333333"/>
                </a:solidFill>
                <a:hlinkClick r:id="rId3"/>
              </a:rPr>
              <a:t>craig.gallen@entimoss.com</a:t>
            </a:r>
            <a:endParaRPr lang="en-GB" sz="1200" dirty="0">
              <a:solidFill>
                <a:srgbClr val="333333"/>
              </a:solidFill>
            </a:endParaRPr>
          </a:p>
          <a:p>
            <a:pPr algn="l">
              <a:lnSpc>
                <a:spcPct val="80000"/>
              </a:lnSpc>
              <a:spcBef>
                <a:spcPct val="10000"/>
              </a:spcBef>
              <a:buClr>
                <a:srgbClr val="990000"/>
              </a:buClr>
              <a:buSzPct val="110000"/>
            </a:pPr>
            <a:r>
              <a:rPr lang="en-GB" sz="1200" dirty="0" smtClean="0">
                <a:solidFill>
                  <a:srgbClr val="333333"/>
                </a:solidFill>
              </a:rPr>
              <a:t>   	: </a:t>
            </a:r>
            <a:r>
              <a:rPr lang="en-GB" sz="1200" dirty="0">
                <a:solidFill>
                  <a:srgbClr val="333333"/>
                </a:solidFill>
                <a:hlinkClick r:id="rId4"/>
              </a:rPr>
              <a:t>cgallen@opennms.org</a:t>
            </a:r>
            <a:endParaRPr lang="en-GB" sz="1200" dirty="0">
              <a:solidFill>
                <a:srgbClr val="333333"/>
              </a:solidFill>
            </a:endParaRPr>
          </a:p>
          <a:p>
            <a:pPr algn="l">
              <a:lnSpc>
                <a:spcPct val="80000"/>
              </a:lnSpc>
              <a:spcBef>
                <a:spcPct val="10000"/>
              </a:spcBef>
              <a:buClr>
                <a:srgbClr val="990000"/>
              </a:buClr>
              <a:buSzPct val="110000"/>
            </a:pPr>
            <a:endParaRPr lang="en-GB" sz="1200" dirty="0">
              <a:solidFill>
                <a:srgbClr val="333333"/>
              </a:solidFill>
            </a:endParaRPr>
          </a:p>
          <a:p>
            <a:pPr algn="l">
              <a:lnSpc>
                <a:spcPct val="80000"/>
              </a:lnSpc>
              <a:spcBef>
                <a:spcPct val="10000"/>
              </a:spcBef>
              <a:buClr>
                <a:srgbClr val="990000"/>
              </a:buClr>
              <a:buSzPct val="110000"/>
            </a:pPr>
            <a:r>
              <a:rPr lang="en-GB" sz="1200" dirty="0" smtClean="0">
                <a:solidFill>
                  <a:srgbClr val="333333"/>
                </a:solidFill>
              </a:rPr>
              <a:t>Mobile: </a:t>
            </a:r>
            <a:r>
              <a:rPr lang="en-GB" sz="1200" dirty="0">
                <a:solidFill>
                  <a:srgbClr val="333333"/>
                </a:solidFill>
              </a:rPr>
              <a:t>+44 (0) 7789 </a:t>
            </a:r>
            <a:r>
              <a:rPr lang="en-GB" sz="1200" dirty="0" smtClean="0">
                <a:solidFill>
                  <a:srgbClr val="333333"/>
                </a:solidFill>
              </a:rPr>
              <a:t>938012</a:t>
            </a:r>
            <a:endParaRPr lang="en-GB" sz="1200" dirty="0">
              <a:solidFill>
                <a:srgbClr val="333333"/>
              </a:solidFill>
            </a:endParaRPr>
          </a:p>
        </p:txBody>
      </p:sp>
      <p:pic>
        <p:nvPicPr>
          <p:cNvPr id="9" name="Picture 1039" descr="opennm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2" y="0"/>
            <a:ext cx="2079625"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2" name="Picture 2" descr="C:\Users\cgallen\Documents\workfolder\entimoss\events\2018-09-19-OUCE\workup\Internet_of_ThingsWikipedia.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06940" y="1340768"/>
            <a:ext cx="4088467" cy="392121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6325950" y="5261979"/>
            <a:ext cx="3393879" cy="253916"/>
          </a:xfrm>
          <a:prstGeom prst="rect">
            <a:avLst/>
          </a:prstGeom>
          <a:noFill/>
        </p:spPr>
        <p:txBody>
          <a:bodyPr wrap="none" rtlCol="0">
            <a:spAutoFit/>
          </a:bodyPr>
          <a:lstStyle/>
          <a:p>
            <a:r>
              <a:rPr lang="en-GB" sz="1050" dirty="0" smtClean="0"/>
              <a:t>Image: https</a:t>
            </a:r>
            <a:r>
              <a:rPr lang="en-GB" sz="1050" dirty="0"/>
              <a:t>://en.wikipedia.org/wiki/Internet_of_things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Contents</a:t>
            </a:r>
            <a:endParaRPr lang="en-GB" dirty="0"/>
          </a:p>
        </p:txBody>
      </p:sp>
      <p:sp>
        <p:nvSpPr>
          <p:cNvPr id="3" name="Content Placeholder 2"/>
          <p:cNvSpPr>
            <a:spLocks noGrp="1"/>
          </p:cNvSpPr>
          <p:nvPr>
            <p:ph idx="1"/>
          </p:nvPr>
        </p:nvSpPr>
        <p:spPr>
          <a:xfrm>
            <a:off x="176213" y="2132856"/>
            <a:ext cx="4632771" cy="4159994"/>
          </a:xfrm>
        </p:spPr>
        <p:txBody>
          <a:bodyPr/>
          <a:lstStyle/>
          <a:p>
            <a:r>
              <a:rPr lang="en-GB" sz="2400" dirty="0" smtClean="0"/>
              <a:t>General discussion of </a:t>
            </a:r>
            <a:r>
              <a:rPr lang="en-GB" sz="2400" dirty="0" err="1" smtClean="0"/>
              <a:t>IoT</a:t>
            </a:r>
            <a:endParaRPr lang="en-GB" sz="2400" dirty="0" smtClean="0"/>
          </a:p>
          <a:p>
            <a:endParaRPr lang="en-GB" sz="2400" dirty="0"/>
          </a:p>
          <a:p>
            <a:r>
              <a:rPr lang="en-GB" sz="2400" b="0" dirty="0" smtClean="0"/>
              <a:t>MQTT</a:t>
            </a:r>
          </a:p>
          <a:p>
            <a:endParaRPr lang="en-GB" sz="2400" b="0" dirty="0"/>
          </a:p>
          <a:p>
            <a:r>
              <a:rPr lang="en-GB" sz="2400" b="0" dirty="0" err="1" smtClean="0"/>
              <a:t>OpenNMS</a:t>
            </a:r>
            <a:r>
              <a:rPr lang="en-GB" sz="2400" b="0" dirty="0" smtClean="0"/>
              <a:t> </a:t>
            </a:r>
            <a:r>
              <a:rPr lang="en-GB" sz="2400" b="0" dirty="0" err="1" smtClean="0"/>
              <a:t>IoT</a:t>
            </a:r>
            <a:r>
              <a:rPr lang="en-GB" sz="2400" b="0" dirty="0" smtClean="0"/>
              <a:t> Plugin</a:t>
            </a:r>
          </a:p>
          <a:p>
            <a:endParaRPr lang="en-GB" sz="2400" b="0" dirty="0"/>
          </a:p>
          <a:p>
            <a:r>
              <a:rPr lang="en-GB" sz="2400" b="0" dirty="0" smtClean="0"/>
              <a:t>Use Cases</a:t>
            </a:r>
          </a:p>
          <a:p>
            <a:endParaRPr lang="en-GB" sz="2400" dirty="0"/>
          </a:p>
          <a:p>
            <a:endParaRPr lang="en-GB" sz="2400" dirty="0"/>
          </a:p>
        </p:txBody>
      </p:sp>
      <p:pic>
        <p:nvPicPr>
          <p:cNvPr id="4" name="Picture 2" descr="C:\Users\cgallen\Documents\workfolder\entimoss\events\2018-09-19-OUCE\workup\Internet_of_ThingsWikipedi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6940" y="1340768"/>
            <a:ext cx="4088467" cy="39212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46569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dirty="0" err="1" smtClean="0"/>
              <a:t>IoT</a:t>
            </a:r>
            <a:r>
              <a:rPr lang="en-GB" dirty="0" smtClean="0"/>
              <a:t> Definition</a:t>
            </a:r>
            <a:endParaRPr lang="en-GB" dirty="0"/>
          </a:p>
        </p:txBody>
      </p:sp>
      <p:sp>
        <p:nvSpPr>
          <p:cNvPr id="3" name="Content Placeholder 2"/>
          <p:cNvSpPr>
            <a:spLocks noGrp="1"/>
          </p:cNvSpPr>
          <p:nvPr>
            <p:ph idx="1"/>
          </p:nvPr>
        </p:nvSpPr>
        <p:spPr>
          <a:xfrm>
            <a:off x="176213" y="838200"/>
            <a:ext cx="4488755" cy="5454650"/>
          </a:xfrm>
        </p:spPr>
        <p:txBody>
          <a:bodyPr/>
          <a:lstStyle/>
          <a:p>
            <a:r>
              <a:rPr lang="en-GB" dirty="0" smtClean="0"/>
              <a:t>The Internet of Things is :</a:t>
            </a:r>
          </a:p>
          <a:p>
            <a:endParaRPr lang="en-GB" i="1" dirty="0"/>
          </a:p>
          <a:p>
            <a:r>
              <a:rPr lang="en-GB" i="1" dirty="0" smtClean="0"/>
              <a:t>"simply the point in time when more 'things or objects' were connected to the Internet than people“ (cisco)</a:t>
            </a:r>
          </a:p>
          <a:p>
            <a:endParaRPr lang="en-GB" dirty="0" smtClean="0"/>
          </a:p>
          <a:p>
            <a:r>
              <a:rPr lang="en-GB" dirty="0" smtClean="0"/>
              <a:t>‘Fog Computing’</a:t>
            </a:r>
          </a:p>
          <a:p>
            <a:endParaRPr lang="en-GB" dirty="0" smtClean="0"/>
          </a:p>
          <a:p>
            <a:r>
              <a:rPr lang="en-GB" dirty="0" smtClean="0"/>
              <a:t>Cisco Systems estimates that </a:t>
            </a:r>
            <a:r>
              <a:rPr lang="en-GB" dirty="0" err="1" smtClean="0"/>
              <a:t>IoT</a:t>
            </a:r>
            <a:r>
              <a:rPr lang="en-GB" dirty="0" smtClean="0"/>
              <a:t> was "born" between 2008 and 2009, with the things/people ratio growing from 0.08 in 2003 to 1.84 in 2010.</a:t>
            </a:r>
          </a:p>
          <a:p>
            <a:endParaRPr lang="en-GB" sz="1100" dirty="0" smtClean="0"/>
          </a:p>
          <a:p>
            <a:endParaRPr lang="en-GB" sz="1100" dirty="0" smtClean="0"/>
          </a:p>
          <a:p>
            <a:pPr marL="0" indent="0">
              <a:buNone/>
            </a:pPr>
            <a:r>
              <a:rPr lang="en-GB" sz="1100" dirty="0" smtClean="0"/>
              <a:t>Dave Evans (April 2011). "The Internet of Things: How the Next Evolution of the Internet Is Changing Everything" (PDF). CISCO white paper.</a:t>
            </a:r>
          </a:p>
          <a:p>
            <a:pPr marL="0" indent="0">
              <a:buNone/>
            </a:pPr>
            <a:r>
              <a:rPr lang="en-GB" sz="1100" dirty="0" smtClean="0"/>
              <a:t>https://www.cisco.com/c/dam/en_us/about/ac79/docs/innov/IoT_IBSG_0411FINAL.pdf</a:t>
            </a:r>
            <a:endParaRPr lang="en-GB" dirty="0" smtClean="0"/>
          </a:p>
          <a:p>
            <a:endParaRPr lang="en-GB" dirty="0" smtClean="0"/>
          </a:p>
        </p:txBody>
      </p:sp>
      <p:sp>
        <p:nvSpPr>
          <p:cNvPr id="15" name="Content Placeholder 2"/>
          <p:cNvSpPr txBox="1">
            <a:spLocks/>
          </p:cNvSpPr>
          <p:nvPr/>
        </p:nvSpPr>
        <p:spPr bwMode="gray">
          <a:xfrm>
            <a:off x="4676774" y="5949280"/>
            <a:ext cx="5029200" cy="343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349250" indent="-349250" algn="l" rtl="0" eaLnBrk="0" fontAlgn="base" hangingPunct="0">
              <a:spcBef>
                <a:spcPct val="10000"/>
              </a:spcBef>
              <a:spcAft>
                <a:spcPct val="0"/>
              </a:spcAft>
              <a:buClr>
                <a:srgbClr val="990000"/>
              </a:buClr>
              <a:buSzPct val="110000"/>
              <a:buChar char="•"/>
              <a:defRPr b="1">
                <a:solidFill>
                  <a:schemeClr val="tx1"/>
                </a:solidFill>
                <a:latin typeface="+mn-lt"/>
                <a:ea typeface="+mn-ea"/>
                <a:cs typeface="+mn-cs"/>
              </a:defRPr>
            </a:lvl1pPr>
            <a:lvl2pPr marL="800100" indent="-336550" algn="l" rtl="0" eaLnBrk="0" fontAlgn="base" hangingPunct="0">
              <a:spcBef>
                <a:spcPct val="10000"/>
              </a:spcBef>
              <a:spcAft>
                <a:spcPct val="0"/>
              </a:spcAft>
              <a:buClr>
                <a:srgbClr val="003399"/>
              </a:buClr>
              <a:buChar char="—"/>
              <a:defRPr sz="1600">
                <a:solidFill>
                  <a:schemeClr val="tx1"/>
                </a:solidFill>
                <a:latin typeface="+mn-lt"/>
              </a:defRPr>
            </a:lvl2pPr>
            <a:lvl3pPr marL="1146175" indent="-231775" algn="l" rtl="0" eaLnBrk="0" fontAlgn="base" hangingPunct="0">
              <a:spcBef>
                <a:spcPct val="10000"/>
              </a:spcBef>
              <a:spcAft>
                <a:spcPct val="0"/>
              </a:spcAft>
              <a:buClr>
                <a:srgbClr val="003399"/>
              </a:buClr>
              <a:buChar char="–"/>
              <a:defRPr sz="1600">
                <a:solidFill>
                  <a:schemeClr val="tx1"/>
                </a:solidFill>
                <a:latin typeface="+mn-lt"/>
              </a:defRPr>
            </a:lvl3pPr>
            <a:lvl4pPr marL="1485900" indent="-225425" algn="l" rtl="0" eaLnBrk="0" fontAlgn="base" hangingPunct="0">
              <a:spcBef>
                <a:spcPct val="10000"/>
              </a:spcBef>
              <a:spcAft>
                <a:spcPct val="0"/>
              </a:spcAft>
              <a:buClr>
                <a:srgbClr val="003399"/>
              </a:buClr>
              <a:buChar char="–"/>
              <a:defRPr sz="1600">
                <a:solidFill>
                  <a:schemeClr val="tx1"/>
                </a:solidFill>
                <a:latin typeface="+mn-lt"/>
              </a:defRPr>
            </a:lvl4pPr>
            <a:lvl5pPr marL="2057400" indent="-228600" algn="l" rtl="0" eaLnBrk="0" fontAlgn="base" hangingPunct="0">
              <a:spcBef>
                <a:spcPct val="10000"/>
              </a:spcBef>
              <a:spcAft>
                <a:spcPct val="0"/>
              </a:spcAft>
              <a:buClr>
                <a:srgbClr val="003399"/>
              </a:buClr>
              <a:buChar char="–"/>
              <a:defRPr sz="1600">
                <a:solidFill>
                  <a:schemeClr val="tx1"/>
                </a:solidFill>
                <a:latin typeface="+mn-lt"/>
              </a:defRPr>
            </a:lvl5pPr>
            <a:lvl6pPr marL="2514600" indent="-228600" algn="l" rtl="0" eaLnBrk="0" fontAlgn="base" hangingPunct="0">
              <a:spcBef>
                <a:spcPct val="10000"/>
              </a:spcBef>
              <a:spcAft>
                <a:spcPct val="0"/>
              </a:spcAft>
              <a:buClr>
                <a:srgbClr val="003399"/>
              </a:buClr>
              <a:buChar char="–"/>
              <a:defRPr sz="1600">
                <a:solidFill>
                  <a:schemeClr val="tx1"/>
                </a:solidFill>
                <a:latin typeface="+mn-lt"/>
              </a:defRPr>
            </a:lvl6pPr>
            <a:lvl7pPr marL="2971800" indent="-228600" algn="l" rtl="0" eaLnBrk="0" fontAlgn="base" hangingPunct="0">
              <a:spcBef>
                <a:spcPct val="10000"/>
              </a:spcBef>
              <a:spcAft>
                <a:spcPct val="0"/>
              </a:spcAft>
              <a:buClr>
                <a:srgbClr val="003399"/>
              </a:buClr>
              <a:buChar char="–"/>
              <a:defRPr sz="1600">
                <a:solidFill>
                  <a:schemeClr val="tx1"/>
                </a:solidFill>
                <a:latin typeface="+mn-lt"/>
              </a:defRPr>
            </a:lvl7pPr>
            <a:lvl8pPr marL="3429000" indent="-228600" algn="l" rtl="0" eaLnBrk="0" fontAlgn="base" hangingPunct="0">
              <a:spcBef>
                <a:spcPct val="10000"/>
              </a:spcBef>
              <a:spcAft>
                <a:spcPct val="0"/>
              </a:spcAft>
              <a:buClr>
                <a:srgbClr val="003399"/>
              </a:buClr>
              <a:buChar char="–"/>
              <a:defRPr sz="1600">
                <a:solidFill>
                  <a:schemeClr val="tx1"/>
                </a:solidFill>
                <a:latin typeface="+mn-lt"/>
              </a:defRPr>
            </a:lvl8pPr>
            <a:lvl9pPr marL="3886200" indent="-228600" algn="l" rtl="0" eaLnBrk="0" fontAlgn="base" hangingPunct="0">
              <a:spcBef>
                <a:spcPct val="10000"/>
              </a:spcBef>
              <a:spcAft>
                <a:spcPct val="0"/>
              </a:spcAft>
              <a:buClr>
                <a:srgbClr val="003399"/>
              </a:buClr>
              <a:buChar char="–"/>
              <a:defRPr sz="1600">
                <a:solidFill>
                  <a:schemeClr val="tx1"/>
                </a:solidFill>
                <a:latin typeface="+mn-lt"/>
              </a:defRPr>
            </a:lvl9pPr>
          </a:lstStyle>
          <a:p>
            <a:pPr marL="0" indent="0">
              <a:buNone/>
            </a:pPr>
            <a:r>
              <a:rPr lang="en-GB" sz="1100" dirty="0"/>
              <a:t>https://www.ncta.com/whats-new/the-internet-of-things-continues-transform-the-way-we-live</a:t>
            </a:r>
          </a:p>
        </p:txBody>
      </p:sp>
      <p:pic>
        <p:nvPicPr>
          <p:cNvPr id="16" name="Picture 2" descr="C:\Users\cgallen\Documents\workfolder\entimoss\events\2018-09-19-OUCE\workup\GROWTH_IoT-090716-CK_0_0SourceCisco.png"/>
          <p:cNvPicPr>
            <a:picLocks noChangeAspect="1" noChangeArrowheads="1"/>
          </p:cNvPicPr>
          <p:nvPr/>
        </p:nvPicPr>
        <p:blipFill rotWithShape="1">
          <a:blip r:embed="rId2">
            <a:extLst>
              <a:ext uri="{28A0092B-C50C-407E-A947-70E740481C1C}">
                <a14:useLocalDpi xmlns:a14="http://schemas.microsoft.com/office/drawing/2010/main" val="0"/>
              </a:ext>
            </a:extLst>
          </a:blip>
          <a:srcRect l="5688" r="8087"/>
          <a:stretch/>
        </p:blipFill>
        <p:spPr bwMode="auto">
          <a:xfrm>
            <a:off x="4676774" y="818938"/>
            <a:ext cx="5029200" cy="4989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46274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Emerging </a:t>
            </a:r>
            <a:r>
              <a:rPr lang="en-GB" dirty="0" err="1" smtClean="0"/>
              <a:t>IoT</a:t>
            </a:r>
            <a:r>
              <a:rPr lang="en-GB" dirty="0" smtClean="0"/>
              <a:t> Ecosystem</a:t>
            </a:r>
            <a:endParaRPr lang="en-GB" dirty="0"/>
          </a:p>
        </p:txBody>
      </p:sp>
      <p:pic>
        <p:nvPicPr>
          <p:cNvPr id="4098" name="Picture 2" descr="C:\Users\cgallen\Documents\workfolder\entimoss\events\2018-09-19-OUCE\workup\IoE-ecosystemTmForu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800" y="830002"/>
            <a:ext cx="9654606" cy="547931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509257" y="6124654"/>
            <a:ext cx="4361130" cy="369332"/>
          </a:xfrm>
          <a:prstGeom prst="rect">
            <a:avLst/>
          </a:prstGeom>
          <a:noFill/>
        </p:spPr>
        <p:txBody>
          <a:bodyPr wrap="none" rtlCol="0">
            <a:spAutoFit/>
          </a:bodyPr>
          <a:lstStyle/>
          <a:p>
            <a:r>
              <a:rPr lang="en-GB" dirty="0" smtClean="0"/>
              <a:t>Source: TM </a:t>
            </a:r>
            <a:r>
              <a:rPr lang="en-GB" dirty="0"/>
              <a:t>Forum Internet of Everything</a:t>
            </a:r>
          </a:p>
        </p:txBody>
      </p:sp>
    </p:spTree>
    <p:extLst>
      <p:ext uri="{BB962C8B-B14F-4D97-AF65-F5344CB8AC3E}">
        <p14:creationId xmlns:p14="http://schemas.microsoft.com/office/powerpoint/2010/main" val="39743862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IoT</a:t>
            </a:r>
            <a:r>
              <a:rPr lang="en-GB" dirty="0" smtClean="0"/>
              <a:t> platforms  - Big Players</a:t>
            </a:r>
            <a:endParaRPr lang="en-GB" dirty="0"/>
          </a:p>
        </p:txBody>
      </p:sp>
      <p:sp>
        <p:nvSpPr>
          <p:cNvPr id="4" name="Content Placeholder 3"/>
          <p:cNvSpPr>
            <a:spLocks noGrp="1"/>
          </p:cNvSpPr>
          <p:nvPr>
            <p:ph idx="1"/>
          </p:nvPr>
        </p:nvSpPr>
        <p:spPr>
          <a:xfrm>
            <a:off x="205770" y="6165304"/>
            <a:ext cx="9529762" cy="504056"/>
          </a:xfrm>
        </p:spPr>
        <p:txBody>
          <a:bodyPr/>
          <a:lstStyle/>
          <a:p>
            <a:r>
              <a:rPr lang="en-GB" sz="1100" dirty="0"/>
              <a:t>https://www.forbes.com/sites/louiscolumbus/2018/06/06/10-charts-that-will-challenge-your-perspective-of-iots-growth/#</a:t>
            </a:r>
            <a:r>
              <a:rPr lang="en-GB" sz="1100" dirty="0" smtClean="0"/>
              <a:t>2883e1fa3ecc</a:t>
            </a:r>
          </a:p>
          <a:p>
            <a:r>
              <a:rPr lang="en-GB" sz="1100" dirty="0"/>
              <a:t>Cowen Software Developer Survey, Getting In On The Ground Floor: Surveying Software Developers On Key Tech Trends, September 18, 2017 </a:t>
            </a:r>
          </a:p>
        </p:txBody>
      </p:sp>
      <p:pic>
        <p:nvPicPr>
          <p:cNvPr id="12" name="Picture 2" descr="C:\Users\cgallen\Documents\workfolder\entimoss\events\2018-09-19-OUCE\workup\IoE-ecosystemTmForum.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02620" y="2132856"/>
            <a:ext cx="5455786" cy="3096344"/>
          </a:xfrm>
          <a:prstGeom prst="rect">
            <a:avLst/>
          </a:prstGeom>
          <a:noFill/>
          <a:extLst>
            <a:ext uri="{909E8E84-426E-40DD-AFC4-6F175D3DCCD1}">
              <a14:hiddenFill xmlns:a14="http://schemas.microsoft.com/office/drawing/2010/main">
                <a:solidFill>
                  <a:srgbClr val="FFFFFF"/>
                </a:solidFill>
              </a14:hiddenFill>
            </a:ext>
          </a:extLst>
        </p:spPr>
      </p:pic>
      <p:sp>
        <p:nvSpPr>
          <p:cNvPr id="11" name="Rounded Rectangle 10"/>
          <p:cNvSpPr/>
          <p:nvPr/>
        </p:nvSpPr>
        <p:spPr bwMode="auto">
          <a:xfrm>
            <a:off x="4232920" y="3429000"/>
            <a:ext cx="5625486" cy="1224136"/>
          </a:xfrm>
          <a:prstGeom prst="roundRect">
            <a:avLst/>
          </a:prstGeom>
          <a:solidFill>
            <a:schemeClr val="accent2">
              <a:lumMod val="40000"/>
              <a:lumOff val="60000"/>
              <a:alpha val="45000"/>
            </a:schemeClr>
          </a:solidFill>
          <a:ln w="9525" cap="flat" cmpd="sng" algn="ctr">
            <a:solidFill>
              <a:schemeClr val="tx1"/>
            </a:solidFill>
            <a:prstDash val="solid"/>
            <a:round/>
            <a:headEnd type="none" w="sm" len="sm"/>
            <a:tailEnd type="triangle" w="sm" len="sm"/>
          </a:ln>
          <a:effectLs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grpSp>
        <p:nvGrpSpPr>
          <p:cNvPr id="17" name="Group 16"/>
          <p:cNvGrpSpPr/>
          <p:nvPr/>
        </p:nvGrpSpPr>
        <p:grpSpPr>
          <a:xfrm>
            <a:off x="9135" y="636414"/>
            <a:ext cx="3840684" cy="5528890"/>
            <a:chOff x="176212" y="636414"/>
            <a:chExt cx="3840684" cy="5528890"/>
          </a:xfrm>
        </p:grpSpPr>
        <p:pic>
          <p:nvPicPr>
            <p:cNvPr id="2050" name="Picture 2" descr="C:\Users\cgallen\Documents\workfolder\entimoss\events\2018-09-19-OUCE\workup\https _blogs-images.forbes.com_louiscolumbus_files_2018_06_Azure-IoT-Platform-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212" y="775684"/>
              <a:ext cx="3552651" cy="5389620"/>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p:cNvSpPr/>
            <p:nvPr/>
          </p:nvSpPr>
          <p:spPr bwMode="auto">
            <a:xfrm>
              <a:off x="176212" y="636414"/>
              <a:ext cx="3840684" cy="5528890"/>
            </a:xfrm>
            <a:prstGeom prst="rect">
              <a:avLst/>
            </a:prstGeom>
            <a:noFill/>
            <a:ln w="9525" cap="flat" cmpd="sng" algn="ctr">
              <a:solidFill>
                <a:schemeClr val="tx1"/>
              </a:solidFill>
              <a:prstDash val="solid"/>
              <a:round/>
              <a:headEnd type="none" w="sm" len="sm"/>
              <a:tailEnd type="triangle" w="sm" len="sm"/>
            </a:ln>
            <a:effectLs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grpSp>
      <p:cxnSp>
        <p:nvCxnSpPr>
          <p:cNvPr id="19" name="Elbow Connector 18"/>
          <p:cNvCxnSpPr>
            <a:stCxn id="16" idx="3"/>
            <a:endCxn id="11" idx="1"/>
          </p:cNvCxnSpPr>
          <p:nvPr/>
        </p:nvCxnSpPr>
        <p:spPr bwMode="auto">
          <a:xfrm>
            <a:off x="3849819" y="3400859"/>
            <a:ext cx="383101" cy="640209"/>
          </a:xfrm>
          <a:prstGeom prst="bentConnector3">
            <a:avLst>
              <a:gd name="adj1" fmla="val 50000"/>
            </a:avLst>
          </a:prstGeom>
          <a:solidFill>
            <a:schemeClr val="bg1"/>
          </a:solidFill>
          <a:ln w="9525" cap="flat" cmpd="sng" algn="ctr">
            <a:solidFill>
              <a:schemeClr val="tx1"/>
            </a:solidFill>
            <a:prstDash val="solid"/>
            <a:round/>
            <a:headEnd type="none" w="sm" len="sm"/>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7305649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933" y="224857"/>
            <a:ext cx="8089155" cy="374846"/>
          </a:xfrm>
        </p:spPr>
        <p:txBody>
          <a:bodyPr/>
          <a:lstStyle/>
          <a:p>
            <a:r>
              <a:rPr lang="en-GB" sz="2800" dirty="0" smtClean="0"/>
              <a:t>Other Open Source </a:t>
            </a:r>
            <a:r>
              <a:rPr lang="en-GB" sz="2800" dirty="0" err="1" smtClean="0"/>
              <a:t>IoT</a:t>
            </a:r>
            <a:r>
              <a:rPr lang="en-GB" sz="2800" dirty="0" smtClean="0"/>
              <a:t> Platform Stacks</a:t>
            </a:r>
            <a:endParaRPr lang="en-GB" sz="2800" dirty="0"/>
          </a:p>
        </p:txBody>
      </p:sp>
      <p:pic>
        <p:nvPicPr>
          <p:cNvPr id="7170" name="Picture 2" descr="C:\Users\cgallen\Documents\workfolder\entimoss\events\2018-09-19-OUCE\workup\EclipseCloudPlatfor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6536" y="1124744"/>
            <a:ext cx="3806552" cy="511505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493352" y="908720"/>
            <a:ext cx="3523544" cy="1384995"/>
          </a:xfrm>
          <a:prstGeom prst="rect">
            <a:avLst/>
          </a:prstGeom>
          <a:noFill/>
        </p:spPr>
        <p:txBody>
          <a:bodyPr wrap="square" rtlCol="0">
            <a:spAutoFit/>
          </a:bodyPr>
          <a:lstStyle/>
          <a:p>
            <a:pPr algn="l"/>
            <a:r>
              <a:rPr lang="en-GB" b="1" dirty="0" smtClean="0"/>
              <a:t>Eclipse OM2M</a:t>
            </a:r>
            <a:endParaRPr lang="en-GB" dirty="0" smtClean="0"/>
          </a:p>
          <a:p>
            <a:pPr algn="l"/>
            <a:r>
              <a:rPr lang="en-GB" sz="1600" dirty="0" smtClean="0"/>
              <a:t>is </a:t>
            </a:r>
            <a:r>
              <a:rPr lang="en-GB" sz="1600" dirty="0"/>
              <a:t>an </a:t>
            </a:r>
            <a:r>
              <a:rPr lang="en-GB" sz="1600" dirty="0" err="1"/>
              <a:t>IoT</a:t>
            </a:r>
            <a:r>
              <a:rPr lang="en-GB" sz="1600" dirty="0"/>
              <a:t> Platform specific for the telecommunication industry, based on the oneM2M specification</a:t>
            </a:r>
            <a:r>
              <a:rPr lang="en-GB" sz="1600" dirty="0" smtClean="0"/>
              <a:t>.</a:t>
            </a:r>
          </a:p>
          <a:p>
            <a:pPr algn="l"/>
            <a:r>
              <a:rPr lang="en-GB" sz="1600" dirty="0"/>
              <a:t>https://www.eclipse.org/om2m</a:t>
            </a:r>
            <a:r>
              <a:rPr lang="en-GB" dirty="0"/>
              <a:t>/ </a:t>
            </a:r>
            <a:r>
              <a:rPr lang="en-GB" dirty="0" smtClean="0"/>
              <a:t> </a:t>
            </a:r>
            <a:endParaRPr lang="en-GB" dirty="0"/>
          </a:p>
        </p:txBody>
      </p:sp>
      <p:sp>
        <p:nvSpPr>
          <p:cNvPr id="5" name="TextBox 4"/>
          <p:cNvSpPr txBox="1"/>
          <p:nvPr/>
        </p:nvSpPr>
        <p:spPr>
          <a:xfrm>
            <a:off x="493352" y="2694090"/>
            <a:ext cx="3523544" cy="3077766"/>
          </a:xfrm>
          <a:prstGeom prst="rect">
            <a:avLst/>
          </a:prstGeom>
          <a:noFill/>
        </p:spPr>
        <p:txBody>
          <a:bodyPr wrap="square" rtlCol="0">
            <a:spAutoFit/>
          </a:bodyPr>
          <a:lstStyle/>
          <a:p>
            <a:pPr algn="l"/>
            <a:r>
              <a:rPr lang="en-GB" b="1" dirty="0"/>
              <a:t>Eclipse </a:t>
            </a:r>
            <a:r>
              <a:rPr lang="en-GB" b="1" dirty="0" err="1" smtClean="0"/>
              <a:t>Kapua</a:t>
            </a:r>
            <a:endParaRPr lang="en-GB" b="1" dirty="0" smtClean="0"/>
          </a:p>
          <a:p>
            <a:pPr algn="l"/>
            <a:r>
              <a:rPr lang="en-GB" sz="1600" dirty="0" smtClean="0"/>
              <a:t>is </a:t>
            </a:r>
            <a:r>
              <a:rPr lang="en-GB" sz="1600" dirty="0"/>
              <a:t>a modular platform providing the services required to manage </a:t>
            </a:r>
            <a:r>
              <a:rPr lang="en-GB" sz="1600" dirty="0" err="1"/>
              <a:t>IoT</a:t>
            </a:r>
            <a:r>
              <a:rPr lang="en-GB" sz="1600" dirty="0"/>
              <a:t> gateways and smart edge devices. </a:t>
            </a:r>
            <a:r>
              <a:rPr lang="en-GB" sz="1600" dirty="0" err="1"/>
              <a:t>Kapua</a:t>
            </a:r>
            <a:r>
              <a:rPr lang="en-GB" sz="1600" dirty="0"/>
              <a:t> provides a core integration framework and an initial set of core </a:t>
            </a:r>
            <a:r>
              <a:rPr lang="en-GB" sz="1600" dirty="0" err="1"/>
              <a:t>IoT</a:t>
            </a:r>
            <a:r>
              <a:rPr lang="en-GB" sz="1600" dirty="0"/>
              <a:t> services including a device registry, device management services, messaging services, data management, and application enablement. https://www.eclipse.org/kapua/</a:t>
            </a:r>
          </a:p>
        </p:txBody>
      </p:sp>
      <p:sp>
        <p:nvSpPr>
          <p:cNvPr id="6" name="TextBox 5"/>
          <p:cNvSpPr txBox="1"/>
          <p:nvPr/>
        </p:nvSpPr>
        <p:spPr>
          <a:xfrm>
            <a:off x="1995618" y="6239798"/>
            <a:ext cx="6192688" cy="369332"/>
          </a:xfrm>
          <a:prstGeom prst="rect">
            <a:avLst/>
          </a:prstGeom>
          <a:noFill/>
        </p:spPr>
        <p:txBody>
          <a:bodyPr wrap="square" rtlCol="0">
            <a:spAutoFit/>
          </a:bodyPr>
          <a:lstStyle/>
          <a:p>
            <a:r>
              <a:rPr lang="en-GB" dirty="0" smtClean="0"/>
              <a:t>Complex and difficult to deploy single purpose platforms </a:t>
            </a:r>
            <a:endParaRPr lang="en-GB" dirty="0"/>
          </a:p>
        </p:txBody>
      </p:sp>
    </p:spTree>
    <p:extLst>
      <p:ext uri="{BB962C8B-B14F-4D97-AF65-F5344CB8AC3E}">
        <p14:creationId xmlns:p14="http://schemas.microsoft.com/office/powerpoint/2010/main" val="12352709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Where could </a:t>
            </a:r>
            <a:r>
              <a:rPr lang="en-GB" dirty="0" err="1" smtClean="0"/>
              <a:t>OpenNMS</a:t>
            </a:r>
            <a:r>
              <a:rPr lang="en-GB" dirty="0" smtClean="0"/>
              <a:t> fit?</a:t>
            </a:r>
            <a:endParaRPr lang="en-GB" dirty="0"/>
          </a:p>
        </p:txBody>
      </p:sp>
      <p:sp>
        <p:nvSpPr>
          <p:cNvPr id="3" name="Content Placeholder 2"/>
          <p:cNvSpPr>
            <a:spLocks noGrp="1"/>
          </p:cNvSpPr>
          <p:nvPr>
            <p:ph idx="1"/>
          </p:nvPr>
        </p:nvSpPr>
        <p:spPr>
          <a:xfrm>
            <a:off x="176213" y="838200"/>
            <a:ext cx="6360963" cy="5454650"/>
          </a:xfrm>
        </p:spPr>
        <p:txBody>
          <a:bodyPr/>
          <a:lstStyle/>
          <a:p>
            <a:r>
              <a:rPr lang="en-GB" dirty="0"/>
              <a:t>1. </a:t>
            </a:r>
            <a:r>
              <a:rPr lang="en-GB" dirty="0" smtClean="0"/>
              <a:t>A solution for </a:t>
            </a:r>
            <a:r>
              <a:rPr lang="en-GB" dirty="0" err="1" smtClean="0"/>
              <a:t>IoT</a:t>
            </a:r>
            <a:r>
              <a:rPr lang="en-GB" dirty="0" smtClean="0"/>
              <a:t> </a:t>
            </a:r>
            <a:r>
              <a:rPr lang="en-GB" dirty="0"/>
              <a:t>Systems Monitoring</a:t>
            </a:r>
          </a:p>
          <a:p>
            <a:pPr lvl="1"/>
            <a:r>
              <a:rPr lang="en-GB" dirty="0"/>
              <a:t>Already monitoring large </a:t>
            </a:r>
            <a:r>
              <a:rPr lang="en-GB" dirty="0" err="1"/>
              <a:t>IoT</a:t>
            </a:r>
            <a:r>
              <a:rPr lang="en-GB" dirty="0"/>
              <a:t> Systems</a:t>
            </a:r>
          </a:p>
          <a:p>
            <a:pPr lvl="2"/>
            <a:r>
              <a:rPr lang="en-GB" dirty="0" err="1"/>
              <a:t>Sensus</a:t>
            </a:r>
            <a:r>
              <a:rPr lang="en-GB" dirty="0"/>
              <a:t> – wireless </a:t>
            </a:r>
            <a:r>
              <a:rPr lang="en-GB" dirty="0" err="1"/>
              <a:t>IoT</a:t>
            </a:r>
            <a:r>
              <a:rPr lang="en-GB" dirty="0"/>
              <a:t> </a:t>
            </a:r>
            <a:r>
              <a:rPr lang="en-GB" dirty="0" smtClean="0"/>
              <a:t>networks in </a:t>
            </a:r>
            <a:r>
              <a:rPr lang="en-GB" dirty="0"/>
              <a:t>UK </a:t>
            </a:r>
            <a:endParaRPr lang="en-GB" dirty="0" smtClean="0"/>
          </a:p>
          <a:p>
            <a:pPr lvl="2"/>
            <a:endParaRPr lang="en-GB" dirty="0"/>
          </a:p>
          <a:p>
            <a:r>
              <a:rPr lang="en-GB" dirty="0" smtClean="0"/>
              <a:t>2. </a:t>
            </a:r>
            <a:r>
              <a:rPr lang="en-GB" dirty="0" err="1" smtClean="0"/>
              <a:t>OpenNMS</a:t>
            </a:r>
            <a:r>
              <a:rPr lang="en-GB" dirty="0" smtClean="0"/>
              <a:t> as a Platform for </a:t>
            </a:r>
            <a:r>
              <a:rPr lang="en-GB" dirty="0" err="1" smtClean="0"/>
              <a:t>IoT</a:t>
            </a:r>
            <a:r>
              <a:rPr lang="en-GB" dirty="0" smtClean="0"/>
              <a:t> Applications</a:t>
            </a:r>
          </a:p>
          <a:p>
            <a:pPr lvl="1"/>
            <a:endParaRPr lang="en-GB" dirty="0" smtClean="0"/>
          </a:p>
        </p:txBody>
      </p:sp>
      <p:grpSp>
        <p:nvGrpSpPr>
          <p:cNvPr id="4" name="Group 3"/>
          <p:cNvGrpSpPr/>
          <p:nvPr/>
        </p:nvGrpSpPr>
        <p:grpSpPr>
          <a:xfrm>
            <a:off x="6218525" y="1003934"/>
            <a:ext cx="3552309" cy="2759831"/>
            <a:chOff x="4640779" y="1812365"/>
            <a:chExt cx="4974063" cy="2759831"/>
          </a:xfrm>
        </p:grpSpPr>
        <p:grpSp>
          <p:nvGrpSpPr>
            <p:cNvPr id="5" name="Group 4"/>
            <p:cNvGrpSpPr/>
            <p:nvPr/>
          </p:nvGrpSpPr>
          <p:grpSpPr>
            <a:xfrm>
              <a:off x="4640779" y="1812365"/>
              <a:ext cx="4944922" cy="2759831"/>
              <a:chOff x="5326688" y="1245233"/>
              <a:chExt cx="3960440" cy="3168352"/>
            </a:xfrm>
          </p:grpSpPr>
          <p:sp>
            <p:nvSpPr>
              <p:cNvPr id="8" name="Rectangle 7"/>
              <p:cNvSpPr/>
              <p:nvPr/>
            </p:nvSpPr>
            <p:spPr bwMode="auto">
              <a:xfrm>
                <a:off x="5326688" y="1245233"/>
                <a:ext cx="3960440" cy="3168352"/>
              </a:xfrm>
              <a:prstGeom prst="rect">
                <a:avLst/>
              </a:prstGeom>
              <a:noFill/>
              <a:ln w="9525" cap="flat" cmpd="sng" algn="ctr">
                <a:solidFill>
                  <a:schemeClr val="tx1"/>
                </a:solidFill>
                <a:prstDash val="solid"/>
                <a:round/>
                <a:headEnd type="none" w="sm" len="sm"/>
                <a:tailEnd type="triangle" w="sm" len="sm"/>
              </a:ln>
              <a:effectLs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9" name="Freeform 8"/>
              <p:cNvSpPr/>
              <p:nvPr/>
            </p:nvSpPr>
            <p:spPr bwMode="auto">
              <a:xfrm>
                <a:off x="5478783" y="1340768"/>
                <a:ext cx="3766782" cy="2920621"/>
              </a:xfrm>
              <a:custGeom>
                <a:avLst/>
                <a:gdLst>
                  <a:gd name="connsiteX0" fmla="*/ 0 w 3766782"/>
                  <a:gd name="connsiteY0" fmla="*/ 0 h 2920621"/>
                  <a:gd name="connsiteX1" fmla="*/ 736979 w 3766782"/>
                  <a:gd name="connsiteY1" fmla="*/ 2224585 h 2920621"/>
                  <a:gd name="connsiteX2" fmla="*/ 3766782 w 3766782"/>
                  <a:gd name="connsiteY2" fmla="*/ 2920621 h 2920621"/>
                </a:gdLst>
                <a:ahLst/>
                <a:cxnLst>
                  <a:cxn ang="0">
                    <a:pos x="connsiteX0" y="connsiteY0"/>
                  </a:cxn>
                  <a:cxn ang="0">
                    <a:pos x="connsiteX1" y="connsiteY1"/>
                  </a:cxn>
                  <a:cxn ang="0">
                    <a:pos x="connsiteX2" y="connsiteY2"/>
                  </a:cxn>
                </a:cxnLst>
                <a:rect l="l" t="t" r="r" b="b"/>
                <a:pathLst>
                  <a:path w="3766782" h="2920621">
                    <a:moveTo>
                      <a:pt x="0" y="0"/>
                    </a:moveTo>
                    <a:cubicBezTo>
                      <a:pt x="54591" y="868907"/>
                      <a:pt x="109182" y="1737815"/>
                      <a:pt x="736979" y="2224585"/>
                    </a:cubicBezTo>
                    <a:cubicBezTo>
                      <a:pt x="1364776" y="2711355"/>
                      <a:pt x="2565779" y="2815988"/>
                      <a:pt x="3766782" y="2920621"/>
                    </a:cubicBezTo>
                  </a:path>
                </a:pathLst>
              </a:custGeom>
              <a:noFill/>
              <a:ln w="9525"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grpSp>
        <p:sp>
          <p:nvSpPr>
            <p:cNvPr id="6" name="TextBox 5"/>
            <p:cNvSpPr txBox="1"/>
            <p:nvPr/>
          </p:nvSpPr>
          <p:spPr>
            <a:xfrm>
              <a:off x="4870146" y="1895582"/>
              <a:ext cx="4744696" cy="954107"/>
            </a:xfrm>
            <a:prstGeom prst="rect">
              <a:avLst/>
            </a:prstGeom>
            <a:noFill/>
          </p:spPr>
          <p:txBody>
            <a:bodyPr wrap="square" rtlCol="0">
              <a:spAutoFit/>
            </a:bodyPr>
            <a:lstStyle/>
            <a:p>
              <a:pPr marL="285750" indent="-285750" algn="l">
                <a:buFont typeface="Arial" panose="020B0604020202020204" pitchFamily="34" charset="0"/>
                <a:buChar char="•"/>
              </a:pPr>
              <a:r>
                <a:rPr lang="en-GB" sz="1400" dirty="0" smtClean="0"/>
                <a:t>Big Data </a:t>
              </a:r>
              <a:r>
                <a:rPr lang="en-GB" sz="1400" dirty="0" err="1" smtClean="0"/>
                <a:t>IoT</a:t>
              </a:r>
              <a:r>
                <a:rPr lang="en-GB" sz="1400" dirty="0" smtClean="0"/>
                <a:t> </a:t>
              </a:r>
            </a:p>
            <a:p>
              <a:pPr marL="285750" indent="-285750" algn="l">
                <a:buFont typeface="Arial" panose="020B0604020202020204" pitchFamily="34" charset="0"/>
                <a:buChar char="•"/>
              </a:pPr>
              <a:r>
                <a:rPr lang="en-GB" sz="1400" dirty="0" smtClean="0"/>
                <a:t>11M smart electric/gas meters UK</a:t>
              </a:r>
            </a:p>
            <a:p>
              <a:pPr marL="285750" indent="-285750" algn="l">
                <a:buFont typeface="Arial" panose="020B0604020202020204" pitchFamily="34" charset="0"/>
                <a:buChar char="•"/>
              </a:pPr>
              <a:r>
                <a:rPr lang="en-GB" sz="1400" dirty="0" smtClean="0"/>
                <a:t>100,000 Smart Water Meters London (Thames Water)</a:t>
              </a:r>
              <a:endParaRPr lang="en-GB" sz="1400" dirty="0"/>
            </a:p>
          </p:txBody>
        </p:sp>
        <p:sp>
          <p:nvSpPr>
            <p:cNvPr id="7" name="TextBox 6"/>
            <p:cNvSpPr txBox="1"/>
            <p:nvPr/>
          </p:nvSpPr>
          <p:spPr>
            <a:xfrm>
              <a:off x="6687891" y="3303200"/>
              <a:ext cx="2847655" cy="954107"/>
            </a:xfrm>
            <a:prstGeom prst="rect">
              <a:avLst/>
            </a:prstGeom>
            <a:noFill/>
          </p:spPr>
          <p:txBody>
            <a:bodyPr wrap="square" rtlCol="0">
              <a:spAutoFit/>
            </a:bodyPr>
            <a:lstStyle/>
            <a:p>
              <a:pPr marL="285750" indent="-285750" algn="l">
                <a:buFont typeface="Arial" panose="020B0604020202020204" pitchFamily="34" charset="0"/>
                <a:buChar char="•"/>
              </a:pPr>
              <a:r>
                <a:rPr lang="en-GB" sz="1400" dirty="0" smtClean="0"/>
                <a:t>Long Tail of Applications with a relatively small numbers of sensors</a:t>
              </a:r>
              <a:endParaRPr lang="en-GB" sz="1400" dirty="0"/>
            </a:p>
          </p:txBody>
        </p:sp>
      </p:grpSp>
      <p:grpSp>
        <p:nvGrpSpPr>
          <p:cNvPr id="10" name="Group 9"/>
          <p:cNvGrpSpPr/>
          <p:nvPr/>
        </p:nvGrpSpPr>
        <p:grpSpPr>
          <a:xfrm>
            <a:off x="272480" y="2389743"/>
            <a:ext cx="5668246" cy="4167463"/>
            <a:chOff x="1064568" y="699356"/>
            <a:chExt cx="9259040" cy="6207191"/>
          </a:xfrm>
        </p:grpSpPr>
        <p:sp>
          <p:nvSpPr>
            <p:cNvPr id="11" name="Rounded Rectangle 10"/>
            <p:cNvSpPr/>
            <p:nvPr/>
          </p:nvSpPr>
          <p:spPr bwMode="auto">
            <a:xfrm>
              <a:off x="3872880" y="1268760"/>
              <a:ext cx="3672408" cy="1008112"/>
            </a:xfrm>
            <a:prstGeom prst="round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latin typeface="Arial" charset="0"/>
                </a:rPr>
                <a:t>Applications</a:t>
              </a:r>
            </a:p>
            <a:p>
              <a:pPr marL="0" marR="0" indent="0" algn="ctr" defTabSz="914400" rtl="0" eaLnBrk="0" fontAlgn="base" latinLnBrk="0" hangingPunct="0">
                <a:lnSpc>
                  <a:spcPct val="100000"/>
                </a:lnSpc>
                <a:spcBef>
                  <a:spcPct val="0"/>
                </a:spcBef>
                <a:spcAft>
                  <a:spcPct val="0"/>
                </a:spcAft>
                <a:buClrTx/>
                <a:buSzTx/>
                <a:buFontTx/>
                <a:buNone/>
                <a:tabLst/>
              </a:pPr>
              <a:r>
                <a:rPr lang="en-GB" sz="1400" dirty="0" smtClean="0">
                  <a:latin typeface="Arial" charset="0"/>
                </a:rPr>
                <a:t>Visualisation</a:t>
              </a:r>
            </a:p>
          </p:txBody>
        </p:sp>
        <p:sp>
          <p:nvSpPr>
            <p:cNvPr id="12" name="Rounded Rectangle 11"/>
            <p:cNvSpPr/>
            <p:nvPr/>
          </p:nvSpPr>
          <p:spPr bwMode="auto">
            <a:xfrm>
              <a:off x="3872880" y="2564904"/>
              <a:ext cx="3672408" cy="1008112"/>
            </a:xfrm>
            <a:prstGeom prst="round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latin typeface="Arial" charset="0"/>
                </a:rPr>
                <a:t>Data Storage </a:t>
              </a:r>
              <a:r>
                <a:rPr lang="en-GB" sz="1400" dirty="0" smtClean="0">
                  <a:latin typeface="Arial" charset="0"/>
                </a:rPr>
                <a:t>Processing Alerting</a:t>
              </a:r>
            </a:p>
            <a:p>
              <a:pPr marL="0" marR="0" indent="0" algn="ctr" defTabSz="914400" rtl="0" eaLnBrk="0" fontAlgn="base" latinLnBrk="0" hangingPunct="0">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latin typeface="Arial" charset="0"/>
                </a:rPr>
                <a:t>Analytics Security</a:t>
              </a:r>
            </a:p>
          </p:txBody>
        </p:sp>
        <p:sp>
          <p:nvSpPr>
            <p:cNvPr id="13" name="Rounded Rectangle 12"/>
            <p:cNvSpPr/>
            <p:nvPr/>
          </p:nvSpPr>
          <p:spPr bwMode="auto">
            <a:xfrm>
              <a:off x="3882657" y="4005064"/>
              <a:ext cx="3672408" cy="1008112"/>
            </a:xfrm>
            <a:prstGeom prst="round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latin typeface="Arial" charset="0"/>
                </a:rPr>
                <a:t>Connectivity</a:t>
              </a:r>
            </a:p>
            <a:p>
              <a:pPr marL="0" marR="0" indent="0" algn="ctr" defTabSz="914400" rtl="0" eaLnBrk="0" fontAlgn="base" latinLnBrk="0" hangingPunct="0">
                <a:lnSpc>
                  <a:spcPct val="100000"/>
                </a:lnSpc>
                <a:spcBef>
                  <a:spcPct val="0"/>
                </a:spcBef>
                <a:spcAft>
                  <a:spcPct val="0"/>
                </a:spcAft>
                <a:buClrTx/>
                <a:buSzTx/>
                <a:buFontTx/>
                <a:buNone/>
                <a:tabLst/>
              </a:pPr>
              <a:r>
                <a:rPr lang="en-GB" sz="1400" dirty="0" err="1" smtClean="0">
                  <a:latin typeface="Arial" charset="0"/>
                </a:rPr>
                <a:t>Wifi</a:t>
              </a:r>
              <a:r>
                <a:rPr lang="en-GB" sz="1400" dirty="0" smtClean="0">
                  <a:latin typeface="Arial" charset="0"/>
                </a:rPr>
                <a:t> / LTE / 5G / </a:t>
              </a:r>
              <a:r>
                <a:rPr lang="en-GB" sz="1400" dirty="0" err="1" smtClean="0">
                  <a:latin typeface="Arial" charset="0"/>
                </a:rPr>
                <a:t>LoRaWan</a:t>
              </a:r>
              <a:endParaRPr kumimoji="0" lang="en-GB" sz="1400" b="0" i="0" u="none" strike="noStrike" cap="none" normalizeH="0" baseline="0" dirty="0" smtClean="0">
                <a:ln>
                  <a:noFill/>
                </a:ln>
                <a:solidFill>
                  <a:schemeClr val="tx1"/>
                </a:solidFill>
                <a:effectLst/>
                <a:latin typeface="Arial" charset="0"/>
              </a:endParaRPr>
            </a:p>
          </p:txBody>
        </p:sp>
        <p:sp>
          <p:nvSpPr>
            <p:cNvPr id="14" name="Rounded Rectangle 13"/>
            <p:cNvSpPr/>
            <p:nvPr/>
          </p:nvSpPr>
          <p:spPr bwMode="auto">
            <a:xfrm>
              <a:off x="3882657" y="5430135"/>
              <a:ext cx="3672408" cy="1008112"/>
            </a:xfrm>
            <a:prstGeom prst="round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latin typeface="Arial" charset="0"/>
                </a:rPr>
                <a:t>Devices</a:t>
              </a:r>
            </a:p>
            <a:p>
              <a:pPr marL="0" marR="0" indent="0" algn="ctr" defTabSz="914400" rtl="0" eaLnBrk="0" fontAlgn="base" latinLnBrk="0" hangingPunct="0">
                <a:lnSpc>
                  <a:spcPct val="100000"/>
                </a:lnSpc>
                <a:spcBef>
                  <a:spcPct val="0"/>
                </a:spcBef>
                <a:spcAft>
                  <a:spcPct val="0"/>
                </a:spcAft>
                <a:buClrTx/>
                <a:buSzTx/>
                <a:buFontTx/>
                <a:buNone/>
                <a:tabLst/>
              </a:pPr>
              <a:r>
                <a:rPr lang="en-GB" sz="1400" dirty="0" smtClean="0">
                  <a:latin typeface="Arial" charset="0"/>
                </a:rPr>
                <a:t>(Device Platforms)</a:t>
              </a:r>
              <a:endParaRPr kumimoji="0" lang="en-GB" sz="1400" b="0" i="0" u="none" strike="noStrike" cap="none" normalizeH="0" baseline="0" dirty="0" smtClean="0">
                <a:ln>
                  <a:noFill/>
                </a:ln>
                <a:solidFill>
                  <a:schemeClr val="tx1"/>
                </a:solidFill>
                <a:effectLst/>
                <a:latin typeface="Arial" charset="0"/>
              </a:endParaRP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37626" y="2977227"/>
              <a:ext cx="867194" cy="867194"/>
            </a:xfrm>
            <a:prstGeom prst="rect">
              <a:avLst/>
            </a:prstGeom>
          </p:spPr>
        </p:pic>
        <p:pic>
          <p:nvPicPr>
            <p:cNvPr id="16" name="Picture 15"/>
            <p:cNvPicPr>
              <a:picLocks noChangeAspect="1"/>
            </p:cNvPicPr>
            <p:nvPr/>
          </p:nvPicPr>
          <p:blipFill>
            <a:blip r:embed="rId3"/>
            <a:stretch>
              <a:fillRect/>
            </a:stretch>
          </p:blipFill>
          <p:spPr>
            <a:xfrm>
              <a:off x="7731820" y="2432062"/>
              <a:ext cx="2591788" cy="711980"/>
            </a:xfrm>
            <a:prstGeom prst="rect">
              <a:avLst/>
            </a:prstGeom>
          </p:spPr>
        </p:pic>
        <p:pic>
          <p:nvPicPr>
            <p:cNvPr id="17" name="Picture 2" descr="C:\aaaGitRepos\tmforumhack2017\TMForumVancouver2017Hack\documentation\workup\activeMQlogo.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98666" y="3884837"/>
              <a:ext cx="979462" cy="32648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3" descr="C:\aaaGitRepos\tmforumhack2017\TMForumVancouver2017Hack\documentation\workup\grafana.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950265" y="1510687"/>
              <a:ext cx="571730" cy="57173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C:\Users\cgallen\Documents\workfolder\entimoss\events\2018-09-19-OUCE\workup\Mosquito.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958709" y="4306911"/>
              <a:ext cx="717018" cy="706265"/>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3" descr="C:\Users\cgallen\Documents\workfolder\entimoss\events\2018-09-19-OUCE\workup\HiveMQ.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755974" y="5028826"/>
              <a:ext cx="1530452" cy="511608"/>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5" descr="C:\Users\cgallen\Documents\workfolder\entimoss\events\2018-09-19-OUCE\workup\nodeRed.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58709" y="6222036"/>
              <a:ext cx="712515" cy="68451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7" descr="C:\Users\cgallen\Documents\workfolder\entimoss\events\2018-09-19-OUCE\workup\EclipseKura.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731820" y="5793383"/>
              <a:ext cx="1396545" cy="315389"/>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descr="C:\Users\cgallen\Documents\workfolder\entimoss\events\2018-09-19-OUCE\workup\ModifiedIoEOpenNMS.jp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4568" y="699356"/>
              <a:ext cx="2628900" cy="6115397"/>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TextBox 23"/>
          <p:cNvSpPr txBox="1"/>
          <p:nvPr/>
        </p:nvSpPr>
        <p:spPr>
          <a:xfrm>
            <a:off x="6321712" y="4475294"/>
            <a:ext cx="3416687" cy="1200329"/>
          </a:xfrm>
          <a:prstGeom prst="rect">
            <a:avLst/>
          </a:prstGeom>
          <a:noFill/>
        </p:spPr>
        <p:txBody>
          <a:bodyPr wrap="square" rtlCol="0">
            <a:spAutoFit/>
          </a:bodyPr>
          <a:lstStyle/>
          <a:p>
            <a:r>
              <a:rPr lang="en-GB" dirty="0" err="1" smtClean="0"/>
              <a:t>OpenNMS</a:t>
            </a:r>
            <a:r>
              <a:rPr lang="en-GB" dirty="0" smtClean="0"/>
              <a:t> could find a role in the long tail of applications </a:t>
            </a:r>
          </a:p>
          <a:p>
            <a:r>
              <a:rPr lang="en-GB" dirty="0" smtClean="0"/>
              <a:t> proven and (relatively) simple to deploy solution</a:t>
            </a:r>
            <a:endParaRPr lang="en-GB" dirty="0"/>
          </a:p>
        </p:txBody>
      </p:sp>
    </p:spTree>
    <p:extLst>
      <p:ext uri="{BB962C8B-B14F-4D97-AF65-F5344CB8AC3E}">
        <p14:creationId xmlns:p14="http://schemas.microsoft.com/office/powerpoint/2010/main" val="529051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Contents</a:t>
            </a:r>
            <a:endParaRPr lang="en-GB" dirty="0"/>
          </a:p>
        </p:txBody>
      </p:sp>
      <p:sp>
        <p:nvSpPr>
          <p:cNvPr id="3" name="Content Placeholder 2"/>
          <p:cNvSpPr>
            <a:spLocks noGrp="1"/>
          </p:cNvSpPr>
          <p:nvPr>
            <p:ph idx="1"/>
          </p:nvPr>
        </p:nvSpPr>
        <p:spPr>
          <a:xfrm>
            <a:off x="176213" y="2132856"/>
            <a:ext cx="4632771" cy="4159994"/>
          </a:xfrm>
        </p:spPr>
        <p:txBody>
          <a:bodyPr/>
          <a:lstStyle/>
          <a:p>
            <a:r>
              <a:rPr lang="en-GB" sz="2400" b="0" dirty="0" smtClean="0"/>
              <a:t>General discussion of </a:t>
            </a:r>
            <a:r>
              <a:rPr lang="en-GB" sz="2400" b="0" dirty="0" err="1" smtClean="0"/>
              <a:t>IoT</a:t>
            </a:r>
            <a:endParaRPr lang="en-GB" sz="2400" b="0" dirty="0" smtClean="0"/>
          </a:p>
          <a:p>
            <a:endParaRPr lang="en-GB" sz="2400" dirty="0"/>
          </a:p>
          <a:p>
            <a:r>
              <a:rPr lang="en-GB" sz="2400" dirty="0" smtClean="0"/>
              <a:t>MQTT</a:t>
            </a:r>
          </a:p>
          <a:p>
            <a:endParaRPr lang="en-GB" sz="2400" b="0" dirty="0"/>
          </a:p>
          <a:p>
            <a:r>
              <a:rPr lang="en-GB" sz="2400" b="0" dirty="0" err="1" smtClean="0"/>
              <a:t>OpenNMS</a:t>
            </a:r>
            <a:r>
              <a:rPr lang="en-GB" sz="2400" b="0" dirty="0" smtClean="0"/>
              <a:t> </a:t>
            </a:r>
            <a:r>
              <a:rPr lang="en-GB" sz="2400" b="0" dirty="0" err="1" smtClean="0"/>
              <a:t>IoT</a:t>
            </a:r>
            <a:r>
              <a:rPr lang="en-GB" sz="2400" b="0" dirty="0" smtClean="0"/>
              <a:t> Plugin</a:t>
            </a:r>
          </a:p>
          <a:p>
            <a:endParaRPr lang="en-GB" sz="2400" b="0" dirty="0"/>
          </a:p>
          <a:p>
            <a:r>
              <a:rPr lang="en-GB" sz="2400" b="0" dirty="0" smtClean="0"/>
              <a:t>Use Cases</a:t>
            </a:r>
          </a:p>
          <a:p>
            <a:endParaRPr lang="en-GB" sz="2400" dirty="0"/>
          </a:p>
          <a:p>
            <a:endParaRPr lang="en-GB" sz="2400" dirty="0"/>
          </a:p>
        </p:txBody>
      </p:sp>
      <p:pic>
        <p:nvPicPr>
          <p:cNvPr id="4" name="Picture 2" descr="C:\Users\cgallen\Documents\workfolder\entimoss\events\2018-09-19-OUCE\workup\Internet_of_ThingsWikipedi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6940" y="1340768"/>
            <a:ext cx="4088467" cy="39212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17428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The </a:t>
            </a:r>
            <a:r>
              <a:rPr lang="en-GB" dirty="0" err="1" smtClean="0"/>
              <a:t>IoT</a:t>
            </a:r>
            <a:r>
              <a:rPr lang="en-GB" dirty="0" smtClean="0"/>
              <a:t> protocol MQTT</a:t>
            </a:r>
            <a:endParaRPr lang="en-GB" dirty="0"/>
          </a:p>
        </p:txBody>
      </p:sp>
      <p:sp>
        <p:nvSpPr>
          <p:cNvPr id="3" name="Content Placeholder 2"/>
          <p:cNvSpPr>
            <a:spLocks noGrp="1"/>
          </p:cNvSpPr>
          <p:nvPr>
            <p:ph idx="1"/>
          </p:nvPr>
        </p:nvSpPr>
        <p:spPr>
          <a:xfrm>
            <a:off x="176213" y="838200"/>
            <a:ext cx="5928915" cy="5543128"/>
          </a:xfrm>
        </p:spPr>
        <p:txBody>
          <a:bodyPr/>
          <a:lstStyle/>
          <a:p>
            <a:r>
              <a:rPr lang="en-GB" dirty="0" smtClean="0"/>
              <a:t>MQTT (Message </a:t>
            </a:r>
            <a:r>
              <a:rPr lang="en-GB" dirty="0"/>
              <a:t>Queuing Telemetry Transport) </a:t>
            </a:r>
            <a:endParaRPr lang="en-GB" dirty="0" smtClean="0"/>
          </a:p>
          <a:p>
            <a:pPr marL="695325" lvl="2" indent="-349250">
              <a:buClr>
                <a:srgbClr val="990000"/>
              </a:buClr>
              <a:buSzPct val="110000"/>
              <a:buFontTx/>
              <a:buChar char="•"/>
            </a:pPr>
            <a:r>
              <a:rPr lang="en-GB" dirty="0"/>
              <a:t>Andy Stanford-Clark of IBM and Arlen Nipper of Cirrus Link authored the first version of the protocol in 1999</a:t>
            </a:r>
          </a:p>
          <a:p>
            <a:endParaRPr lang="en-GB" dirty="0" smtClean="0"/>
          </a:p>
          <a:p>
            <a:r>
              <a:rPr lang="en-GB" dirty="0"/>
              <a:t>OASIS Standard MQTT v3.1.1 </a:t>
            </a:r>
          </a:p>
          <a:p>
            <a:pPr lvl="1"/>
            <a:r>
              <a:rPr lang="en-GB" dirty="0"/>
              <a:t>http://docs.oasis-open.org/mqtt/mqtt/v3.1.1/os/mqtt-v3.1.1-os.html</a:t>
            </a:r>
          </a:p>
          <a:p>
            <a:pPr lvl="1"/>
            <a:r>
              <a:rPr lang="en-GB" dirty="0"/>
              <a:t>ISO standard (ISO/IEC PRF 20922) </a:t>
            </a:r>
            <a:endParaRPr lang="en-GB" dirty="0" smtClean="0"/>
          </a:p>
          <a:p>
            <a:pPr lvl="1"/>
            <a:endParaRPr lang="en-GB" dirty="0"/>
          </a:p>
          <a:p>
            <a:r>
              <a:rPr lang="en-GB" dirty="0" smtClean="0"/>
              <a:t>Design criteria</a:t>
            </a:r>
          </a:p>
          <a:p>
            <a:pPr lvl="1"/>
            <a:r>
              <a:rPr lang="en-GB" dirty="0"/>
              <a:t>It is designed for connections with remote locations where a "small code footprint" is required or the network bandwidth is limited</a:t>
            </a:r>
            <a:r>
              <a:rPr lang="en-GB" dirty="0" smtClean="0"/>
              <a:t>.</a:t>
            </a:r>
          </a:p>
          <a:p>
            <a:pPr lvl="1"/>
            <a:r>
              <a:rPr lang="en-GB" dirty="0" smtClean="0"/>
              <a:t>Can work on top of </a:t>
            </a:r>
            <a:r>
              <a:rPr lang="en-GB" dirty="0" err="1" smtClean="0"/>
              <a:t>LaRaWan</a:t>
            </a:r>
            <a:r>
              <a:rPr lang="en-GB" dirty="0" smtClean="0"/>
              <a:t>, </a:t>
            </a:r>
            <a:r>
              <a:rPr lang="en-GB" dirty="0" err="1" smtClean="0"/>
              <a:t>Zigbee</a:t>
            </a:r>
            <a:r>
              <a:rPr lang="en-GB" dirty="0" smtClean="0"/>
              <a:t>, </a:t>
            </a:r>
            <a:r>
              <a:rPr lang="en-GB" dirty="0" err="1" smtClean="0"/>
              <a:t>Wifi</a:t>
            </a:r>
            <a:r>
              <a:rPr lang="en-GB" dirty="0" smtClean="0"/>
              <a:t> </a:t>
            </a:r>
            <a:r>
              <a:rPr lang="en-GB" dirty="0" err="1" smtClean="0"/>
              <a:t>etc</a:t>
            </a:r>
            <a:endParaRPr lang="en-GB" dirty="0"/>
          </a:p>
          <a:p>
            <a:endParaRPr lang="en-GB" dirty="0" smtClean="0"/>
          </a:p>
          <a:p>
            <a:r>
              <a:rPr lang="en-GB" dirty="0" smtClean="0"/>
              <a:t>Details</a:t>
            </a:r>
          </a:p>
          <a:p>
            <a:pPr lvl="1"/>
            <a:r>
              <a:rPr lang="en-GB" dirty="0" smtClean="0"/>
              <a:t>A publish-subscribe-based </a:t>
            </a:r>
            <a:r>
              <a:rPr lang="en-GB" dirty="0"/>
              <a:t>messaging </a:t>
            </a:r>
            <a:r>
              <a:rPr lang="en-GB" dirty="0" smtClean="0"/>
              <a:t>protocol requiring a broker</a:t>
            </a:r>
          </a:p>
          <a:p>
            <a:pPr lvl="1"/>
            <a:r>
              <a:rPr lang="en-GB" dirty="0" smtClean="0"/>
              <a:t>Built on TCP/IP and can use TLS (secure sockets). </a:t>
            </a:r>
          </a:p>
          <a:p>
            <a:pPr lvl="1"/>
            <a:r>
              <a:rPr lang="en-GB" dirty="0" smtClean="0"/>
              <a:t>Application Message : Topic, </a:t>
            </a:r>
            <a:r>
              <a:rPr lang="en-GB" dirty="0" err="1" smtClean="0"/>
              <a:t>Qos</a:t>
            </a:r>
            <a:r>
              <a:rPr lang="en-GB" dirty="0" smtClean="0"/>
              <a:t>, Payload</a:t>
            </a:r>
            <a:endParaRPr lang="en-GB" dirty="0"/>
          </a:p>
        </p:txBody>
      </p:sp>
      <p:sp>
        <p:nvSpPr>
          <p:cNvPr id="4" name="Rounded Rectangle 3"/>
          <p:cNvSpPr/>
          <p:nvPr/>
        </p:nvSpPr>
        <p:spPr bwMode="auto">
          <a:xfrm>
            <a:off x="6900610" y="4036422"/>
            <a:ext cx="1080120" cy="576064"/>
          </a:xfrm>
          <a:prstGeom prst="round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400" b="0" i="0" u="none" strike="noStrike" cap="none" normalizeH="0" baseline="0" dirty="0" err="1" smtClean="0">
                <a:ln>
                  <a:noFill/>
                </a:ln>
                <a:solidFill>
                  <a:schemeClr val="tx1"/>
                </a:solidFill>
                <a:effectLst/>
                <a:latin typeface="Arial" charset="0"/>
              </a:rPr>
              <a:t>IoT</a:t>
            </a:r>
            <a:endParaRPr kumimoji="0" lang="en-GB" sz="1400" b="0" i="0" u="none" strike="noStrike" cap="none" normalizeH="0" baseline="0" dirty="0" smtClean="0">
              <a:ln>
                <a:noFill/>
              </a:ln>
              <a:solidFill>
                <a:schemeClr val="tx1"/>
              </a:solidFill>
              <a:effectLst/>
              <a:latin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lang="en-GB" sz="1400" dirty="0" smtClean="0">
                <a:latin typeface="Arial" charset="0"/>
              </a:rPr>
              <a:t>device</a:t>
            </a:r>
            <a:endParaRPr kumimoji="0" lang="en-GB" sz="1400" b="0" i="0" u="none" strike="noStrike" cap="none" normalizeH="0" baseline="0" dirty="0" smtClean="0">
              <a:ln>
                <a:noFill/>
              </a:ln>
              <a:solidFill>
                <a:schemeClr val="tx1"/>
              </a:solidFill>
              <a:effectLst/>
              <a:latin typeface="Arial" charset="0"/>
            </a:endParaRPr>
          </a:p>
        </p:txBody>
      </p:sp>
      <p:sp>
        <p:nvSpPr>
          <p:cNvPr id="5" name="Isosceles Triangle 4"/>
          <p:cNvSpPr/>
          <p:nvPr/>
        </p:nvSpPr>
        <p:spPr bwMode="auto">
          <a:xfrm>
            <a:off x="6630164" y="2596262"/>
            <a:ext cx="1807766" cy="864096"/>
          </a:xfrm>
          <a:prstGeom prst="triangle">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err="1" smtClean="0">
                <a:ln>
                  <a:noFill/>
                </a:ln>
                <a:solidFill>
                  <a:schemeClr val="tx1"/>
                </a:solidFill>
                <a:effectLst/>
                <a:latin typeface="Arial" charset="0"/>
              </a:rPr>
              <a:t>Mqtt</a:t>
            </a:r>
            <a:endParaRPr kumimoji="0" lang="en-GB" sz="1800" b="0" i="0" u="none" strike="noStrike" cap="none" normalizeH="0" baseline="0" dirty="0" smtClean="0">
              <a:ln>
                <a:noFill/>
              </a:ln>
              <a:solidFill>
                <a:schemeClr val="tx1"/>
              </a:solidFill>
              <a:effectLst/>
              <a:latin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lang="en-GB" dirty="0" smtClean="0">
                <a:latin typeface="Arial" charset="0"/>
              </a:rPr>
              <a:t>Broker</a:t>
            </a:r>
          </a:p>
          <a:p>
            <a:pPr marL="0" marR="0" indent="0" algn="ctr"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dirty="0" smtClean="0">
              <a:ln>
                <a:noFill/>
              </a:ln>
              <a:solidFill>
                <a:schemeClr val="tx1"/>
              </a:solidFill>
              <a:effectLst/>
              <a:latin typeface="Arial" charset="0"/>
            </a:endParaRPr>
          </a:p>
        </p:txBody>
      </p:sp>
      <p:sp>
        <p:nvSpPr>
          <p:cNvPr id="6" name="Rounded Rectangle 5"/>
          <p:cNvSpPr/>
          <p:nvPr/>
        </p:nvSpPr>
        <p:spPr bwMode="auto">
          <a:xfrm>
            <a:off x="7053010" y="4188822"/>
            <a:ext cx="1080120" cy="576064"/>
          </a:xfrm>
          <a:prstGeom prst="round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400" b="0" i="0" u="none" strike="noStrike" cap="none" normalizeH="0" baseline="0" dirty="0" err="1" smtClean="0">
                <a:ln>
                  <a:noFill/>
                </a:ln>
                <a:solidFill>
                  <a:schemeClr val="tx1"/>
                </a:solidFill>
                <a:effectLst/>
                <a:latin typeface="Arial" charset="0"/>
              </a:rPr>
              <a:t>IoT</a:t>
            </a:r>
            <a:endParaRPr kumimoji="0" lang="en-GB" sz="1400" b="0" i="0" u="none" strike="noStrike" cap="none" normalizeH="0" baseline="0" dirty="0" smtClean="0">
              <a:ln>
                <a:noFill/>
              </a:ln>
              <a:solidFill>
                <a:schemeClr val="tx1"/>
              </a:solidFill>
              <a:effectLst/>
              <a:latin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lang="en-GB" sz="1400" dirty="0" smtClean="0">
                <a:latin typeface="Arial" charset="0"/>
              </a:rPr>
              <a:t>device</a:t>
            </a:r>
            <a:endParaRPr kumimoji="0" lang="en-GB" sz="1400" b="0" i="0" u="none" strike="noStrike" cap="none" normalizeH="0" baseline="0" dirty="0" smtClean="0">
              <a:ln>
                <a:noFill/>
              </a:ln>
              <a:solidFill>
                <a:schemeClr val="tx1"/>
              </a:solidFill>
              <a:effectLst/>
              <a:latin typeface="Arial" charset="0"/>
            </a:endParaRPr>
          </a:p>
        </p:txBody>
      </p:sp>
      <p:sp>
        <p:nvSpPr>
          <p:cNvPr id="7" name="Rounded Rectangle 6"/>
          <p:cNvSpPr/>
          <p:nvPr/>
        </p:nvSpPr>
        <p:spPr bwMode="auto">
          <a:xfrm>
            <a:off x="7205410" y="4341222"/>
            <a:ext cx="1080120" cy="576064"/>
          </a:xfrm>
          <a:prstGeom prst="round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400" b="0" i="0" u="none" strike="noStrike" cap="none" normalizeH="0" baseline="0" dirty="0" err="1" smtClean="0">
                <a:ln>
                  <a:noFill/>
                </a:ln>
                <a:solidFill>
                  <a:schemeClr val="tx1"/>
                </a:solidFill>
                <a:effectLst/>
                <a:latin typeface="Arial" charset="0"/>
              </a:rPr>
              <a:t>IoT</a:t>
            </a:r>
            <a:endParaRPr kumimoji="0" lang="en-GB" sz="1400" b="0" i="0" u="none" strike="noStrike" cap="none" normalizeH="0" baseline="0" dirty="0" smtClean="0">
              <a:ln>
                <a:noFill/>
              </a:ln>
              <a:solidFill>
                <a:schemeClr val="tx1"/>
              </a:solidFill>
              <a:effectLst/>
              <a:latin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lang="en-GB" sz="1400" dirty="0" smtClean="0">
                <a:latin typeface="Arial" charset="0"/>
              </a:rPr>
              <a:t>device</a:t>
            </a:r>
            <a:endParaRPr kumimoji="0" lang="en-GB" sz="1400" b="0" i="0" u="none" strike="noStrike" cap="none" normalizeH="0" baseline="0" dirty="0" smtClean="0">
              <a:ln>
                <a:noFill/>
              </a:ln>
              <a:solidFill>
                <a:schemeClr val="tx1"/>
              </a:solidFill>
              <a:effectLst/>
              <a:latin typeface="Arial" charset="0"/>
            </a:endParaRPr>
          </a:p>
        </p:txBody>
      </p:sp>
      <p:sp>
        <p:nvSpPr>
          <p:cNvPr id="8" name="Rounded Rectangle 7"/>
          <p:cNvSpPr/>
          <p:nvPr/>
        </p:nvSpPr>
        <p:spPr bwMode="auto">
          <a:xfrm>
            <a:off x="7357810" y="4493622"/>
            <a:ext cx="1080120" cy="576064"/>
          </a:xfrm>
          <a:prstGeom prst="round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400" b="0" i="0" u="none" strike="noStrike" cap="none" normalizeH="0" baseline="0" dirty="0" err="1" smtClean="0">
                <a:ln>
                  <a:noFill/>
                </a:ln>
                <a:solidFill>
                  <a:schemeClr val="tx1"/>
                </a:solidFill>
                <a:effectLst/>
                <a:latin typeface="Arial" charset="0"/>
              </a:rPr>
              <a:t>IoT</a:t>
            </a:r>
            <a:endParaRPr kumimoji="0" lang="en-GB" sz="1400" b="0" i="0" u="none" strike="noStrike" cap="none" normalizeH="0" baseline="0" dirty="0" smtClean="0">
              <a:ln>
                <a:noFill/>
              </a:ln>
              <a:solidFill>
                <a:schemeClr val="tx1"/>
              </a:solidFill>
              <a:effectLst/>
              <a:latin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lang="en-GB" sz="1400" dirty="0" smtClean="0">
                <a:latin typeface="Arial" charset="0"/>
              </a:rPr>
              <a:t>device</a:t>
            </a:r>
            <a:endParaRPr kumimoji="0" lang="en-GB" sz="1400" b="0" i="0" u="none" strike="noStrike" cap="none" normalizeH="0" baseline="0" dirty="0" smtClean="0">
              <a:ln>
                <a:noFill/>
              </a:ln>
              <a:solidFill>
                <a:schemeClr val="tx1"/>
              </a:solidFill>
              <a:effectLst/>
              <a:latin typeface="Arial" charset="0"/>
            </a:endParaRPr>
          </a:p>
        </p:txBody>
      </p:sp>
      <p:sp>
        <p:nvSpPr>
          <p:cNvPr id="9" name="Rounded Rectangle 8"/>
          <p:cNvSpPr/>
          <p:nvPr/>
        </p:nvSpPr>
        <p:spPr bwMode="auto">
          <a:xfrm>
            <a:off x="6117450" y="1588150"/>
            <a:ext cx="836204" cy="432048"/>
          </a:xfrm>
          <a:prstGeom prst="round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smtClean="0">
                <a:ln>
                  <a:noFill/>
                </a:ln>
                <a:solidFill>
                  <a:schemeClr val="tx1"/>
                </a:solidFill>
                <a:effectLst/>
                <a:latin typeface="Arial" charset="0"/>
              </a:rPr>
              <a:t>Client</a:t>
            </a:r>
          </a:p>
        </p:txBody>
      </p:sp>
      <p:sp>
        <p:nvSpPr>
          <p:cNvPr id="10" name="Rounded Rectangle 9"/>
          <p:cNvSpPr/>
          <p:nvPr/>
        </p:nvSpPr>
        <p:spPr bwMode="auto">
          <a:xfrm>
            <a:off x="7090402" y="1588150"/>
            <a:ext cx="885882" cy="432048"/>
          </a:xfrm>
          <a:prstGeom prst="round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smtClean="0">
                <a:ln>
                  <a:noFill/>
                </a:ln>
                <a:solidFill>
                  <a:schemeClr val="tx1"/>
                </a:solidFill>
                <a:effectLst/>
                <a:latin typeface="Arial" charset="0"/>
              </a:rPr>
              <a:t>Client</a:t>
            </a:r>
          </a:p>
        </p:txBody>
      </p:sp>
      <p:sp>
        <p:nvSpPr>
          <p:cNvPr id="11" name="Rounded Rectangle 10"/>
          <p:cNvSpPr/>
          <p:nvPr/>
        </p:nvSpPr>
        <p:spPr bwMode="auto">
          <a:xfrm>
            <a:off x="8164915" y="1587823"/>
            <a:ext cx="904863" cy="432048"/>
          </a:xfrm>
          <a:prstGeom prst="round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smtClean="0">
                <a:ln>
                  <a:noFill/>
                </a:ln>
                <a:solidFill>
                  <a:schemeClr val="tx1"/>
                </a:solidFill>
                <a:effectLst/>
                <a:latin typeface="Arial" charset="0"/>
              </a:rPr>
              <a:t>Client</a:t>
            </a:r>
          </a:p>
        </p:txBody>
      </p:sp>
      <p:cxnSp>
        <p:nvCxnSpPr>
          <p:cNvPr id="13" name="Elbow Connector 12"/>
          <p:cNvCxnSpPr>
            <a:stCxn id="5" idx="3"/>
          </p:cNvCxnSpPr>
          <p:nvPr/>
        </p:nvCxnSpPr>
        <p:spPr bwMode="auto">
          <a:xfrm rot="16200000" flipH="1">
            <a:off x="7275662" y="3718742"/>
            <a:ext cx="728464" cy="211695"/>
          </a:xfrm>
          <a:prstGeom prst="bentConnector3">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Elbow Connector 14"/>
          <p:cNvCxnSpPr>
            <a:stCxn id="5" idx="1"/>
            <a:endCxn id="9" idx="2"/>
          </p:cNvCxnSpPr>
          <p:nvPr/>
        </p:nvCxnSpPr>
        <p:spPr bwMode="auto">
          <a:xfrm rot="10800000">
            <a:off x="6535552" y="2020198"/>
            <a:ext cx="546554" cy="1008112"/>
          </a:xfrm>
          <a:prstGeom prst="bentConnector2">
            <a:avLst/>
          </a:prstGeom>
          <a:solidFill>
            <a:schemeClr val="bg1"/>
          </a:solidFill>
          <a:ln w="9525" cap="flat" cmpd="sng" algn="ctr">
            <a:solidFill>
              <a:schemeClr val="tx1"/>
            </a:solidFill>
            <a:prstDash val="solid"/>
            <a:round/>
            <a:headEnd type="none" w="sm" len="sm"/>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Elbow Connector 16"/>
          <p:cNvCxnSpPr>
            <a:stCxn id="5" idx="0"/>
            <a:endCxn id="10" idx="2"/>
          </p:cNvCxnSpPr>
          <p:nvPr/>
        </p:nvCxnSpPr>
        <p:spPr bwMode="auto">
          <a:xfrm rot="16200000" flipV="1">
            <a:off x="7245663" y="2307878"/>
            <a:ext cx="576064" cy="704"/>
          </a:xfrm>
          <a:prstGeom prst="bentConnector3">
            <a:avLst/>
          </a:prstGeom>
          <a:solidFill>
            <a:schemeClr val="bg1"/>
          </a:solidFill>
          <a:ln w="9525" cap="flat" cmpd="sng" algn="ctr">
            <a:solidFill>
              <a:schemeClr val="tx1"/>
            </a:solidFill>
            <a:prstDash val="solid"/>
            <a:round/>
            <a:headEnd type="none" w="sm" len="sm"/>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Elbow Connector 18"/>
          <p:cNvCxnSpPr>
            <a:stCxn id="5" idx="5"/>
            <a:endCxn id="11" idx="2"/>
          </p:cNvCxnSpPr>
          <p:nvPr/>
        </p:nvCxnSpPr>
        <p:spPr bwMode="auto">
          <a:xfrm flipV="1">
            <a:off x="7985989" y="2019871"/>
            <a:ext cx="631358" cy="1008439"/>
          </a:xfrm>
          <a:prstGeom prst="bentConnector2">
            <a:avLst/>
          </a:prstGeom>
          <a:solidFill>
            <a:schemeClr val="bg1"/>
          </a:solidFill>
          <a:ln w="9525" cap="flat" cmpd="sng" algn="ctr">
            <a:solidFill>
              <a:schemeClr val="tx1"/>
            </a:solidFill>
            <a:prstDash val="solid"/>
            <a:round/>
            <a:headEnd type="none" w="sm" len="sm"/>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TextBox 21"/>
          <p:cNvSpPr txBox="1"/>
          <p:nvPr/>
        </p:nvSpPr>
        <p:spPr>
          <a:xfrm>
            <a:off x="7745742" y="2267580"/>
            <a:ext cx="633507" cy="369332"/>
          </a:xfrm>
          <a:prstGeom prst="rect">
            <a:avLst/>
          </a:prstGeom>
          <a:noFill/>
        </p:spPr>
        <p:txBody>
          <a:bodyPr wrap="none" rtlCol="0">
            <a:spAutoFit/>
          </a:bodyPr>
          <a:lstStyle/>
          <a:p>
            <a:r>
              <a:rPr lang="en-GB" dirty="0" err="1" smtClean="0"/>
              <a:t>mqtt</a:t>
            </a:r>
            <a:endParaRPr lang="en-GB" dirty="0"/>
          </a:p>
        </p:txBody>
      </p:sp>
      <p:sp>
        <p:nvSpPr>
          <p:cNvPr id="23" name="TextBox 22"/>
          <p:cNvSpPr txBox="1"/>
          <p:nvPr/>
        </p:nvSpPr>
        <p:spPr>
          <a:xfrm>
            <a:off x="8558496" y="4427820"/>
            <a:ext cx="633507" cy="369332"/>
          </a:xfrm>
          <a:prstGeom prst="rect">
            <a:avLst/>
          </a:prstGeom>
          <a:noFill/>
        </p:spPr>
        <p:txBody>
          <a:bodyPr wrap="none" rtlCol="0">
            <a:spAutoFit/>
          </a:bodyPr>
          <a:lstStyle/>
          <a:p>
            <a:r>
              <a:rPr lang="en-GB" dirty="0" err="1" smtClean="0"/>
              <a:t>mqtt</a:t>
            </a:r>
            <a:endParaRPr lang="en-GB" dirty="0"/>
          </a:p>
        </p:txBody>
      </p:sp>
      <p:pic>
        <p:nvPicPr>
          <p:cNvPr id="24" name="Picture 2" descr="C:\aaaGitRepos\tmforumhack2017\TMForumVancouver2017Hack\documentation\workup\activeMQlogo.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69972" y="2486661"/>
            <a:ext cx="599612" cy="21920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C:\Users\cgallen\Documents\workfolder\entimoss\events\2018-09-19-OUCE\workup\Mosquit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67948" y="2770038"/>
            <a:ext cx="438948" cy="47418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3" descr="C:\Users\cgallen\Documents\workfolder\entimoss\events\2018-09-19-OUCE\workup\HiveMQ.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43837" y="3254727"/>
            <a:ext cx="936920" cy="343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75173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MQTT Message</a:t>
            </a:r>
            <a:endParaRPr lang="en-GB" dirty="0"/>
          </a:p>
        </p:txBody>
      </p:sp>
      <p:sp>
        <p:nvSpPr>
          <p:cNvPr id="3" name="Content Placeholder 2"/>
          <p:cNvSpPr>
            <a:spLocks noGrp="1"/>
          </p:cNvSpPr>
          <p:nvPr>
            <p:ph idx="1"/>
          </p:nvPr>
        </p:nvSpPr>
        <p:spPr/>
        <p:txBody>
          <a:bodyPr/>
          <a:lstStyle/>
          <a:p>
            <a:r>
              <a:rPr lang="en-GB" sz="2000" dirty="0" smtClean="0"/>
              <a:t>MQTT Message contains &lt;Client Id&gt;&lt;  Topic &gt;&lt; </a:t>
            </a:r>
            <a:r>
              <a:rPr lang="en-GB" sz="2000" dirty="0" err="1" smtClean="0"/>
              <a:t>QoS</a:t>
            </a:r>
            <a:r>
              <a:rPr lang="en-GB" sz="2000" dirty="0" smtClean="0"/>
              <a:t> (0,1,2) &gt;&lt; Payload &gt;</a:t>
            </a:r>
          </a:p>
          <a:p>
            <a:endParaRPr lang="en-GB" sz="2000" dirty="0" smtClean="0"/>
          </a:p>
          <a:p>
            <a:r>
              <a:rPr lang="en-GB" sz="2000" dirty="0"/>
              <a:t>MQTT </a:t>
            </a:r>
            <a:r>
              <a:rPr lang="en-GB" sz="2000" dirty="0" err="1"/>
              <a:t>QoS</a:t>
            </a:r>
            <a:endParaRPr lang="en-GB" sz="2000" dirty="0"/>
          </a:p>
          <a:p>
            <a:pPr lvl="1"/>
            <a:r>
              <a:rPr lang="en-GB" sz="1800" dirty="0" err="1"/>
              <a:t>QoS</a:t>
            </a:r>
            <a:r>
              <a:rPr lang="en-GB" sz="1800" dirty="0"/>
              <a:t> 0: At most once delivery</a:t>
            </a:r>
          </a:p>
          <a:p>
            <a:pPr lvl="2"/>
            <a:r>
              <a:rPr lang="en-GB" sz="1800" dirty="0"/>
              <a:t>The message is delivered according to the capabilities of the underlying network. No response is sent by the receiver and no retry is performed by the sender. The message arrives at the receiver either once or not at all.  </a:t>
            </a:r>
          </a:p>
          <a:p>
            <a:pPr lvl="1"/>
            <a:r>
              <a:rPr lang="en-GB" sz="1800" dirty="0" err="1"/>
              <a:t>QoS</a:t>
            </a:r>
            <a:r>
              <a:rPr lang="en-GB" sz="1800" dirty="0"/>
              <a:t> 1: At least once delivery</a:t>
            </a:r>
          </a:p>
          <a:p>
            <a:pPr lvl="2"/>
            <a:r>
              <a:rPr lang="en-GB" sz="1800" dirty="0"/>
              <a:t>This quality of service ensures that the message arrives at the receiver at least once. ( But may receive duplicates)</a:t>
            </a:r>
          </a:p>
          <a:p>
            <a:pPr lvl="1"/>
            <a:r>
              <a:rPr lang="en-GB" sz="1800" dirty="0"/>
              <a:t> </a:t>
            </a:r>
            <a:r>
              <a:rPr lang="en-GB" sz="1800" dirty="0" err="1"/>
              <a:t>QoS</a:t>
            </a:r>
            <a:r>
              <a:rPr lang="en-GB" sz="1800" dirty="0"/>
              <a:t> 2: Exactly once delivery</a:t>
            </a:r>
          </a:p>
          <a:p>
            <a:pPr lvl="2"/>
            <a:r>
              <a:rPr lang="en-GB" sz="1800" dirty="0"/>
              <a:t>This is the highest quality of service, for use when neither loss nor duplication of messages are </a:t>
            </a:r>
            <a:r>
              <a:rPr lang="en-GB" sz="1800" dirty="0" smtClean="0"/>
              <a:t>acceptable</a:t>
            </a:r>
          </a:p>
          <a:p>
            <a:pPr lvl="2"/>
            <a:endParaRPr lang="en-GB" sz="1800" dirty="0"/>
          </a:p>
          <a:p>
            <a:r>
              <a:rPr lang="en-GB" sz="2000" dirty="0"/>
              <a:t>Client Identification and authentication</a:t>
            </a:r>
          </a:p>
          <a:p>
            <a:pPr lvl="1"/>
            <a:r>
              <a:rPr lang="en-GB" sz="1800" dirty="0"/>
              <a:t>MQTT Client id</a:t>
            </a:r>
          </a:p>
          <a:p>
            <a:pPr lvl="1"/>
            <a:r>
              <a:rPr lang="en-GB" sz="1800" dirty="0"/>
              <a:t>Username, Password and / or </a:t>
            </a:r>
            <a:r>
              <a:rPr lang="en-GB" sz="1800" dirty="0" smtClean="0"/>
              <a:t>Certificate (e.g. Amazon </a:t>
            </a:r>
            <a:r>
              <a:rPr lang="en-GB" sz="1800" dirty="0" err="1" smtClean="0"/>
              <a:t>IoT</a:t>
            </a:r>
            <a:r>
              <a:rPr lang="en-GB" sz="1800" dirty="0" smtClean="0"/>
              <a:t>)</a:t>
            </a:r>
            <a:endParaRPr lang="en-GB" sz="1800" dirty="0"/>
          </a:p>
          <a:p>
            <a:pPr lvl="2"/>
            <a:endParaRPr lang="en-GB" sz="1800" dirty="0"/>
          </a:p>
        </p:txBody>
      </p:sp>
    </p:spTree>
    <p:extLst>
      <p:ext uri="{BB962C8B-B14F-4D97-AF65-F5344CB8AC3E}">
        <p14:creationId xmlns:p14="http://schemas.microsoft.com/office/powerpoint/2010/main" val="27609186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n-GB" dirty="0" smtClean="0"/>
              <a:t>MQTT Topic</a:t>
            </a:r>
            <a:endParaRPr lang="en-GB" dirty="0"/>
          </a:p>
        </p:txBody>
      </p:sp>
      <p:sp>
        <p:nvSpPr>
          <p:cNvPr id="3" name="Content Placeholder 2"/>
          <p:cNvSpPr>
            <a:spLocks noGrp="1"/>
          </p:cNvSpPr>
          <p:nvPr>
            <p:ph idx="1"/>
          </p:nvPr>
        </p:nvSpPr>
        <p:spPr>
          <a:xfrm>
            <a:off x="176213" y="636414"/>
            <a:ext cx="6504979" cy="6221586"/>
          </a:xfrm>
        </p:spPr>
        <p:txBody>
          <a:bodyPr/>
          <a:lstStyle/>
          <a:p>
            <a:r>
              <a:rPr lang="en-GB" sz="2000" dirty="0" smtClean="0"/>
              <a:t>Topic </a:t>
            </a:r>
            <a:r>
              <a:rPr lang="en-GB" sz="2000" dirty="0"/>
              <a:t>Name:</a:t>
            </a:r>
          </a:p>
          <a:p>
            <a:pPr lvl="1"/>
            <a:r>
              <a:rPr lang="en-GB" sz="1800" dirty="0"/>
              <a:t>The label attached to an Application Message which is matched against the Subscriptions known to the Server. The Server sends a copy of the Application Message to each Client that has a matching Subscription</a:t>
            </a:r>
            <a:r>
              <a:rPr lang="en-GB" sz="1800" dirty="0" smtClean="0"/>
              <a:t>. </a:t>
            </a:r>
          </a:p>
          <a:p>
            <a:pPr lvl="1"/>
            <a:r>
              <a:rPr lang="en-GB" sz="1800" dirty="0" smtClean="0"/>
              <a:t>Topics follow a hierarchy defined by a </a:t>
            </a:r>
            <a:r>
              <a:rPr lang="en-GB" sz="1800" dirty="0"/>
              <a:t>Topic level separator </a:t>
            </a:r>
            <a:r>
              <a:rPr lang="en-GB" sz="1800" dirty="0" smtClean="0"/>
              <a:t>‘/’ </a:t>
            </a:r>
            <a:r>
              <a:rPr lang="en-GB" sz="1800" dirty="0" err="1" smtClean="0"/>
              <a:t>e.g</a:t>
            </a:r>
            <a:r>
              <a:rPr lang="en-GB" sz="1800" dirty="0" smtClean="0"/>
              <a:t>  </a:t>
            </a:r>
            <a:r>
              <a:rPr lang="en-GB" sz="1800" b="1" dirty="0" smtClean="0"/>
              <a:t>GW1/device1/</a:t>
            </a:r>
            <a:r>
              <a:rPr lang="en-GB" sz="1800" b="1" dirty="0" err="1" smtClean="0"/>
              <a:t>sensorA</a:t>
            </a:r>
            <a:r>
              <a:rPr lang="en-GB" sz="1800" dirty="0" smtClean="0"/>
              <a:t> </a:t>
            </a:r>
            <a:r>
              <a:rPr lang="en-GB" sz="1800" dirty="0" err="1" smtClean="0"/>
              <a:t>etc</a:t>
            </a:r>
            <a:endParaRPr lang="en-GB" sz="1800" dirty="0"/>
          </a:p>
          <a:p>
            <a:r>
              <a:rPr lang="en-GB" sz="2000" dirty="0" smtClean="0"/>
              <a:t>Topic Filter:</a:t>
            </a:r>
          </a:p>
          <a:p>
            <a:pPr lvl="1"/>
            <a:r>
              <a:rPr lang="en-GB" sz="1800" dirty="0" smtClean="0"/>
              <a:t>An expression contained in a Subscription, to indicate an interest in one or more topics. A Topic Filter can include wildcard characters.</a:t>
            </a:r>
          </a:p>
          <a:p>
            <a:pPr lvl="2"/>
            <a:r>
              <a:rPr lang="en-GB" sz="1800" dirty="0" smtClean="0"/>
              <a:t>Multi-level wildcard #</a:t>
            </a:r>
          </a:p>
          <a:p>
            <a:pPr lvl="2"/>
            <a:r>
              <a:rPr lang="en-GB" sz="1800" dirty="0" smtClean="0"/>
              <a:t>Single level wildcard +</a:t>
            </a:r>
          </a:p>
          <a:p>
            <a:pPr lvl="1"/>
            <a:r>
              <a:rPr lang="en-GB" sz="1800" dirty="0" smtClean="0"/>
              <a:t>Examples</a:t>
            </a:r>
          </a:p>
          <a:p>
            <a:pPr lvl="2"/>
            <a:r>
              <a:rPr lang="en-GB" sz="1800" b="1" dirty="0" smtClean="0"/>
              <a:t>GW2/#</a:t>
            </a:r>
            <a:r>
              <a:rPr lang="en-GB" sz="1800" dirty="0" smtClean="0"/>
              <a:t> selects all messages from GW2</a:t>
            </a:r>
          </a:p>
          <a:p>
            <a:pPr lvl="2"/>
            <a:r>
              <a:rPr lang="en-GB" sz="1800" b="1" dirty="0"/>
              <a:t>G</a:t>
            </a:r>
            <a:r>
              <a:rPr lang="en-GB" sz="1800" b="1" dirty="0" smtClean="0"/>
              <a:t>W1/device1/+/</a:t>
            </a:r>
            <a:r>
              <a:rPr lang="en-GB" sz="1800" dirty="0" smtClean="0"/>
              <a:t> selects all messages from any  sensor under device 1</a:t>
            </a:r>
          </a:p>
          <a:p>
            <a:pPr lvl="2"/>
            <a:r>
              <a:rPr lang="en-GB" sz="1800" b="1" dirty="0" smtClean="0"/>
              <a:t>GW1/+/</a:t>
            </a:r>
            <a:r>
              <a:rPr lang="en-GB" sz="1800" b="1" dirty="0" err="1" smtClean="0"/>
              <a:t>sensorA</a:t>
            </a:r>
            <a:r>
              <a:rPr lang="en-GB" sz="1800" dirty="0" smtClean="0"/>
              <a:t> selects all </a:t>
            </a:r>
            <a:r>
              <a:rPr lang="en-GB" sz="1800" dirty="0" err="1" smtClean="0"/>
              <a:t>sensorA</a:t>
            </a:r>
            <a:r>
              <a:rPr lang="en-GB" sz="1800" dirty="0" smtClean="0"/>
              <a:t> messages from any device under GW1     </a:t>
            </a:r>
          </a:p>
        </p:txBody>
      </p:sp>
      <p:grpSp>
        <p:nvGrpSpPr>
          <p:cNvPr id="35" name="Group 34"/>
          <p:cNvGrpSpPr/>
          <p:nvPr/>
        </p:nvGrpSpPr>
        <p:grpSpPr>
          <a:xfrm>
            <a:off x="6681192" y="1557394"/>
            <a:ext cx="2880593" cy="3818762"/>
            <a:chOff x="6487941" y="1554453"/>
            <a:chExt cx="2880593" cy="3818762"/>
          </a:xfrm>
        </p:grpSpPr>
        <p:grpSp>
          <p:nvGrpSpPr>
            <p:cNvPr id="32" name="Group 31"/>
            <p:cNvGrpSpPr/>
            <p:nvPr/>
          </p:nvGrpSpPr>
          <p:grpSpPr>
            <a:xfrm>
              <a:off x="6487941" y="1554453"/>
              <a:ext cx="2880593" cy="3240360"/>
              <a:chOff x="6608911" y="2924175"/>
              <a:chExt cx="2880593" cy="3240360"/>
            </a:xfrm>
          </p:grpSpPr>
          <p:sp>
            <p:nvSpPr>
              <p:cNvPr id="4" name="Rectangle 3"/>
              <p:cNvSpPr/>
              <p:nvPr/>
            </p:nvSpPr>
            <p:spPr bwMode="auto">
              <a:xfrm>
                <a:off x="6608911" y="2924175"/>
                <a:ext cx="1008658" cy="360040"/>
              </a:xfrm>
              <a:prstGeom prst="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smtClean="0">
                    <a:ln>
                      <a:noFill/>
                    </a:ln>
                    <a:solidFill>
                      <a:schemeClr val="tx1"/>
                    </a:solidFill>
                    <a:effectLst/>
                    <a:latin typeface="Arial" charset="0"/>
                  </a:rPr>
                  <a:t>GW1</a:t>
                </a:r>
              </a:p>
            </p:txBody>
          </p:sp>
          <p:sp>
            <p:nvSpPr>
              <p:cNvPr id="6" name="Rectangle 5"/>
              <p:cNvSpPr/>
              <p:nvPr/>
            </p:nvSpPr>
            <p:spPr bwMode="auto">
              <a:xfrm>
                <a:off x="8409384" y="4077456"/>
                <a:ext cx="1080120" cy="287263"/>
              </a:xfrm>
              <a:prstGeom prst="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err="1" smtClean="0">
                    <a:ln>
                      <a:noFill/>
                    </a:ln>
                    <a:solidFill>
                      <a:schemeClr val="tx1"/>
                    </a:solidFill>
                    <a:effectLst/>
                    <a:latin typeface="Arial" charset="0"/>
                  </a:rPr>
                  <a:t>sensorA</a:t>
                </a:r>
                <a:endParaRPr kumimoji="0" lang="en-GB" sz="1800" b="0" i="0" u="none" strike="noStrike" cap="none" normalizeH="0" baseline="0" dirty="0" smtClean="0">
                  <a:ln>
                    <a:noFill/>
                  </a:ln>
                  <a:solidFill>
                    <a:schemeClr val="tx1"/>
                  </a:solidFill>
                  <a:effectLst/>
                  <a:latin typeface="Arial" charset="0"/>
                </a:endParaRPr>
              </a:p>
            </p:txBody>
          </p:sp>
          <p:sp>
            <p:nvSpPr>
              <p:cNvPr id="9" name="Rectangle 8"/>
              <p:cNvSpPr/>
              <p:nvPr/>
            </p:nvSpPr>
            <p:spPr bwMode="auto">
              <a:xfrm>
                <a:off x="7388179" y="3501008"/>
                <a:ext cx="1080120" cy="287263"/>
              </a:xfrm>
              <a:prstGeom prst="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smtClean="0">
                    <a:ln>
                      <a:noFill/>
                    </a:ln>
                    <a:solidFill>
                      <a:schemeClr val="tx1"/>
                    </a:solidFill>
                    <a:effectLst/>
                    <a:latin typeface="Arial" charset="0"/>
                  </a:rPr>
                  <a:t>device1</a:t>
                </a:r>
              </a:p>
            </p:txBody>
          </p:sp>
          <p:sp>
            <p:nvSpPr>
              <p:cNvPr id="10" name="Rectangle 9"/>
              <p:cNvSpPr/>
              <p:nvPr/>
            </p:nvSpPr>
            <p:spPr bwMode="auto">
              <a:xfrm>
                <a:off x="8409384" y="4517119"/>
                <a:ext cx="1080120" cy="287263"/>
              </a:xfrm>
              <a:prstGeom prst="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err="1" smtClean="0">
                    <a:ln>
                      <a:noFill/>
                    </a:ln>
                    <a:solidFill>
                      <a:schemeClr val="tx1"/>
                    </a:solidFill>
                    <a:effectLst/>
                    <a:latin typeface="Arial" charset="0"/>
                  </a:rPr>
                  <a:t>sensorB</a:t>
                </a:r>
                <a:endParaRPr kumimoji="0" lang="en-GB" sz="1800" b="0" i="0" u="none" strike="noStrike" cap="none" normalizeH="0" baseline="0" dirty="0" smtClean="0">
                  <a:ln>
                    <a:noFill/>
                  </a:ln>
                  <a:solidFill>
                    <a:schemeClr val="tx1"/>
                  </a:solidFill>
                  <a:effectLst/>
                  <a:latin typeface="Arial" charset="0"/>
                </a:endParaRPr>
              </a:p>
            </p:txBody>
          </p:sp>
          <p:sp>
            <p:nvSpPr>
              <p:cNvPr id="11" name="Rectangle 10"/>
              <p:cNvSpPr/>
              <p:nvPr/>
            </p:nvSpPr>
            <p:spPr bwMode="auto">
              <a:xfrm>
                <a:off x="8405237" y="4941168"/>
                <a:ext cx="1080120" cy="287263"/>
              </a:xfrm>
              <a:prstGeom prst="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err="1" smtClean="0">
                    <a:ln>
                      <a:noFill/>
                    </a:ln>
                    <a:solidFill>
                      <a:schemeClr val="tx1"/>
                    </a:solidFill>
                    <a:effectLst/>
                    <a:latin typeface="Arial" charset="0"/>
                  </a:rPr>
                  <a:t>sensorC</a:t>
                </a:r>
                <a:endParaRPr kumimoji="0" lang="en-GB" sz="1800" b="0" i="0" u="none" strike="noStrike" cap="none" normalizeH="0" baseline="0" dirty="0" smtClean="0">
                  <a:ln>
                    <a:noFill/>
                  </a:ln>
                  <a:solidFill>
                    <a:schemeClr val="tx1"/>
                  </a:solidFill>
                  <a:effectLst/>
                  <a:latin typeface="Arial" charset="0"/>
                </a:endParaRPr>
              </a:p>
            </p:txBody>
          </p:sp>
          <p:sp>
            <p:nvSpPr>
              <p:cNvPr id="12" name="Rectangle 11"/>
              <p:cNvSpPr/>
              <p:nvPr/>
            </p:nvSpPr>
            <p:spPr bwMode="auto">
              <a:xfrm>
                <a:off x="7388179" y="5373216"/>
                <a:ext cx="1080120" cy="287263"/>
              </a:xfrm>
              <a:prstGeom prst="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smtClean="0">
                    <a:ln>
                      <a:noFill/>
                    </a:ln>
                    <a:solidFill>
                      <a:schemeClr val="tx1"/>
                    </a:solidFill>
                    <a:effectLst/>
                    <a:latin typeface="Arial" charset="0"/>
                  </a:rPr>
                  <a:t>device2</a:t>
                </a:r>
              </a:p>
            </p:txBody>
          </p:sp>
          <p:sp>
            <p:nvSpPr>
              <p:cNvPr id="13" name="Rectangle 12"/>
              <p:cNvSpPr/>
              <p:nvPr/>
            </p:nvSpPr>
            <p:spPr bwMode="auto">
              <a:xfrm>
                <a:off x="8386448" y="5877272"/>
                <a:ext cx="1080120" cy="287263"/>
              </a:xfrm>
              <a:prstGeom prst="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err="1" smtClean="0">
                    <a:ln>
                      <a:noFill/>
                    </a:ln>
                    <a:solidFill>
                      <a:schemeClr val="tx1"/>
                    </a:solidFill>
                    <a:effectLst/>
                    <a:latin typeface="Arial" charset="0"/>
                  </a:rPr>
                  <a:t>sensorA</a:t>
                </a:r>
                <a:endParaRPr kumimoji="0" lang="en-GB" sz="1800" b="0" i="0" u="none" strike="noStrike" cap="none" normalizeH="0" baseline="0" dirty="0" smtClean="0">
                  <a:ln>
                    <a:noFill/>
                  </a:ln>
                  <a:solidFill>
                    <a:schemeClr val="tx1"/>
                  </a:solidFill>
                  <a:effectLst/>
                  <a:latin typeface="Arial" charset="0"/>
                </a:endParaRPr>
              </a:p>
            </p:txBody>
          </p:sp>
          <p:cxnSp>
            <p:nvCxnSpPr>
              <p:cNvPr id="15" name="Elbow Connector 14"/>
              <p:cNvCxnSpPr>
                <a:stCxn id="4" idx="2"/>
                <a:endCxn id="9" idx="1"/>
              </p:cNvCxnSpPr>
              <p:nvPr/>
            </p:nvCxnSpPr>
            <p:spPr bwMode="auto">
              <a:xfrm rot="16200000" flipH="1">
                <a:off x="7070497" y="3326957"/>
                <a:ext cx="360425" cy="274939"/>
              </a:xfrm>
              <a:prstGeom prst="bentConnector2">
                <a:avLst/>
              </a:prstGeom>
              <a:solidFill>
                <a:schemeClr val="bg1"/>
              </a:solidFill>
              <a:ln w="9525" cap="flat" cmpd="sng" algn="ctr">
                <a:solidFill>
                  <a:schemeClr val="tx1"/>
                </a:solidFill>
                <a:prstDash val="solid"/>
                <a:round/>
                <a:headEnd type="none" w="sm" len="sm"/>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Elbow Connector 16"/>
              <p:cNvCxnSpPr>
                <a:stCxn id="9" idx="2"/>
                <a:endCxn id="6" idx="1"/>
              </p:cNvCxnSpPr>
              <p:nvPr/>
            </p:nvCxnSpPr>
            <p:spPr bwMode="auto">
              <a:xfrm rot="16200000" flipH="1">
                <a:off x="7952403" y="3764106"/>
                <a:ext cx="432817" cy="481145"/>
              </a:xfrm>
              <a:prstGeom prst="bentConnector2">
                <a:avLst/>
              </a:prstGeom>
              <a:solidFill>
                <a:schemeClr val="bg1"/>
              </a:solidFill>
              <a:ln w="9525" cap="flat" cmpd="sng" algn="ctr">
                <a:solidFill>
                  <a:schemeClr val="tx1"/>
                </a:solidFill>
                <a:prstDash val="solid"/>
                <a:round/>
                <a:headEnd type="none" w="sm" len="sm"/>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Elbow Connector 18"/>
              <p:cNvCxnSpPr>
                <a:stCxn id="9" idx="2"/>
                <a:endCxn id="10" idx="1"/>
              </p:cNvCxnSpPr>
              <p:nvPr/>
            </p:nvCxnSpPr>
            <p:spPr bwMode="auto">
              <a:xfrm rot="16200000" flipH="1">
                <a:off x="7732571" y="3983938"/>
                <a:ext cx="872480" cy="481145"/>
              </a:xfrm>
              <a:prstGeom prst="bentConnector2">
                <a:avLst/>
              </a:prstGeom>
              <a:solidFill>
                <a:schemeClr val="bg1"/>
              </a:solidFill>
              <a:ln w="9525" cap="flat" cmpd="sng" algn="ctr">
                <a:solidFill>
                  <a:schemeClr val="tx1"/>
                </a:solidFill>
                <a:prstDash val="solid"/>
                <a:round/>
                <a:headEnd type="none" w="sm" len="sm"/>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Elbow Connector 20"/>
              <p:cNvCxnSpPr>
                <a:stCxn id="9" idx="2"/>
                <a:endCxn id="11" idx="1"/>
              </p:cNvCxnSpPr>
              <p:nvPr/>
            </p:nvCxnSpPr>
            <p:spPr bwMode="auto">
              <a:xfrm rot="16200000" flipH="1">
                <a:off x="7518474" y="4198036"/>
                <a:ext cx="1296529" cy="476998"/>
              </a:xfrm>
              <a:prstGeom prst="bentConnector2">
                <a:avLst/>
              </a:prstGeom>
              <a:solidFill>
                <a:schemeClr val="bg1"/>
              </a:solidFill>
              <a:ln w="9525" cap="flat" cmpd="sng" algn="ctr">
                <a:solidFill>
                  <a:schemeClr val="tx1"/>
                </a:solidFill>
                <a:prstDash val="solid"/>
                <a:round/>
                <a:headEnd type="none" w="sm" len="sm"/>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Elbow Connector 24"/>
              <p:cNvCxnSpPr>
                <a:stCxn id="12" idx="1"/>
                <a:endCxn id="4" idx="2"/>
              </p:cNvCxnSpPr>
              <p:nvPr/>
            </p:nvCxnSpPr>
            <p:spPr bwMode="auto">
              <a:xfrm rot="10800000">
                <a:off x="7113241" y="3284216"/>
                <a:ext cx="274939" cy="2232633"/>
              </a:xfrm>
              <a:prstGeom prst="bentConnector2">
                <a:avLst/>
              </a:prstGeom>
              <a:solidFill>
                <a:schemeClr val="bg1"/>
              </a:solidFill>
              <a:ln w="9525" cap="flat" cmpd="sng" algn="ctr">
                <a:solidFill>
                  <a:schemeClr val="tx1"/>
                </a:solidFill>
                <a:prstDash val="solid"/>
                <a:round/>
                <a:headEnd type="triangle" w="sm" len="sm"/>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Elbow Connector 30"/>
              <p:cNvCxnSpPr>
                <a:stCxn id="12" idx="2"/>
                <a:endCxn id="13" idx="1"/>
              </p:cNvCxnSpPr>
              <p:nvPr/>
            </p:nvCxnSpPr>
            <p:spPr bwMode="auto">
              <a:xfrm rot="16200000" flipH="1">
                <a:off x="7977131" y="5611586"/>
                <a:ext cx="360425" cy="458209"/>
              </a:xfrm>
              <a:prstGeom prst="bentConnector2">
                <a:avLst/>
              </a:prstGeom>
              <a:solidFill>
                <a:schemeClr val="bg1"/>
              </a:solidFill>
              <a:ln w="9525" cap="flat" cmpd="sng" algn="ctr">
                <a:solidFill>
                  <a:schemeClr val="tx1"/>
                </a:solidFill>
                <a:prstDash val="solid"/>
                <a:round/>
                <a:headEnd type="none" w="sm" len="sm"/>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3" name="Rectangle 32"/>
            <p:cNvSpPr/>
            <p:nvPr/>
          </p:nvSpPr>
          <p:spPr bwMode="auto">
            <a:xfrm>
              <a:off x="6487941" y="5013176"/>
              <a:ext cx="1008658" cy="360039"/>
            </a:xfrm>
            <a:prstGeom prst="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smtClean="0">
                  <a:ln>
                    <a:noFill/>
                  </a:ln>
                  <a:solidFill>
                    <a:schemeClr val="tx1"/>
                  </a:solidFill>
                  <a:effectLst/>
                  <a:latin typeface="Arial" charset="0"/>
                </a:rPr>
                <a:t>GW2</a:t>
              </a:r>
            </a:p>
          </p:txBody>
        </p:sp>
      </p:grpSp>
    </p:spTree>
    <p:extLst>
      <p:ext uri="{BB962C8B-B14F-4D97-AF65-F5344CB8AC3E}">
        <p14:creationId xmlns:p14="http://schemas.microsoft.com/office/powerpoint/2010/main" val="30863716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Contents</a:t>
            </a:r>
            <a:endParaRPr lang="en-GB" dirty="0"/>
          </a:p>
        </p:txBody>
      </p:sp>
      <p:sp>
        <p:nvSpPr>
          <p:cNvPr id="3" name="Content Placeholder 2"/>
          <p:cNvSpPr>
            <a:spLocks noGrp="1"/>
          </p:cNvSpPr>
          <p:nvPr>
            <p:ph idx="1"/>
          </p:nvPr>
        </p:nvSpPr>
        <p:spPr>
          <a:xfrm>
            <a:off x="176213" y="2132856"/>
            <a:ext cx="4632771" cy="4159994"/>
          </a:xfrm>
        </p:spPr>
        <p:txBody>
          <a:bodyPr/>
          <a:lstStyle/>
          <a:p>
            <a:r>
              <a:rPr lang="en-GB" sz="2400" b="0" dirty="0" smtClean="0"/>
              <a:t>General discussion of </a:t>
            </a:r>
            <a:r>
              <a:rPr lang="en-GB" sz="2400" b="0" dirty="0" err="1" smtClean="0"/>
              <a:t>IoT</a:t>
            </a:r>
            <a:endParaRPr lang="en-GB" sz="2400" b="0" dirty="0" smtClean="0"/>
          </a:p>
          <a:p>
            <a:endParaRPr lang="en-GB" sz="2400" dirty="0"/>
          </a:p>
          <a:p>
            <a:r>
              <a:rPr lang="en-GB" sz="2400" b="0" dirty="0" smtClean="0"/>
              <a:t>MQTT</a:t>
            </a:r>
          </a:p>
          <a:p>
            <a:endParaRPr lang="en-GB" sz="2400" b="0" dirty="0"/>
          </a:p>
          <a:p>
            <a:r>
              <a:rPr lang="en-GB" sz="2400" dirty="0" err="1" smtClean="0"/>
              <a:t>OpenNMS</a:t>
            </a:r>
            <a:r>
              <a:rPr lang="en-GB" sz="2400" dirty="0" smtClean="0"/>
              <a:t> </a:t>
            </a:r>
            <a:r>
              <a:rPr lang="en-GB" sz="2400" dirty="0" err="1" smtClean="0"/>
              <a:t>IoT</a:t>
            </a:r>
            <a:r>
              <a:rPr lang="en-GB" sz="2400" dirty="0" smtClean="0"/>
              <a:t> Plugin</a:t>
            </a:r>
          </a:p>
          <a:p>
            <a:endParaRPr lang="en-GB" sz="2400" b="0" dirty="0"/>
          </a:p>
          <a:p>
            <a:r>
              <a:rPr lang="en-GB" sz="2400" b="0" dirty="0" smtClean="0"/>
              <a:t>Use Cases</a:t>
            </a:r>
          </a:p>
          <a:p>
            <a:endParaRPr lang="en-GB" sz="2400" dirty="0"/>
          </a:p>
          <a:p>
            <a:endParaRPr lang="en-GB" sz="2400" dirty="0"/>
          </a:p>
        </p:txBody>
      </p:sp>
      <p:pic>
        <p:nvPicPr>
          <p:cNvPr id="4" name="Picture 2" descr="C:\Users\cgallen\Documents\workfolder\entimoss\events\2018-09-19-OUCE\workup\Internet_of_ThingsWikipedi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6940" y="1340768"/>
            <a:ext cx="4088467" cy="39212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12688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OpenNMS</a:t>
            </a:r>
            <a:r>
              <a:rPr lang="en-GB" dirty="0" smtClean="0"/>
              <a:t> MQTT Plugin</a:t>
            </a:r>
            <a:endParaRPr lang="en-GB" dirty="0"/>
          </a:p>
        </p:txBody>
      </p:sp>
      <p:sp>
        <p:nvSpPr>
          <p:cNvPr id="3" name="Content Placeholder 2"/>
          <p:cNvSpPr>
            <a:spLocks noGrp="1"/>
          </p:cNvSpPr>
          <p:nvPr>
            <p:ph idx="1"/>
          </p:nvPr>
        </p:nvSpPr>
        <p:spPr>
          <a:xfrm>
            <a:off x="176213" y="838200"/>
            <a:ext cx="9529762" cy="5687144"/>
          </a:xfrm>
        </p:spPr>
        <p:txBody>
          <a:bodyPr/>
          <a:lstStyle/>
          <a:p>
            <a:r>
              <a:rPr lang="en-GB" dirty="0" smtClean="0"/>
              <a:t>Stand alone </a:t>
            </a:r>
            <a:r>
              <a:rPr lang="en-GB" dirty="0" err="1" smtClean="0"/>
              <a:t>OSGi</a:t>
            </a:r>
            <a:r>
              <a:rPr lang="en-GB" dirty="0" smtClean="0"/>
              <a:t> plugin which drops into </a:t>
            </a:r>
            <a:r>
              <a:rPr lang="en-GB" dirty="0" err="1"/>
              <a:t>OpenNMS</a:t>
            </a:r>
            <a:r>
              <a:rPr lang="en-GB" dirty="0"/>
              <a:t> 22</a:t>
            </a:r>
            <a:endParaRPr lang="en-GB" dirty="0" smtClean="0"/>
          </a:p>
          <a:p>
            <a:endParaRPr lang="en-GB" dirty="0"/>
          </a:p>
          <a:p>
            <a:endParaRPr lang="en-GB" dirty="0" smtClean="0"/>
          </a:p>
          <a:p>
            <a:endParaRPr lang="en-GB" dirty="0"/>
          </a:p>
          <a:p>
            <a:endParaRPr lang="en-GB" dirty="0" smtClean="0"/>
          </a:p>
          <a:p>
            <a:endParaRPr lang="en-GB" dirty="0"/>
          </a:p>
          <a:p>
            <a:endParaRPr lang="en-GB" dirty="0" smtClean="0"/>
          </a:p>
          <a:p>
            <a:endParaRPr lang="en-GB" dirty="0"/>
          </a:p>
          <a:p>
            <a:endParaRPr lang="en-GB" dirty="0" smtClean="0"/>
          </a:p>
          <a:p>
            <a:endParaRPr lang="en-GB" dirty="0" smtClean="0"/>
          </a:p>
          <a:p>
            <a:r>
              <a:rPr lang="en-GB" dirty="0" smtClean="0"/>
              <a:t>Code </a:t>
            </a:r>
            <a:r>
              <a:rPr lang="en-GB" dirty="0"/>
              <a:t>: https://</a:t>
            </a:r>
            <a:r>
              <a:rPr lang="en-GB" dirty="0" smtClean="0"/>
              <a:t>github.com/gallenc/opennms-mqtt-plugin</a:t>
            </a:r>
          </a:p>
          <a:p>
            <a:r>
              <a:rPr lang="en-GB" dirty="0" smtClean="0"/>
              <a:t>Installation</a:t>
            </a:r>
          </a:p>
          <a:p>
            <a:pPr lvl="1"/>
            <a:r>
              <a:rPr lang="en-GB" sz="1400" dirty="0" err="1" smtClean="0"/>
              <a:t>mvn</a:t>
            </a:r>
            <a:r>
              <a:rPr lang="en-GB" sz="1400" dirty="0" smtClean="0"/>
              <a:t> clean install</a:t>
            </a:r>
          </a:p>
          <a:p>
            <a:pPr lvl="1"/>
            <a:r>
              <a:rPr lang="en-GB" sz="1400" dirty="0"/>
              <a:t>drop </a:t>
            </a:r>
            <a:r>
              <a:rPr lang="en-GB" sz="1400" dirty="0" err="1" smtClean="0"/>
              <a:t>opennms</a:t>
            </a:r>
            <a:r>
              <a:rPr lang="en-GB" sz="1400" dirty="0" smtClean="0"/>
              <a:t>-</a:t>
            </a:r>
            <a:r>
              <a:rPr lang="en-GB" sz="1400" dirty="0" err="1" smtClean="0"/>
              <a:t>mqtt</a:t>
            </a:r>
            <a:r>
              <a:rPr lang="en-GB" sz="1400" dirty="0" smtClean="0"/>
              <a:t>-plugin/</a:t>
            </a:r>
            <a:r>
              <a:rPr lang="en-GB" sz="1400" dirty="0" err="1" smtClean="0"/>
              <a:t>kar</a:t>
            </a:r>
            <a:r>
              <a:rPr lang="en-GB" sz="1400" dirty="0" smtClean="0"/>
              <a:t>-package/target//</a:t>
            </a:r>
            <a:r>
              <a:rPr lang="en-GB" sz="1400" dirty="0" err="1" smtClean="0"/>
              <a:t>opennms-mqtt-plugin.kar</a:t>
            </a:r>
            <a:r>
              <a:rPr lang="en-GB" sz="1400" dirty="0" smtClean="0"/>
              <a:t> into &lt;</a:t>
            </a:r>
            <a:r>
              <a:rPr lang="en-GB" sz="1400" dirty="0" err="1" smtClean="0"/>
              <a:t>OpenNMS</a:t>
            </a:r>
            <a:r>
              <a:rPr lang="en-GB" sz="1400" dirty="0" smtClean="0"/>
              <a:t>&gt;/deploy </a:t>
            </a:r>
          </a:p>
          <a:p>
            <a:pPr lvl="1"/>
            <a:r>
              <a:rPr lang="en-GB" sz="1400" dirty="0" smtClean="0"/>
              <a:t>Add &lt;</a:t>
            </a:r>
            <a:r>
              <a:rPr lang="en-GB" sz="1400" dirty="0" err="1" smtClean="0"/>
              <a:t>opennms</a:t>
            </a:r>
            <a:r>
              <a:rPr lang="en-GB" sz="1400" dirty="0" smtClean="0"/>
              <a:t>&gt;/</a:t>
            </a:r>
            <a:r>
              <a:rPr lang="en-GB" sz="1400" dirty="0" err="1" smtClean="0"/>
              <a:t>etc</a:t>
            </a:r>
            <a:r>
              <a:rPr lang="en-GB" sz="1400" dirty="0" smtClean="0"/>
              <a:t>/mqtt-interface-config.xml</a:t>
            </a:r>
          </a:p>
          <a:p>
            <a:pPr lvl="2"/>
            <a:r>
              <a:rPr lang="en-GB" sz="1400" dirty="0" smtClean="0"/>
              <a:t>Example </a:t>
            </a:r>
            <a:r>
              <a:rPr lang="en-GB" sz="1400" dirty="0" err="1" smtClean="0"/>
              <a:t>config</a:t>
            </a:r>
            <a:r>
              <a:rPr lang="en-GB" sz="1400" dirty="0" smtClean="0"/>
              <a:t> file</a:t>
            </a:r>
          </a:p>
          <a:p>
            <a:pPr lvl="2"/>
            <a:r>
              <a:rPr lang="en-GB" sz="1400" dirty="0" smtClean="0"/>
              <a:t>https</a:t>
            </a:r>
            <a:r>
              <a:rPr lang="en-GB" sz="1400" dirty="0"/>
              <a:t>://</a:t>
            </a:r>
            <a:r>
              <a:rPr lang="en-GB" sz="1400" dirty="0" smtClean="0"/>
              <a:t>github.com/gallenc/opennms-mqtt-plugin/blob/master/main-module/mqtt-interface-config.xml</a:t>
            </a:r>
          </a:p>
          <a:p>
            <a:pPr lvl="2"/>
            <a:r>
              <a:rPr lang="en-GB" sz="1400" dirty="0" smtClean="0"/>
              <a:t>Example configurations for </a:t>
            </a:r>
            <a:r>
              <a:rPr lang="en-GB" sz="1400" dirty="0"/>
              <a:t>message parsing </a:t>
            </a:r>
            <a:r>
              <a:rPr lang="en-GB" sz="1400" dirty="0" smtClean="0"/>
              <a:t>in unit tests</a:t>
            </a:r>
          </a:p>
          <a:p>
            <a:pPr lvl="2"/>
            <a:r>
              <a:rPr lang="en-GB" sz="1400" dirty="0" smtClean="0"/>
              <a:t>https</a:t>
            </a:r>
            <a:r>
              <a:rPr lang="en-GB" sz="1400" dirty="0"/>
              <a:t>://</a:t>
            </a:r>
            <a:r>
              <a:rPr lang="en-GB" sz="1400" dirty="0" smtClean="0"/>
              <a:t>github.com/gallenc/opennms-mqtt-plugin/tree/master/main-module/src/test/resources</a:t>
            </a:r>
          </a:p>
          <a:p>
            <a:pPr lvl="1"/>
            <a:r>
              <a:rPr lang="en-GB" sz="1400" dirty="0" smtClean="0"/>
              <a:t>There is a </a:t>
            </a:r>
            <a:r>
              <a:rPr lang="en-GB" sz="1400" dirty="0" err="1" smtClean="0"/>
              <a:t>docker</a:t>
            </a:r>
            <a:r>
              <a:rPr lang="en-GB" sz="1400" dirty="0" smtClean="0"/>
              <a:t> compose </a:t>
            </a:r>
            <a:r>
              <a:rPr lang="en-GB" sz="1400" dirty="0"/>
              <a:t>p</a:t>
            </a:r>
            <a:r>
              <a:rPr lang="en-GB" sz="1400" dirty="0" smtClean="0"/>
              <a:t>roject with complete configuration </a:t>
            </a:r>
            <a:r>
              <a:rPr lang="en-GB" sz="1400" dirty="0" err="1" smtClean="0"/>
              <a:t>opennms</a:t>
            </a:r>
            <a:r>
              <a:rPr lang="en-GB" sz="1400" dirty="0" smtClean="0"/>
              <a:t>, </a:t>
            </a:r>
            <a:r>
              <a:rPr lang="en-GB" sz="1400" dirty="0" err="1" smtClean="0"/>
              <a:t>cassandra</a:t>
            </a:r>
            <a:r>
              <a:rPr lang="en-GB" sz="1400" dirty="0" smtClean="0"/>
              <a:t>, helm and </a:t>
            </a:r>
            <a:r>
              <a:rPr lang="en-GB" sz="1400" dirty="0" err="1" smtClean="0"/>
              <a:t>mqtt</a:t>
            </a:r>
            <a:r>
              <a:rPr lang="en-GB" sz="1400" dirty="0" smtClean="0"/>
              <a:t> plugin</a:t>
            </a:r>
            <a:endParaRPr lang="en-GB" sz="1400" dirty="0"/>
          </a:p>
        </p:txBody>
      </p:sp>
      <p:grpSp>
        <p:nvGrpSpPr>
          <p:cNvPr id="30" name="Group 29"/>
          <p:cNvGrpSpPr/>
          <p:nvPr/>
        </p:nvGrpSpPr>
        <p:grpSpPr>
          <a:xfrm>
            <a:off x="1477035" y="1251737"/>
            <a:ext cx="6777136" cy="2206117"/>
            <a:chOff x="1477035" y="1251737"/>
            <a:chExt cx="6777136" cy="2206117"/>
          </a:xfrm>
        </p:grpSpPr>
        <p:grpSp>
          <p:nvGrpSpPr>
            <p:cNvPr id="25" name="Group 24"/>
            <p:cNvGrpSpPr/>
            <p:nvPr/>
          </p:nvGrpSpPr>
          <p:grpSpPr>
            <a:xfrm>
              <a:off x="1477035" y="1405626"/>
              <a:ext cx="6777136" cy="2052228"/>
              <a:chOff x="480120" y="1196752"/>
              <a:chExt cx="6777136" cy="2052228"/>
            </a:xfrm>
          </p:grpSpPr>
          <p:sp>
            <p:nvSpPr>
              <p:cNvPr id="4" name="Isosceles Triangle 3"/>
              <p:cNvSpPr/>
              <p:nvPr/>
            </p:nvSpPr>
            <p:spPr bwMode="auto">
              <a:xfrm>
                <a:off x="2060358" y="1196752"/>
                <a:ext cx="1368152" cy="720080"/>
              </a:xfrm>
              <a:prstGeom prst="triangle">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400" b="0" i="0" u="none" strike="noStrike" cap="none" normalizeH="0" baseline="0" dirty="0" err="1" smtClean="0">
                    <a:ln>
                      <a:noFill/>
                    </a:ln>
                    <a:solidFill>
                      <a:schemeClr val="tx1"/>
                    </a:solidFill>
                    <a:effectLst/>
                    <a:latin typeface="Arial" charset="0"/>
                  </a:rPr>
                  <a:t>Mqtt</a:t>
                </a:r>
                <a:r>
                  <a:rPr kumimoji="0" lang="en-GB" sz="1400" b="0" i="0" u="none" strike="noStrike" cap="none" normalizeH="0" baseline="0" dirty="0" smtClean="0">
                    <a:ln>
                      <a:noFill/>
                    </a:ln>
                    <a:solidFill>
                      <a:schemeClr val="tx1"/>
                    </a:solidFill>
                    <a:effectLst/>
                    <a:latin typeface="Arial" charset="0"/>
                  </a:rPr>
                  <a:t> broker</a:t>
                </a:r>
              </a:p>
            </p:txBody>
          </p:sp>
          <p:sp>
            <p:nvSpPr>
              <p:cNvPr id="5" name="Rectangle 4"/>
              <p:cNvSpPr/>
              <p:nvPr/>
            </p:nvSpPr>
            <p:spPr bwMode="auto">
              <a:xfrm>
                <a:off x="5097016" y="1484784"/>
                <a:ext cx="2160240" cy="1008112"/>
              </a:xfrm>
              <a:prstGeom prst="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b"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400" b="0" i="0" u="none" strike="noStrike" cap="none" normalizeH="0" baseline="0" dirty="0" err="1" smtClean="0">
                    <a:ln>
                      <a:noFill/>
                    </a:ln>
                    <a:solidFill>
                      <a:schemeClr val="tx1"/>
                    </a:solidFill>
                    <a:effectLst/>
                    <a:latin typeface="Arial" charset="0"/>
                  </a:rPr>
                  <a:t>OpenNMS</a:t>
                </a:r>
                <a:endParaRPr kumimoji="0" lang="en-GB" sz="1400" b="0" i="0" u="none" strike="noStrike" cap="none" normalizeH="0" baseline="0" dirty="0" smtClean="0">
                  <a:ln>
                    <a:noFill/>
                  </a:ln>
                  <a:solidFill>
                    <a:schemeClr val="tx1"/>
                  </a:solidFill>
                  <a:effectLst/>
                  <a:latin typeface="Arial" charset="0"/>
                </a:endParaRPr>
              </a:p>
            </p:txBody>
          </p:sp>
          <p:sp>
            <p:nvSpPr>
              <p:cNvPr id="6" name="Rounded Rectangle 5"/>
              <p:cNvSpPr/>
              <p:nvPr/>
            </p:nvSpPr>
            <p:spPr bwMode="auto">
              <a:xfrm>
                <a:off x="5385048" y="1628800"/>
                <a:ext cx="1512168" cy="360040"/>
              </a:xfrm>
              <a:prstGeom prst="round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400" b="0" i="0" u="none" strike="noStrike" cap="none" normalizeH="0" baseline="0" dirty="0" err="1" smtClean="0">
                    <a:ln>
                      <a:noFill/>
                    </a:ln>
                    <a:solidFill>
                      <a:schemeClr val="tx1"/>
                    </a:solidFill>
                    <a:effectLst/>
                    <a:latin typeface="Arial" charset="0"/>
                  </a:rPr>
                  <a:t>Mqtt</a:t>
                </a:r>
                <a:r>
                  <a:rPr kumimoji="0" lang="en-GB" sz="1400" b="0" i="0" u="none" strike="noStrike" cap="none" normalizeH="0" baseline="0" dirty="0" smtClean="0">
                    <a:ln>
                      <a:noFill/>
                    </a:ln>
                    <a:solidFill>
                      <a:schemeClr val="tx1"/>
                    </a:solidFill>
                    <a:effectLst/>
                    <a:latin typeface="Arial" charset="0"/>
                  </a:rPr>
                  <a:t> Plugin</a:t>
                </a:r>
              </a:p>
            </p:txBody>
          </p:sp>
          <p:sp>
            <p:nvSpPr>
              <p:cNvPr id="7" name="Isosceles Triangle 6"/>
              <p:cNvSpPr/>
              <p:nvPr/>
            </p:nvSpPr>
            <p:spPr bwMode="auto">
              <a:xfrm>
                <a:off x="2024463" y="2306053"/>
                <a:ext cx="1368152" cy="762907"/>
              </a:xfrm>
              <a:prstGeom prst="triangle">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400" b="0" i="0" u="none" strike="noStrike" cap="none" normalizeH="0" baseline="0" dirty="0" err="1" smtClean="0">
                    <a:ln>
                      <a:noFill/>
                    </a:ln>
                    <a:solidFill>
                      <a:schemeClr val="tx1"/>
                    </a:solidFill>
                    <a:effectLst/>
                    <a:latin typeface="Arial" charset="0"/>
                  </a:rPr>
                  <a:t>Mqtt</a:t>
                </a:r>
                <a:r>
                  <a:rPr kumimoji="0" lang="en-GB" sz="1400" b="0" i="0" u="none" strike="noStrike" cap="none" normalizeH="0" baseline="0" dirty="0" smtClean="0">
                    <a:ln>
                      <a:noFill/>
                    </a:ln>
                    <a:solidFill>
                      <a:schemeClr val="tx1"/>
                    </a:solidFill>
                    <a:effectLst/>
                    <a:latin typeface="Arial" charset="0"/>
                  </a:rPr>
                  <a:t> broker</a:t>
                </a:r>
              </a:p>
            </p:txBody>
          </p:sp>
          <p:sp>
            <p:nvSpPr>
              <p:cNvPr id="8" name="Rectangle 7"/>
              <p:cNvSpPr/>
              <p:nvPr/>
            </p:nvSpPr>
            <p:spPr bwMode="auto">
              <a:xfrm>
                <a:off x="480120" y="1296380"/>
                <a:ext cx="648072" cy="360040"/>
              </a:xfrm>
              <a:prstGeom prst="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dirty="0" err="1" smtClean="0">
                    <a:ln>
                      <a:noFill/>
                    </a:ln>
                    <a:solidFill>
                      <a:schemeClr val="tx1"/>
                    </a:solidFill>
                    <a:effectLst/>
                    <a:latin typeface="Arial" charset="0"/>
                  </a:rPr>
                  <a:t>Mqtt</a:t>
                </a:r>
                <a:r>
                  <a:rPr kumimoji="0" lang="en-GB" sz="1100" b="0" i="0" u="none" strike="noStrike" cap="none" normalizeH="0" dirty="0" smtClean="0">
                    <a:ln>
                      <a:noFill/>
                    </a:ln>
                    <a:solidFill>
                      <a:schemeClr val="tx1"/>
                    </a:solidFill>
                    <a:effectLst/>
                    <a:latin typeface="Arial" charset="0"/>
                  </a:rPr>
                  <a:t> device</a:t>
                </a:r>
                <a:endParaRPr kumimoji="0" lang="en-GB" sz="1100" b="0" i="0" u="none" strike="noStrike" cap="none" normalizeH="0" baseline="0" dirty="0" smtClean="0">
                  <a:ln>
                    <a:noFill/>
                  </a:ln>
                  <a:solidFill>
                    <a:schemeClr val="tx1"/>
                  </a:solidFill>
                  <a:effectLst/>
                  <a:latin typeface="Arial" charset="0"/>
                </a:endParaRPr>
              </a:p>
            </p:txBody>
          </p:sp>
          <p:sp>
            <p:nvSpPr>
              <p:cNvPr id="9" name="Rectangle 8"/>
              <p:cNvSpPr/>
              <p:nvPr/>
            </p:nvSpPr>
            <p:spPr bwMode="auto">
              <a:xfrm>
                <a:off x="632520" y="1448780"/>
                <a:ext cx="648072" cy="360040"/>
              </a:xfrm>
              <a:prstGeom prst="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dirty="0" err="1" smtClean="0">
                    <a:ln>
                      <a:noFill/>
                    </a:ln>
                    <a:solidFill>
                      <a:schemeClr val="tx1"/>
                    </a:solidFill>
                    <a:effectLst/>
                    <a:latin typeface="Arial" charset="0"/>
                  </a:rPr>
                  <a:t>Mqtt</a:t>
                </a:r>
                <a:r>
                  <a:rPr kumimoji="0" lang="en-GB" sz="1100" b="0" i="0" u="none" strike="noStrike" cap="none" normalizeH="0" dirty="0" smtClean="0">
                    <a:ln>
                      <a:noFill/>
                    </a:ln>
                    <a:solidFill>
                      <a:schemeClr val="tx1"/>
                    </a:solidFill>
                    <a:effectLst/>
                    <a:latin typeface="Arial" charset="0"/>
                  </a:rPr>
                  <a:t> device</a:t>
                </a:r>
                <a:endParaRPr kumimoji="0" lang="en-GB" sz="1100" b="0" i="0" u="none" strike="noStrike" cap="none" normalizeH="0" baseline="0" dirty="0" smtClean="0">
                  <a:ln>
                    <a:noFill/>
                  </a:ln>
                  <a:solidFill>
                    <a:schemeClr val="tx1"/>
                  </a:solidFill>
                  <a:effectLst/>
                  <a:latin typeface="Arial" charset="0"/>
                </a:endParaRPr>
              </a:p>
            </p:txBody>
          </p:sp>
          <p:sp>
            <p:nvSpPr>
              <p:cNvPr id="10" name="Rectangle 9"/>
              <p:cNvSpPr/>
              <p:nvPr/>
            </p:nvSpPr>
            <p:spPr bwMode="auto">
              <a:xfrm>
                <a:off x="784920" y="1601180"/>
                <a:ext cx="648072" cy="360040"/>
              </a:xfrm>
              <a:prstGeom prst="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dirty="0" err="1" smtClean="0">
                    <a:ln>
                      <a:noFill/>
                    </a:ln>
                    <a:solidFill>
                      <a:schemeClr val="tx1"/>
                    </a:solidFill>
                    <a:effectLst/>
                    <a:latin typeface="Arial" charset="0"/>
                  </a:rPr>
                  <a:t>Mqtt</a:t>
                </a:r>
                <a:r>
                  <a:rPr kumimoji="0" lang="en-GB" sz="1100" b="0" i="0" u="none" strike="noStrike" cap="none" normalizeH="0" dirty="0" smtClean="0">
                    <a:ln>
                      <a:noFill/>
                    </a:ln>
                    <a:solidFill>
                      <a:schemeClr val="tx1"/>
                    </a:solidFill>
                    <a:effectLst/>
                    <a:latin typeface="Arial" charset="0"/>
                  </a:rPr>
                  <a:t> device</a:t>
                </a:r>
                <a:endParaRPr kumimoji="0" lang="en-GB" sz="1100" b="0" i="0" u="none" strike="noStrike" cap="none" normalizeH="0" baseline="0" dirty="0" smtClean="0">
                  <a:ln>
                    <a:noFill/>
                  </a:ln>
                  <a:solidFill>
                    <a:schemeClr val="tx1"/>
                  </a:solidFill>
                  <a:effectLst/>
                  <a:latin typeface="Arial" charset="0"/>
                </a:endParaRPr>
              </a:p>
            </p:txBody>
          </p:sp>
          <p:sp>
            <p:nvSpPr>
              <p:cNvPr id="11" name="Rectangle 10"/>
              <p:cNvSpPr/>
              <p:nvPr/>
            </p:nvSpPr>
            <p:spPr bwMode="auto">
              <a:xfrm>
                <a:off x="937320" y="1753580"/>
                <a:ext cx="648072" cy="360040"/>
              </a:xfrm>
              <a:prstGeom prst="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dirty="0" err="1" smtClean="0">
                    <a:ln>
                      <a:noFill/>
                    </a:ln>
                    <a:solidFill>
                      <a:schemeClr val="tx1"/>
                    </a:solidFill>
                    <a:effectLst/>
                    <a:latin typeface="Arial" charset="0"/>
                  </a:rPr>
                  <a:t>Mqtt</a:t>
                </a:r>
                <a:r>
                  <a:rPr kumimoji="0" lang="en-GB" sz="1100" b="0" i="0" u="none" strike="noStrike" cap="none" normalizeH="0" dirty="0" smtClean="0">
                    <a:ln>
                      <a:noFill/>
                    </a:ln>
                    <a:solidFill>
                      <a:schemeClr val="tx1"/>
                    </a:solidFill>
                    <a:effectLst/>
                    <a:latin typeface="Arial" charset="0"/>
                  </a:rPr>
                  <a:t> device</a:t>
                </a:r>
                <a:endParaRPr kumimoji="0" lang="en-GB" sz="1100" b="0" i="0" u="none" strike="noStrike" cap="none" normalizeH="0" baseline="0" dirty="0" smtClean="0">
                  <a:ln>
                    <a:noFill/>
                  </a:ln>
                  <a:solidFill>
                    <a:schemeClr val="tx1"/>
                  </a:solidFill>
                  <a:effectLst/>
                  <a:latin typeface="Arial" charset="0"/>
                </a:endParaRPr>
              </a:p>
            </p:txBody>
          </p:sp>
          <p:sp>
            <p:nvSpPr>
              <p:cNvPr id="12" name="Rectangle 11"/>
              <p:cNvSpPr/>
              <p:nvPr/>
            </p:nvSpPr>
            <p:spPr bwMode="auto">
              <a:xfrm>
                <a:off x="608747" y="2431740"/>
                <a:ext cx="648072" cy="360040"/>
              </a:xfrm>
              <a:prstGeom prst="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dirty="0" err="1" smtClean="0">
                    <a:ln>
                      <a:noFill/>
                    </a:ln>
                    <a:solidFill>
                      <a:schemeClr val="tx1"/>
                    </a:solidFill>
                    <a:effectLst/>
                    <a:latin typeface="Arial" charset="0"/>
                  </a:rPr>
                  <a:t>Mqtt</a:t>
                </a:r>
                <a:r>
                  <a:rPr kumimoji="0" lang="en-GB" sz="1100" b="0" i="0" u="none" strike="noStrike" cap="none" normalizeH="0" dirty="0" smtClean="0">
                    <a:ln>
                      <a:noFill/>
                    </a:ln>
                    <a:solidFill>
                      <a:schemeClr val="tx1"/>
                    </a:solidFill>
                    <a:effectLst/>
                    <a:latin typeface="Arial" charset="0"/>
                  </a:rPr>
                  <a:t> device</a:t>
                </a:r>
                <a:endParaRPr kumimoji="0" lang="en-GB" sz="1100" b="0" i="0" u="none" strike="noStrike" cap="none" normalizeH="0" baseline="0" dirty="0" smtClean="0">
                  <a:ln>
                    <a:noFill/>
                  </a:ln>
                  <a:solidFill>
                    <a:schemeClr val="tx1"/>
                  </a:solidFill>
                  <a:effectLst/>
                  <a:latin typeface="Arial" charset="0"/>
                </a:endParaRPr>
              </a:p>
            </p:txBody>
          </p:sp>
          <p:sp>
            <p:nvSpPr>
              <p:cNvPr id="13" name="Rectangle 12"/>
              <p:cNvSpPr/>
              <p:nvPr/>
            </p:nvSpPr>
            <p:spPr bwMode="auto">
              <a:xfrm>
                <a:off x="761147" y="2584140"/>
                <a:ext cx="648072" cy="360040"/>
              </a:xfrm>
              <a:prstGeom prst="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dirty="0" err="1" smtClean="0">
                    <a:ln>
                      <a:noFill/>
                    </a:ln>
                    <a:solidFill>
                      <a:schemeClr val="tx1"/>
                    </a:solidFill>
                    <a:effectLst/>
                    <a:latin typeface="Arial" charset="0"/>
                  </a:rPr>
                  <a:t>Mqtt</a:t>
                </a:r>
                <a:r>
                  <a:rPr kumimoji="0" lang="en-GB" sz="1100" b="0" i="0" u="none" strike="noStrike" cap="none" normalizeH="0" dirty="0" smtClean="0">
                    <a:ln>
                      <a:noFill/>
                    </a:ln>
                    <a:solidFill>
                      <a:schemeClr val="tx1"/>
                    </a:solidFill>
                    <a:effectLst/>
                    <a:latin typeface="Arial" charset="0"/>
                  </a:rPr>
                  <a:t> device</a:t>
                </a:r>
                <a:endParaRPr kumimoji="0" lang="en-GB" sz="1100" b="0" i="0" u="none" strike="noStrike" cap="none" normalizeH="0" baseline="0" dirty="0" smtClean="0">
                  <a:ln>
                    <a:noFill/>
                  </a:ln>
                  <a:solidFill>
                    <a:schemeClr val="tx1"/>
                  </a:solidFill>
                  <a:effectLst/>
                  <a:latin typeface="Arial" charset="0"/>
                </a:endParaRPr>
              </a:p>
            </p:txBody>
          </p:sp>
          <p:sp>
            <p:nvSpPr>
              <p:cNvPr id="14" name="Rectangle 13"/>
              <p:cNvSpPr/>
              <p:nvPr/>
            </p:nvSpPr>
            <p:spPr bwMode="auto">
              <a:xfrm>
                <a:off x="913547" y="2736540"/>
                <a:ext cx="648072" cy="360040"/>
              </a:xfrm>
              <a:prstGeom prst="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dirty="0" err="1" smtClean="0">
                    <a:ln>
                      <a:noFill/>
                    </a:ln>
                    <a:solidFill>
                      <a:schemeClr val="tx1"/>
                    </a:solidFill>
                    <a:effectLst/>
                    <a:latin typeface="Arial" charset="0"/>
                  </a:rPr>
                  <a:t>Mqtt</a:t>
                </a:r>
                <a:r>
                  <a:rPr kumimoji="0" lang="en-GB" sz="1100" b="0" i="0" u="none" strike="noStrike" cap="none" normalizeH="0" dirty="0" smtClean="0">
                    <a:ln>
                      <a:noFill/>
                    </a:ln>
                    <a:solidFill>
                      <a:schemeClr val="tx1"/>
                    </a:solidFill>
                    <a:effectLst/>
                    <a:latin typeface="Arial" charset="0"/>
                  </a:rPr>
                  <a:t> device</a:t>
                </a:r>
                <a:endParaRPr kumimoji="0" lang="en-GB" sz="1100" b="0" i="0" u="none" strike="noStrike" cap="none" normalizeH="0" baseline="0" dirty="0" smtClean="0">
                  <a:ln>
                    <a:noFill/>
                  </a:ln>
                  <a:solidFill>
                    <a:schemeClr val="tx1"/>
                  </a:solidFill>
                  <a:effectLst/>
                  <a:latin typeface="Arial" charset="0"/>
                </a:endParaRPr>
              </a:p>
            </p:txBody>
          </p:sp>
          <p:sp>
            <p:nvSpPr>
              <p:cNvPr id="15" name="Rectangle 14"/>
              <p:cNvSpPr/>
              <p:nvPr/>
            </p:nvSpPr>
            <p:spPr bwMode="auto">
              <a:xfrm>
                <a:off x="1065947" y="2888940"/>
                <a:ext cx="648072" cy="360040"/>
              </a:xfrm>
              <a:prstGeom prst="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100" b="0" i="0" u="none" strike="noStrike" cap="none" normalizeH="0" baseline="0" dirty="0" err="1" smtClean="0">
                    <a:ln>
                      <a:noFill/>
                    </a:ln>
                    <a:solidFill>
                      <a:schemeClr val="tx1"/>
                    </a:solidFill>
                    <a:effectLst/>
                    <a:latin typeface="Arial" charset="0"/>
                  </a:rPr>
                  <a:t>Mqtt</a:t>
                </a:r>
                <a:r>
                  <a:rPr kumimoji="0" lang="en-GB" sz="1100" b="0" i="0" u="none" strike="noStrike" cap="none" normalizeH="0" dirty="0" smtClean="0">
                    <a:ln>
                      <a:noFill/>
                    </a:ln>
                    <a:solidFill>
                      <a:schemeClr val="tx1"/>
                    </a:solidFill>
                    <a:effectLst/>
                    <a:latin typeface="Arial" charset="0"/>
                  </a:rPr>
                  <a:t> device</a:t>
                </a:r>
                <a:endParaRPr kumimoji="0" lang="en-GB" sz="1100" b="0" i="0" u="none" strike="noStrike" cap="none" normalizeH="0" baseline="0" dirty="0" smtClean="0">
                  <a:ln>
                    <a:noFill/>
                  </a:ln>
                  <a:solidFill>
                    <a:schemeClr val="tx1"/>
                  </a:solidFill>
                  <a:effectLst/>
                  <a:latin typeface="Arial" charset="0"/>
                </a:endParaRPr>
              </a:p>
            </p:txBody>
          </p:sp>
          <p:cxnSp>
            <p:nvCxnSpPr>
              <p:cNvPr id="17" name="Elbow Connector 16"/>
              <p:cNvCxnSpPr>
                <a:stCxn id="6" idx="1"/>
                <a:endCxn id="4" idx="5"/>
              </p:cNvCxnSpPr>
              <p:nvPr/>
            </p:nvCxnSpPr>
            <p:spPr bwMode="auto">
              <a:xfrm rot="10800000">
                <a:off x="3086472" y="1556792"/>
                <a:ext cx="2298576" cy="252028"/>
              </a:xfrm>
              <a:prstGeom prst="bentConnector3">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Elbow Connector 18"/>
              <p:cNvCxnSpPr>
                <a:stCxn id="6" idx="1"/>
                <a:endCxn id="7" idx="5"/>
              </p:cNvCxnSpPr>
              <p:nvPr/>
            </p:nvCxnSpPr>
            <p:spPr bwMode="auto">
              <a:xfrm rot="10800000" flipV="1">
                <a:off x="3050578" y="1808819"/>
                <a:ext cx="2334471" cy="878687"/>
              </a:xfrm>
              <a:prstGeom prst="bentConnector3">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Elbow Connector 20"/>
              <p:cNvCxnSpPr>
                <a:stCxn id="9" idx="3"/>
                <a:endCxn id="4" idx="1"/>
              </p:cNvCxnSpPr>
              <p:nvPr/>
            </p:nvCxnSpPr>
            <p:spPr bwMode="auto">
              <a:xfrm flipV="1">
                <a:off x="1280592" y="1556792"/>
                <a:ext cx="1121804" cy="72008"/>
              </a:xfrm>
              <a:prstGeom prst="bentConnector3">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Elbow Connector 22"/>
              <p:cNvCxnSpPr>
                <a:stCxn id="13" idx="3"/>
              </p:cNvCxnSpPr>
              <p:nvPr/>
            </p:nvCxnSpPr>
            <p:spPr bwMode="auto">
              <a:xfrm flipV="1">
                <a:off x="1409219" y="2736540"/>
                <a:ext cx="879485" cy="27620"/>
              </a:xfrm>
              <a:prstGeom prst="bentConnector3">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pic>
          <p:nvPicPr>
            <p:cNvPr id="26" name="Picture 2" descr="C:\aaaGitRepos\tmforumhack2017\TMForumVancouver2017Hack\documentation\workup\activeMQlogo.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33920" y="1865294"/>
              <a:ext cx="448507" cy="16396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C:\Users\cgallen\Documents\workfolder\entimoss\events\2018-09-19-OUCE\workup\Mosquit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36750" y="2074508"/>
              <a:ext cx="328330" cy="354684"/>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3" descr="C:\Users\cgallen\Documents\workfolder\entimoss\events\2018-09-19-OUCE\workup\HiveMQ.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89529" y="2444842"/>
              <a:ext cx="700809" cy="256928"/>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p:cNvSpPr txBox="1"/>
            <p:nvPr/>
          </p:nvSpPr>
          <p:spPr>
            <a:xfrm>
              <a:off x="4083387" y="1251737"/>
              <a:ext cx="2613215" cy="307777"/>
            </a:xfrm>
            <a:prstGeom prst="rect">
              <a:avLst/>
            </a:prstGeom>
            <a:noFill/>
          </p:spPr>
          <p:txBody>
            <a:bodyPr wrap="none" rtlCol="0">
              <a:spAutoFit/>
            </a:bodyPr>
            <a:lstStyle/>
            <a:p>
              <a:r>
                <a:rPr lang="en-GB" sz="1400" dirty="0" smtClean="0"/>
                <a:t>Can connect to multiple clients</a:t>
              </a:r>
              <a:endParaRPr lang="en-GB" sz="1400" dirty="0"/>
            </a:p>
          </p:txBody>
        </p:sp>
      </p:grpSp>
    </p:spTree>
    <p:extLst>
      <p:ext uri="{BB962C8B-B14F-4D97-AF65-F5344CB8AC3E}">
        <p14:creationId xmlns:p14="http://schemas.microsoft.com/office/powerpoint/2010/main" val="308243135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Summary – </a:t>
            </a:r>
            <a:r>
              <a:rPr lang="en-GB" dirty="0" err="1" smtClean="0"/>
              <a:t>OpenNMS</a:t>
            </a:r>
            <a:r>
              <a:rPr lang="en-GB" dirty="0" smtClean="0"/>
              <a:t> MQTT</a:t>
            </a:r>
            <a:endParaRPr lang="en-GB" dirty="0"/>
          </a:p>
        </p:txBody>
      </p:sp>
      <p:sp>
        <p:nvSpPr>
          <p:cNvPr id="3" name="Content Placeholder 2"/>
          <p:cNvSpPr>
            <a:spLocks noGrp="1"/>
          </p:cNvSpPr>
          <p:nvPr>
            <p:ph idx="1"/>
          </p:nvPr>
        </p:nvSpPr>
        <p:spPr>
          <a:xfrm>
            <a:off x="176213" y="764704"/>
            <a:ext cx="9529762" cy="5760640"/>
          </a:xfrm>
        </p:spPr>
        <p:txBody>
          <a:bodyPr/>
          <a:lstStyle/>
          <a:p>
            <a:r>
              <a:rPr lang="en-GB" dirty="0" smtClean="0"/>
              <a:t>Simple to install plugin – just drop into &lt;deploy&gt; directory and add </a:t>
            </a:r>
            <a:r>
              <a:rPr lang="en-GB" dirty="0" err="1" smtClean="0"/>
              <a:t>config</a:t>
            </a:r>
            <a:r>
              <a:rPr lang="en-GB" dirty="0" smtClean="0"/>
              <a:t> file</a:t>
            </a:r>
          </a:p>
          <a:p>
            <a:endParaRPr lang="en-GB" dirty="0"/>
          </a:p>
          <a:p>
            <a:r>
              <a:rPr lang="en-GB" dirty="0" smtClean="0"/>
              <a:t>Can connect (and reconnect) to multiple MQTT Brokers</a:t>
            </a:r>
          </a:p>
          <a:p>
            <a:pPr lvl="1"/>
            <a:r>
              <a:rPr lang="en-GB" dirty="0" smtClean="0"/>
              <a:t>Username / Password, TLS authentication</a:t>
            </a:r>
          </a:p>
          <a:p>
            <a:pPr lvl="1"/>
            <a:endParaRPr lang="en-GB" dirty="0"/>
          </a:p>
          <a:p>
            <a:r>
              <a:rPr lang="en-GB" dirty="0" smtClean="0"/>
              <a:t>Can automatically add Nodes discovered through MQTT</a:t>
            </a:r>
          </a:p>
          <a:p>
            <a:pPr lvl="1"/>
            <a:r>
              <a:rPr lang="en-GB" dirty="0" smtClean="0"/>
              <a:t>With foreign source and foreign id from Topic path or payload data</a:t>
            </a:r>
          </a:p>
          <a:p>
            <a:pPr lvl="1"/>
            <a:r>
              <a:rPr lang="en-GB" dirty="0" smtClean="0"/>
              <a:t>Add GIS coordinates to inventory</a:t>
            </a:r>
          </a:p>
          <a:p>
            <a:pPr marL="463550" lvl="1" indent="0">
              <a:buNone/>
            </a:pPr>
            <a:endParaRPr lang="en-GB" dirty="0" smtClean="0"/>
          </a:p>
          <a:p>
            <a:r>
              <a:rPr lang="en-GB" dirty="0" smtClean="0"/>
              <a:t>Can subscribe to filtered topics</a:t>
            </a:r>
          </a:p>
          <a:p>
            <a:pPr lvl="1"/>
            <a:r>
              <a:rPr lang="en-GB" dirty="0" smtClean="0"/>
              <a:t>PMc178e3c2.6637eiot-2/type/</a:t>
            </a:r>
            <a:r>
              <a:rPr lang="en-GB" dirty="0" err="1" smtClean="0"/>
              <a:t>mosquitto</a:t>
            </a:r>
            <a:r>
              <a:rPr lang="en-GB" dirty="0" smtClean="0"/>
              <a:t>/id/00-08-00-4A-4F-F6/</a:t>
            </a:r>
            <a:r>
              <a:rPr lang="en-GB" dirty="0" err="1" smtClean="0"/>
              <a:t>evt</a:t>
            </a:r>
            <a:r>
              <a:rPr lang="en-GB" dirty="0" smtClean="0"/>
              <a:t>/</a:t>
            </a:r>
            <a:r>
              <a:rPr lang="en-GB" dirty="0" err="1" smtClean="0"/>
              <a:t>datapoint</a:t>
            </a:r>
            <a:r>
              <a:rPr lang="en-GB" dirty="0" smtClean="0"/>
              <a:t>/</a:t>
            </a:r>
            <a:r>
              <a:rPr lang="en-GB" dirty="0" err="1" smtClean="0"/>
              <a:t>fmt</a:t>
            </a:r>
            <a:r>
              <a:rPr lang="en-GB" dirty="0" smtClean="0"/>
              <a:t>/</a:t>
            </a:r>
            <a:r>
              <a:rPr lang="en-GB" dirty="0" err="1" smtClean="0"/>
              <a:t>json</a:t>
            </a:r>
            <a:endParaRPr lang="en-GB" dirty="0" smtClean="0"/>
          </a:p>
          <a:p>
            <a:pPr lvl="1"/>
            <a:r>
              <a:rPr lang="en-GB" dirty="0" smtClean="0"/>
              <a:t>PMc178e3c2.6637eiot-2/type/</a:t>
            </a:r>
            <a:r>
              <a:rPr lang="en-GB" dirty="0" err="1" smtClean="0"/>
              <a:t>mosquitto</a:t>
            </a:r>
            <a:r>
              <a:rPr lang="en-GB" smtClean="0"/>
              <a:t>/id</a:t>
            </a:r>
            <a:r>
              <a:rPr lang="en-GB" smtClean="0"/>
              <a:t>/</a:t>
            </a:r>
            <a:r>
              <a:rPr lang="en-GB" b="1" smtClean="0"/>
              <a:t>#</a:t>
            </a:r>
            <a:endParaRPr lang="en-GB" dirty="0" smtClean="0"/>
          </a:p>
          <a:p>
            <a:endParaRPr lang="en-GB" dirty="0"/>
          </a:p>
          <a:p>
            <a:r>
              <a:rPr lang="en-GB" dirty="0"/>
              <a:t>Can choose how to handle filtered topics with different configurations</a:t>
            </a:r>
          </a:p>
          <a:p>
            <a:pPr lvl="1"/>
            <a:r>
              <a:rPr lang="en-GB" dirty="0"/>
              <a:t>Events or Data or </a:t>
            </a:r>
            <a:r>
              <a:rPr lang="en-GB" dirty="0" smtClean="0"/>
              <a:t>Both</a:t>
            </a:r>
          </a:p>
          <a:p>
            <a:pPr lvl="1"/>
            <a:r>
              <a:rPr lang="en-GB" dirty="0"/>
              <a:t>PMc178e3c2.6637eiot-2/type/</a:t>
            </a:r>
            <a:r>
              <a:rPr lang="en-GB" dirty="0" err="1"/>
              <a:t>mosquitto</a:t>
            </a:r>
            <a:r>
              <a:rPr lang="en-GB" dirty="0"/>
              <a:t>/id/</a:t>
            </a:r>
            <a:r>
              <a:rPr lang="en-GB" b="1" dirty="0"/>
              <a:t>+</a:t>
            </a:r>
            <a:r>
              <a:rPr lang="en-GB" dirty="0"/>
              <a:t>/</a:t>
            </a:r>
            <a:r>
              <a:rPr lang="en-GB" dirty="0" err="1"/>
              <a:t>evt</a:t>
            </a:r>
            <a:r>
              <a:rPr lang="en-GB" dirty="0"/>
              <a:t>/</a:t>
            </a:r>
            <a:r>
              <a:rPr lang="en-GB" dirty="0" err="1"/>
              <a:t>datapoint</a:t>
            </a:r>
            <a:r>
              <a:rPr lang="en-GB" dirty="0"/>
              <a:t>/</a:t>
            </a:r>
            <a:r>
              <a:rPr lang="en-GB" dirty="0" err="1"/>
              <a:t>fmt</a:t>
            </a:r>
            <a:r>
              <a:rPr lang="en-GB" dirty="0"/>
              <a:t>/</a:t>
            </a:r>
            <a:r>
              <a:rPr lang="en-GB" dirty="0" err="1"/>
              <a:t>jso</a:t>
            </a:r>
            <a:endParaRPr lang="en-GB" dirty="0"/>
          </a:p>
          <a:p>
            <a:pPr lvl="1"/>
            <a:r>
              <a:rPr lang="en-GB" dirty="0"/>
              <a:t>PMc178e3c2.6637eiot-2/type/</a:t>
            </a:r>
            <a:r>
              <a:rPr lang="en-GB" dirty="0" err="1"/>
              <a:t>mosquitto</a:t>
            </a:r>
            <a:r>
              <a:rPr lang="en-GB" dirty="0"/>
              <a:t>/id/</a:t>
            </a:r>
            <a:r>
              <a:rPr lang="en-GB" b="1" dirty="0"/>
              <a:t>+</a:t>
            </a:r>
            <a:r>
              <a:rPr lang="en-GB" dirty="0"/>
              <a:t>/</a:t>
            </a:r>
            <a:r>
              <a:rPr lang="en-GB" dirty="0" err="1" smtClean="0"/>
              <a:t>evt</a:t>
            </a:r>
            <a:r>
              <a:rPr lang="en-GB" dirty="0" smtClean="0"/>
              <a:t>/events/</a:t>
            </a:r>
            <a:r>
              <a:rPr lang="en-GB" dirty="0" err="1" smtClean="0"/>
              <a:t>fmt</a:t>
            </a:r>
            <a:r>
              <a:rPr lang="en-GB" dirty="0" smtClean="0"/>
              <a:t>/</a:t>
            </a:r>
            <a:r>
              <a:rPr lang="en-GB" dirty="0" err="1" smtClean="0"/>
              <a:t>jso</a:t>
            </a:r>
            <a:endParaRPr lang="en-GB" dirty="0"/>
          </a:p>
          <a:p>
            <a:pPr marL="463550" lvl="1" indent="0">
              <a:buNone/>
            </a:pPr>
            <a:endParaRPr lang="en-GB" dirty="0"/>
          </a:p>
          <a:p>
            <a:r>
              <a:rPr lang="en-GB" dirty="0" smtClean="0"/>
              <a:t>Can </a:t>
            </a:r>
            <a:r>
              <a:rPr lang="en-GB" dirty="0"/>
              <a:t>parse multiple payloads</a:t>
            </a:r>
          </a:p>
          <a:p>
            <a:pPr lvl="1"/>
            <a:r>
              <a:rPr lang="en-GB" dirty="0"/>
              <a:t>Compressed, </a:t>
            </a:r>
            <a:r>
              <a:rPr lang="en-GB" dirty="0" smtClean="0"/>
              <a:t>uncompressed, JSON </a:t>
            </a:r>
            <a:r>
              <a:rPr lang="en-GB" dirty="0"/>
              <a:t>/ XML / CSV (Future </a:t>
            </a:r>
            <a:r>
              <a:rPr lang="en-GB" dirty="0" err="1" smtClean="0"/>
              <a:t>Protobuf</a:t>
            </a:r>
            <a:r>
              <a:rPr lang="en-GB" dirty="0" smtClean="0"/>
              <a:t>)</a:t>
            </a:r>
          </a:p>
        </p:txBody>
      </p:sp>
    </p:spTree>
    <p:extLst>
      <p:ext uri="{BB962C8B-B14F-4D97-AF65-F5344CB8AC3E}">
        <p14:creationId xmlns:p14="http://schemas.microsoft.com/office/powerpoint/2010/main" val="8702455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How it works</a:t>
            </a:r>
            <a:endParaRPr lang="en-GB" dirty="0"/>
          </a:p>
        </p:txBody>
      </p:sp>
      <p:pic>
        <p:nvPicPr>
          <p:cNvPr id="17410" name="Picture 2" descr="C:\Users\cgallen\Documents\workfolder\entimoss\events\2018-09-19-OUCE\workup\diagrams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6284" y="649825"/>
            <a:ext cx="7884368" cy="5913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793490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Basic Structure of Configuration</a:t>
            </a:r>
            <a:endParaRPr lang="en-GB" dirty="0"/>
          </a:p>
        </p:txBody>
      </p:sp>
      <p:grpSp>
        <p:nvGrpSpPr>
          <p:cNvPr id="17" name="Group 16"/>
          <p:cNvGrpSpPr/>
          <p:nvPr/>
        </p:nvGrpSpPr>
        <p:grpSpPr>
          <a:xfrm>
            <a:off x="208007" y="639408"/>
            <a:ext cx="9497521" cy="6294031"/>
            <a:chOff x="208007" y="639408"/>
            <a:chExt cx="9497521" cy="6294031"/>
          </a:xfrm>
        </p:grpSpPr>
        <p:sp>
          <p:nvSpPr>
            <p:cNvPr id="10" name="TextBox 9"/>
            <p:cNvSpPr txBox="1"/>
            <p:nvPr/>
          </p:nvSpPr>
          <p:spPr>
            <a:xfrm>
              <a:off x="208007" y="639408"/>
              <a:ext cx="5321057" cy="6294031"/>
            </a:xfrm>
            <a:prstGeom prst="rect">
              <a:avLst/>
            </a:prstGeom>
            <a:noFill/>
          </p:spPr>
          <p:txBody>
            <a:bodyPr wrap="square" rtlCol="0">
              <a:spAutoFit/>
            </a:bodyPr>
            <a:lstStyle/>
            <a:p>
              <a:pPr algn="l"/>
              <a:r>
                <a:rPr lang="en-GB" sz="1300" b="1" dirty="0" smtClean="0"/>
                <a:t> &lt;</a:t>
              </a:r>
              <a:r>
                <a:rPr lang="en-GB" sz="1300" b="1" dirty="0" err="1" smtClean="0"/>
                <a:t>opennms</a:t>
              </a:r>
              <a:r>
                <a:rPr lang="en-GB" sz="1300" b="1" dirty="0" smtClean="0"/>
                <a:t>&gt;/</a:t>
              </a:r>
              <a:r>
                <a:rPr lang="en-GB" sz="1300" b="1" dirty="0" err="1" smtClean="0"/>
                <a:t>etc</a:t>
              </a:r>
              <a:r>
                <a:rPr lang="en-GB" sz="1300" b="1" dirty="0" smtClean="0"/>
                <a:t>/ mqtt-interface-config.xml</a:t>
              </a:r>
            </a:p>
            <a:p>
              <a:pPr algn="l"/>
              <a:endParaRPr lang="en-GB" sz="1300" dirty="0"/>
            </a:p>
            <a:p>
              <a:pPr algn="l"/>
              <a:r>
                <a:rPr lang="en-GB" sz="1300" dirty="0"/>
                <a:t>&lt;</a:t>
              </a:r>
              <a:r>
                <a:rPr lang="en-GB" sz="1300" dirty="0" err="1"/>
                <a:t>mqtt</a:t>
              </a:r>
              <a:r>
                <a:rPr lang="en-GB" sz="1300" dirty="0"/>
                <a:t>-receiver </a:t>
              </a:r>
              <a:r>
                <a:rPr lang="en-GB" sz="1300" dirty="0" smtClean="0"/>
                <a:t>&gt;</a:t>
              </a:r>
              <a:endParaRPr lang="en-GB" sz="1300" dirty="0"/>
            </a:p>
            <a:p>
              <a:pPr algn="l"/>
              <a:r>
                <a:rPr lang="en-GB" sz="1300" dirty="0"/>
                <a:t> </a:t>
              </a:r>
              <a:r>
                <a:rPr lang="en-GB" sz="1300" b="1" dirty="0"/>
                <a:t> &lt;</a:t>
              </a:r>
              <a:r>
                <a:rPr lang="en-GB" sz="1300" b="1" dirty="0" err="1"/>
                <a:t>createMissingNodes</a:t>
              </a:r>
              <a:r>
                <a:rPr lang="en-GB" sz="1300" b="1" dirty="0"/>
                <a:t>&gt;true&lt;/</a:t>
              </a:r>
              <a:r>
                <a:rPr lang="en-GB" sz="1300" b="1" dirty="0" err="1"/>
                <a:t>createMissingNodes</a:t>
              </a:r>
              <a:r>
                <a:rPr lang="en-GB" sz="1300" b="1" dirty="0" smtClean="0"/>
                <a:t>&gt;</a:t>
              </a:r>
            </a:p>
            <a:p>
              <a:pPr algn="l"/>
              <a:endParaRPr lang="en-GB" sz="1300" dirty="0"/>
            </a:p>
            <a:p>
              <a:pPr algn="l"/>
              <a:r>
                <a:rPr lang="en-GB" sz="1300" dirty="0"/>
                <a:t> </a:t>
              </a:r>
              <a:r>
                <a:rPr lang="en-GB" sz="1300" b="1" dirty="0"/>
                <a:t> &lt;</a:t>
              </a:r>
              <a:r>
                <a:rPr lang="en-GB" sz="1300" b="1" dirty="0" err="1"/>
                <a:t>createDummyInterfaces</a:t>
              </a:r>
              <a:r>
                <a:rPr lang="en-GB" sz="1300" b="1" dirty="0"/>
                <a:t>&gt;true&lt;/</a:t>
              </a:r>
              <a:r>
                <a:rPr lang="en-GB" sz="1300" b="1" dirty="0" err="1"/>
                <a:t>createDummyInterfaces</a:t>
              </a:r>
              <a:r>
                <a:rPr lang="en-GB" sz="1300" b="1" dirty="0" smtClean="0"/>
                <a:t>&gt;</a:t>
              </a:r>
            </a:p>
            <a:p>
              <a:pPr algn="l"/>
              <a:endParaRPr lang="en-GB" sz="1300" dirty="0"/>
            </a:p>
            <a:p>
              <a:pPr algn="l"/>
              <a:r>
                <a:rPr lang="en-GB" sz="1300" dirty="0"/>
                <a:t> </a:t>
              </a:r>
              <a:r>
                <a:rPr lang="en-GB" sz="1300" b="1" dirty="0"/>
                <a:t> &lt;</a:t>
              </a:r>
              <a:r>
                <a:rPr lang="en-GB" sz="1300" b="1" dirty="0" err="1"/>
                <a:t>createNodeAssetData</a:t>
              </a:r>
              <a:r>
                <a:rPr lang="en-GB" sz="1300" b="1" dirty="0"/>
                <a:t>&gt;true&lt;/</a:t>
              </a:r>
              <a:r>
                <a:rPr lang="en-GB" sz="1300" b="1" dirty="0" err="1"/>
                <a:t>createNodeAssetData</a:t>
              </a:r>
              <a:r>
                <a:rPr lang="en-GB" sz="1300" b="1" dirty="0"/>
                <a:t>&gt;</a:t>
              </a:r>
            </a:p>
            <a:p>
              <a:pPr algn="l"/>
              <a:endParaRPr lang="en-GB" sz="1300" dirty="0"/>
            </a:p>
            <a:p>
              <a:pPr algn="l"/>
              <a:r>
                <a:rPr lang="en-GB" sz="1300" dirty="0"/>
                <a:t>  </a:t>
              </a:r>
              <a:r>
                <a:rPr lang="en-GB" sz="1300" b="1" dirty="0" smtClean="0"/>
                <a:t> &lt;</a:t>
              </a:r>
              <a:r>
                <a:rPr lang="en-GB" sz="1300" b="1" dirty="0" err="1"/>
                <a:t>messageDataParsers</a:t>
              </a:r>
              <a:r>
                <a:rPr lang="en-GB" sz="1300" b="1" dirty="0" smtClean="0"/>
                <a:t>&gt;</a:t>
              </a:r>
            </a:p>
            <a:p>
              <a:pPr algn="l"/>
              <a:r>
                <a:rPr lang="en-GB" sz="1300" dirty="0" smtClean="0"/>
                <a:t>       </a:t>
              </a:r>
              <a:r>
                <a:rPr lang="en-GB" sz="1300" dirty="0"/>
                <a:t> </a:t>
              </a:r>
              <a:r>
                <a:rPr lang="en-GB" sz="1300" b="1" dirty="0"/>
                <a:t> &lt;</a:t>
              </a:r>
              <a:r>
                <a:rPr lang="en-GB" sz="1300" b="1" dirty="0" err="1" smtClean="0"/>
                <a:t>messageDataParser</a:t>
              </a:r>
              <a:r>
                <a:rPr lang="en-GB" sz="1300" b="1" dirty="0" smtClean="0"/>
                <a:t>&gt;</a:t>
              </a:r>
            </a:p>
            <a:p>
              <a:pPr algn="l"/>
              <a:r>
                <a:rPr lang="en-GB" sz="1300" b="1" dirty="0"/>
                <a:t> </a:t>
              </a:r>
              <a:r>
                <a:rPr lang="en-GB" sz="1300" b="1" dirty="0" smtClean="0"/>
                <a:t>                   ….</a:t>
              </a:r>
              <a:endParaRPr lang="en-GB" sz="1300" b="1" dirty="0"/>
            </a:p>
            <a:p>
              <a:pPr algn="l"/>
              <a:r>
                <a:rPr lang="en-GB" sz="1300" dirty="0"/>
                <a:t>       </a:t>
              </a:r>
              <a:r>
                <a:rPr lang="en-GB" sz="1300" b="1" dirty="0"/>
                <a:t> </a:t>
              </a:r>
              <a:r>
                <a:rPr lang="en-GB" sz="1300" b="1" dirty="0" smtClean="0"/>
                <a:t> &lt;</a:t>
              </a:r>
              <a:r>
                <a:rPr lang="en-GB" sz="1300" b="1" dirty="0" err="1"/>
                <a:t>messageDataParser</a:t>
              </a:r>
              <a:r>
                <a:rPr lang="en-GB" sz="1300" b="1" dirty="0"/>
                <a:t>&gt;</a:t>
              </a:r>
            </a:p>
            <a:p>
              <a:pPr algn="l"/>
              <a:r>
                <a:rPr lang="en-GB" sz="1300" dirty="0" smtClean="0"/>
                <a:t>   &lt;/</a:t>
              </a:r>
              <a:r>
                <a:rPr lang="en-GB" sz="1300" dirty="0" err="1" smtClean="0"/>
                <a:t>messageDataParsers</a:t>
              </a:r>
              <a:r>
                <a:rPr lang="en-GB" sz="1300" dirty="0" smtClean="0"/>
                <a:t>&gt;</a:t>
              </a:r>
            </a:p>
            <a:p>
              <a:pPr algn="l"/>
              <a:endParaRPr lang="en-GB" sz="1300" dirty="0" smtClean="0"/>
            </a:p>
            <a:p>
              <a:pPr algn="l"/>
              <a:r>
                <a:rPr lang="en-GB" sz="1300" dirty="0" smtClean="0"/>
                <a:t>  </a:t>
              </a:r>
              <a:r>
                <a:rPr lang="en-GB" sz="1300" b="1" dirty="0" smtClean="0"/>
                <a:t>&lt;</a:t>
              </a:r>
              <a:r>
                <a:rPr lang="en-GB" sz="1300" b="1" dirty="0" err="1" smtClean="0"/>
                <a:t>messageEventParsers</a:t>
              </a:r>
              <a:r>
                <a:rPr lang="en-GB" sz="1300" b="1" dirty="0" smtClean="0"/>
                <a:t>&gt;</a:t>
              </a:r>
            </a:p>
            <a:p>
              <a:pPr algn="l"/>
              <a:r>
                <a:rPr lang="en-GB" sz="1300" dirty="0"/>
                <a:t> </a:t>
              </a:r>
              <a:r>
                <a:rPr lang="en-GB" sz="1300" dirty="0" smtClean="0"/>
                <a:t>          …..</a:t>
              </a:r>
              <a:endParaRPr lang="en-GB" sz="1300" dirty="0"/>
            </a:p>
            <a:p>
              <a:pPr algn="l"/>
              <a:r>
                <a:rPr lang="en-GB" sz="1300" dirty="0" smtClean="0"/>
                <a:t>  </a:t>
              </a:r>
              <a:r>
                <a:rPr lang="en-GB" sz="1300" dirty="0"/>
                <a:t>&lt;/</a:t>
              </a:r>
              <a:r>
                <a:rPr lang="en-GB" sz="1300" dirty="0" err="1"/>
                <a:t>messageEventParsers</a:t>
              </a:r>
              <a:r>
                <a:rPr lang="en-GB" sz="1300" dirty="0"/>
                <a:t>&gt;</a:t>
              </a:r>
            </a:p>
            <a:p>
              <a:pPr algn="l"/>
              <a:endParaRPr lang="en-GB" sz="1300" dirty="0"/>
            </a:p>
            <a:p>
              <a:pPr algn="l"/>
              <a:r>
                <a:rPr lang="en-GB" sz="1300" dirty="0"/>
                <a:t> </a:t>
              </a:r>
              <a:r>
                <a:rPr lang="en-GB" sz="1300" dirty="0" smtClean="0"/>
                <a:t>  </a:t>
              </a:r>
              <a:r>
                <a:rPr lang="en-GB" sz="1300" b="1" dirty="0"/>
                <a:t>&lt;</a:t>
              </a:r>
              <a:r>
                <a:rPr lang="en-GB" sz="1300" b="1" dirty="0" err="1"/>
                <a:t>mqttClients</a:t>
              </a:r>
              <a:r>
                <a:rPr lang="en-GB" sz="1300" b="1" dirty="0"/>
                <a:t>&gt;</a:t>
              </a:r>
            </a:p>
            <a:p>
              <a:pPr algn="l"/>
              <a:r>
                <a:rPr lang="en-GB" sz="1300" dirty="0"/>
                <a:t>    </a:t>
              </a:r>
              <a:r>
                <a:rPr lang="en-GB" sz="1300" dirty="0" smtClean="0"/>
                <a:t>         ….</a:t>
              </a:r>
              <a:endParaRPr lang="en-GB" sz="1300" dirty="0"/>
            </a:p>
            <a:p>
              <a:pPr algn="l"/>
              <a:r>
                <a:rPr lang="en-GB" sz="1300" dirty="0"/>
                <a:t>   </a:t>
              </a:r>
              <a:r>
                <a:rPr lang="en-GB" sz="1300" dirty="0" smtClean="0"/>
                <a:t>&lt;/</a:t>
              </a:r>
              <a:r>
                <a:rPr lang="en-GB" sz="1300" dirty="0" err="1"/>
                <a:t>mqttClients</a:t>
              </a:r>
              <a:r>
                <a:rPr lang="en-GB" sz="1300" dirty="0"/>
                <a:t>&gt;</a:t>
              </a:r>
            </a:p>
            <a:p>
              <a:pPr algn="l"/>
              <a:endParaRPr lang="en-GB" sz="1300" dirty="0"/>
            </a:p>
            <a:p>
              <a:pPr algn="l"/>
              <a:r>
                <a:rPr lang="en-GB" sz="1300" dirty="0"/>
                <a:t>  </a:t>
              </a:r>
              <a:r>
                <a:rPr lang="en-GB" sz="1300" dirty="0" smtClean="0"/>
                <a:t>&lt;/</a:t>
              </a:r>
              <a:r>
                <a:rPr lang="en-GB" sz="1300" dirty="0" err="1"/>
                <a:t>mqtt</a:t>
              </a:r>
              <a:r>
                <a:rPr lang="en-GB" sz="1300" dirty="0"/>
                <a:t>-receiver</a:t>
              </a:r>
              <a:r>
                <a:rPr lang="en-GB" sz="1300" dirty="0" smtClean="0"/>
                <a:t>&gt;</a:t>
              </a:r>
            </a:p>
            <a:p>
              <a:pPr algn="l"/>
              <a:endParaRPr lang="en-GB" sz="1300" dirty="0"/>
            </a:p>
            <a:p>
              <a:pPr algn="l"/>
              <a:endParaRPr lang="en-GB" sz="1300" dirty="0" smtClean="0"/>
            </a:p>
            <a:p>
              <a:pPr algn="l"/>
              <a:endParaRPr lang="en-GB" sz="1300" dirty="0" smtClean="0"/>
            </a:p>
            <a:p>
              <a:pPr algn="l"/>
              <a:endParaRPr lang="en-GB" sz="1300" dirty="0"/>
            </a:p>
            <a:p>
              <a:pPr algn="l"/>
              <a:r>
                <a:rPr lang="en-GB" sz="1300" dirty="0" smtClean="0"/>
                <a:t>See </a:t>
              </a:r>
              <a:r>
                <a:rPr lang="en-GB" sz="1300" dirty="0"/>
                <a:t>https://github.com/gallenc/opennms-mqtt-plugin/blob/ba2138bf8aa9d731dbbb5ede7bed440b0ee0256f/mqtt-docker-compose/etc-overlay/mqtt-interface-config.xml</a:t>
              </a:r>
            </a:p>
          </p:txBody>
        </p:sp>
        <p:sp>
          <p:nvSpPr>
            <p:cNvPr id="4" name="TextBox 3"/>
            <p:cNvSpPr txBox="1"/>
            <p:nvPr/>
          </p:nvSpPr>
          <p:spPr>
            <a:xfrm>
              <a:off x="5385048" y="836712"/>
              <a:ext cx="4320480" cy="6001643"/>
            </a:xfrm>
            <a:prstGeom prst="rect">
              <a:avLst/>
            </a:prstGeom>
            <a:noFill/>
          </p:spPr>
          <p:txBody>
            <a:bodyPr wrap="square" rtlCol="0">
              <a:spAutoFit/>
            </a:bodyPr>
            <a:lstStyle/>
            <a:p>
              <a:pPr algn="l"/>
              <a:r>
                <a:rPr lang="en-GB" sz="1600" b="1" dirty="0" smtClean="0"/>
                <a:t>if </a:t>
              </a:r>
              <a:r>
                <a:rPr lang="en-GB" sz="1600" b="1" dirty="0"/>
                <a:t>true new nodes will be created for messages referencing an unknown node </a:t>
              </a:r>
              <a:r>
                <a:rPr lang="en-GB" sz="1600" b="1" dirty="0" smtClean="0"/>
                <a:t>   </a:t>
              </a:r>
              <a:endParaRPr lang="en-GB" sz="1600" b="1" dirty="0"/>
            </a:p>
            <a:p>
              <a:pPr algn="l"/>
              <a:endParaRPr lang="en-GB" sz="1600" b="1" dirty="0" smtClean="0"/>
            </a:p>
            <a:p>
              <a:pPr algn="l"/>
              <a:r>
                <a:rPr lang="en-GB" sz="1600" b="1" dirty="0" smtClean="0"/>
                <a:t>if </a:t>
              </a:r>
              <a:r>
                <a:rPr lang="en-GB" sz="1600" b="1" dirty="0"/>
                <a:t>true a dummy interface will also be created when the node is created </a:t>
              </a:r>
              <a:r>
                <a:rPr lang="en-GB" sz="1600" b="1" dirty="0" smtClean="0"/>
                <a:t>   </a:t>
              </a:r>
              <a:endParaRPr lang="en-GB" sz="1600" b="1" dirty="0"/>
            </a:p>
            <a:p>
              <a:pPr algn="l"/>
              <a:r>
                <a:rPr lang="en-GB" sz="1600" b="1" dirty="0"/>
                <a:t>  </a:t>
              </a:r>
              <a:endParaRPr lang="en-GB" sz="1600" b="1" dirty="0" smtClean="0"/>
            </a:p>
            <a:p>
              <a:pPr algn="l"/>
              <a:r>
                <a:rPr lang="en-GB" sz="1600" b="1" dirty="0" smtClean="0"/>
                <a:t>if </a:t>
              </a:r>
              <a:r>
                <a:rPr lang="en-GB" sz="1600" b="1" dirty="0"/>
                <a:t>true asset information will be copied to the node asset table when the node is </a:t>
              </a:r>
              <a:r>
                <a:rPr lang="en-GB" sz="1600" b="1" dirty="0" smtClean="0"/>
                <a:t>created. </a:t>
              </a:r>
              <a:r>
                <a:rPr lang="en-GB" sz="1600" b="1" dirty="0"/>
                <a:t>this particularly applies to latitude and longitude if defined in the message </a:t>
              </a:r>
              <a:r>
                <a:rPr lang="en-GB" sz="1600" b="1" dirty="0" smtClean="0"/>
                <a:t>   </a:t>
              </a:r>
              <a:endParaRPr lang="en-GB" sz="1600" b="1" dirty="0"/>
            </a:p>
            <a:p>
              <a:pPr algn="l"/>
              <a:r>
                <a:rPr lang="en-GB" sz="1600" b="1" dirty="0"/>
                <a:t> </a:t>
              </a:r>
              <a:endParaRPr lang="en-GB" sz="1600" b="1" dirty="0" smtClean="0"/>
            </a:p>
            <a:p>
              <a:pPr algn="l"/>
              <a:r>
                <a:rPr lang="en-GB" sz="1600" b="1" dirty="0" smtClean="0"/>
                <a:t>configuration for data parsers – many parsers can be defined for different topic filters</a:t>
              </a:r>
              <a:endParaRPr lang="en-GB" sz="1600" b="1" dirty="0"/>
            </a:p>
            <a:p>
              <a:pPr algn="l"/>
              <a:r>
                <a:rPr lang="en-GB" sz="1600" b="1" dirty="0"/>
                <a:t>  </a:t>
              </a:r>
              <a:endParaRPr lang="en-GB" sz="1600" b="1" dirty="0" smtClean="0"/>
            </a:p>
            <a:p>
              <a:pPr algn="l"/>
              <a:r>
                <a:rPr lang="en-GB" sz="1600" b="1" dirty="0" smtClean="0"/>
                <a:t>configuration </a:t>
              </a:r>
              <a:r>
                <a:rPr lang="en-GB" sz="1600" b="1" dirty="0"/>
                <a:t>for </a:t>
              </a:r>
              <a:r>
                <a:rPr lang="en-GB" sz="1600" b="1" dirty="0" smtClean="0"/>
                <a:t>event  parsers </a:t>
              </a:r>
              <a:r>
                <a:rPr lang="en-GB" sz="1600" b="1" dirty="0"/>
                <a:t>– many parsers can be defined for different topic filters</a:t>
              </a:r>
            </a:p>
            <a:p>
              <a:pPr algn="l"/>
              <a:r>
                <a:rPr lang="en-GB" sz="1600" b="1" dirty="0" smtClean="0"/>
                <a:t> </a:t>
              </a:r>
            </a:p>
            <a:p>
              <a:pPr algn="l"/>
              <a:r>
                <a:rPr lang="en-GB" sz="1600" b="1" dirty="0" smtClean="0"/>
                <a:t>configuration for clients. Many clients can be defined which connect to multiple topic filters</a:t>
              </a:r>
              <a:endParaRPr lang="en-GB" sz="1600" b="1" dirty="0"/>
            </a:p>
            <a:p>
              <a:pPr algn="l"/>
              <a:endParaRPr lang="en-GB" sz="1600" b="1" dirty="0"/>
            </a:p>
          </p:txBody>
        </p:sp>
        <p:cxnSp>
          <p:nvCxnSpPr>
            <p:cNvPr id="5" name="Elbow Connector 4"/>
            <p:cNvCxnSpPr/>
            <p:nvPr/>
          </p:nvCxnSpPr>
          <p:spPr bwMode="auto">
            <a:xfrm flipV="1">
              <a:off x="4448944" y="1052736"/>
              <a:ext cx="792088" cy="288032"/>
            </a:xfrm>
            <a:prstGeom prst="bentConnector3">
              <a:avLst/>
            </a:prstGeom>
            <a:solidFill>
              <a:schemeClr val="bg1"/>
            </a:solidFill>
            <a:ln w="9525" cap="flat" cmpd="sng" algn="ctr">
              <a:solidFill>
                <a:schemeClr val="tx1"/>
              </a:solidFill>
              <a:prstDash val="solid"/>
              <a:round/>
              <a:headEnd type="none" w="sm" len="sm"/>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Elbow Connector 6"/>
            <p:cNvCxnSpPr/>
            <p:nvPr/>
          </p:nvCxnSpPr>
          <p:spPr bwMode="auto">
            <a:xfrm>
              <a:off x="5025008" y="1772816"/>
              <a:ext cx="360040" cy="12700"/>
            </a:xfrm>
            <a:prstGeom prst="bentConnector3">
              <a:avLst/>
            </a:prstGeom>
            <a:solidFill>
              <a:schemeClr val="bg1"/>
            </a:solidFill>
            <a:ln w="9525" cap="flat" cmpd="sng" algn="ctr">
              <a:solidFill>
                <a:schemeClr val="tx1"/>
              </a:solidFill>
              <a:prstDash val="solid"/>
              <a:round/>
              <a:headEnd type="none" w="sm" len="sm"/>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Elbow Connector 8"/>
            <p:cNvCxnSpPr/>
            <p:nvPr/>
          </p:nvCxnSpPr>
          <p:spPr bwMode="auto">
            <a:xfrm>
              <a:off x="4736976" y="2132856"/>
              <a:ext cx="648072" cy="360040"/>
            </a:xfrm>
            <a:prstGeom prst="bentConnector3">
              <a:avLst/>
            </a:prstGeom>
            <a:solidFill>
              <a:schemeClr val="bg1"/>
            </a:solidFill>
            <a:ln w="9525" cap="flat" cmpd="sng" algn="ctr">
              <a:solidFill>
                <a:schemeClr val="tx1"/>
              </a:solidFill>
              <a:prstDash val="solid"/>
              <a:round/>
              <a:headEnd type="none" w="sm" len="sm"/>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Elbow Connector 11"/>
            <p:cNvCxnSpPr/>
            <p:nvPr/>
          </p:nvCxnSpPr>
          <p:spPr bwMode="auto">
            <a:xfrm>
              <a:off x="2720752" y="2780928"/>
              <a:ext cx="2520280" cy="1224136"/>
            </a:xfrm>
            <a:prstGeom prst="bentConnector3">
              <a:avLst>
                <a:gd name="adj1" fmla="val 67607"/>
              </a:avLst>
            </a:prstGeom>
            <a:solidFill>
              <a:schemeClr val="bg1"/>
            </a:solidFill>
            <a:ln w="9525" cap="flat" cmpd="sng" algn="ctr">
              <a:solidFill>
                <a:schemeClr val="tx1"/>
              </a:solidFill>
              <a:prstDash val="solid"/>
              <a:round/>
              <a:headEnd type="none" w="sm" len="sm"/>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Elbow Connector 13"/>
            <p:cNvCxnSpPr/>
            <p:nvPr/>
          </p:nvCxnSpPr>
          <p:spPr bwMode="auto">
            <a:xfrm>
              <a:off x="2432720" y="4005064"/>
              <a:ext cx="2808312" cy="1080120"/>
            </a:xfrm>
            <a:prstGeom prst="bentConnector3">
              <a:avLst>
                <a:gd name="adj1" fmla="val 59098"/>
              </a:avLst>
            </a:prstGeom>
            <a:solidFill>
              <a:schemeClr val="bg1"/>
            </a:solidFill>
            <a:ln w="9525" cap="flat" cmpd="sng" algn="ctr">
              <a:solidFill>
                <a:schemeClr val="tx1"/>
              </a:solidFill>
              <a:prstDash val="solid"/>
              <a:round/>
              <a:headEnd type="none" w="sm" len="sm"/>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Elbow Connector 15"/>
            <p:cNvCxnSpPr/>
            <p:nvPr/>
          </p:nvCxnSpPr>
          <p:spPr bwMode="auto">
            <a:xfrm>
              <a:off x="1712640" y="4725144"/>
              <a:ext cx="3528392" cy="1224136"/>
            </a:xfrm>
            <a:prstGeom prst="bentConnector3">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53059356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Setting up the connection</a:t>
            </a:r>
            <a:endParaRPr lang="en-GB" dirty="0"/>
          </a:p>
        </p:txBody>
      </p:sp>
      <p:grpSp>
        <p:nvGrpSpPr>
          <p:cNvPr id="4" name="Group 3"/>
          <p:cNvGrpSpPr/>
          <p:nvPr/>
        </p:nvGrpSpPr>
        <p:grpSpPr>
          <a:xfrm>
            <a:off x="353694" y="859337"/>
            <a:ext cx="4616896" cy="1592560"/>
            <a:chOff x="1477035" y="1251737"/>
            <a:chExt cx="6777136" cy="2206117"/>
          </a:xfrm>
        </p:grpSpPr>
        <p:grpSp>
          <p:nvGrpSpPr>
            <p:cNvPr id="5" name="Group 4"/>
            <p:cNvGrpSpPr/>
            <p:nvPr/>
          </p:nvGrpSpPr>
          <p:grpSpPr>
            <a:xfrm>
              <a:off x="1477035" y="1405626"/>
              <a:ext cx="6777136" cy="2052228"/>
              <a:chOff x="480120" y="1196752"/>
              <a:chExt cx="6777136" cy="2052228"/>
            </a:xfrm>
          </p:grpSpPr>
          <p:sp>
            <p:nvSpPr>
              <p:cNvPr id="10" name="Isosceles Triangle 9"/>
              <p:cNvSpPr/>
              <p:nvPr/>
            </p:nvSpPr>
            <p:spPr bwMode="auto">
              <a:xfrm>
                <a:off x="2060358" y="1196752"/>
                <a:ext cx="1368152" cy="720080"/>
              </a:xfrm>
              <a:prstGeom prst="triangle">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800" b="0" i="0" u="none" strike="noStrike" cap="none" normalizeH="0" baseline="0" dirty="0" err="1" smtClean="0">
                    <a:ln>
                      <a:noFill/>
                    </a:ln>
                    <a:solidFill>
                      <a:schemeClr val="tx1"/>
                    </a:solidFill>
                    <a:effectLst/>
                    <a:latin typeface="Arial" charset="0"/>
                  </a:rPr>
                  <a:t>Mqtt</a:t>
                </a:r>
                <a:r>
                  <a:rPr kumimoji="0" lang="en-GB" sz="800" b="0" i="0" u="none" strike="noStrike" cap="none" normalizeH="0" baseline="0" dirty="0" smtClean="0">
                    <a:ln>
                      <a:noFill/>
                    </a:ln>
                    <a:solidFill>
                      <a:schemeClr val="tx1"/>
                    </a:solidFill>
                    <a:effectLst/>
                    <a:latin typeface="Arial" charset="0"/>
                  </a:rPr>
                  <a:t> broker</a:t>
                </a:r>
              </a:p>
            </p:txBody>
          </p:sp>
          <p:sp>
            <p:nvSpPr>
              <p:cNvPr id="11" name="Rectangle 10"/>
              <p:cNvSpPr/>
              <p:nvPr/>
            </p:nvSpPr>
            <p:spPr bwMode="auto">
              <a:xfrm>
                <a:off x="5097016" y="1484784"/>
                <a:ext cx="2160240" cy="1008112"/>
              </a:xfrm>
              <a:prstGeom prst="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b"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800" b="0" i="0" u="none" strike="noStrike" cap="none" normalizeH="0" baseline="0" dirty="0" err="1" smtClean="0">
                    <a:ln>
                      <a:noFill/>
                    </a:ln>
                    <a:solidFill>
                      <a:schemeClr val="tx1"/>
                    </a:solidFill>
                    <a:effectLst/>
                    <a:latin typeface="Arial" charset="0"/>
                  </a:rPr>
                  <a:t>OpenNMS</a:t>
                </a:r>
                <a:endParaRPr kumimoji="0" lang="en-GB" sz="800" b="0" i="0" u="none" strike="noStrike" cap="none" normalizeH="0" baseline="0" dirty="0" smtClean="0">
                  <a:ln>
                    <a:noFill/>
                  </a:ln>
                  <a:solidFill>
                    <a:schemeClr val="tx1"/>
                  </a:solidFill>
                  <a:effectLst/>
                  <a:latin typeface="Arial" charset="0"/>
                </a:endParaRPr>
              </a:p>
            </p:txBody>
          </p:sp>
          <p:sp>
            <p:nvSpPr>
              <p:cNvPr id="12" name="Rounded Rectangle 11"/>
              <p:cNvSpPr/>
              <p:nvPr/>
            </p:nvSpPr>
            <p:spPr bwMode="auto">
              <a:xfrm>
                <a:off x="5385048" y="1628800"/>
                <a:ext cx="1512168" cy="360040"/>
              </a:xfrm>
              <a:prstGeom prst="round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800" b="0" i="0" u="none" strike="noStrike" cap="none" normalizeH="0" baseline="0" dirty="0" err="1" smtClean="0">
                    <a:ln>
                      <a:noFill/>
                    </a:ln>
                    <a:solidFill>
                      <a:schemeClr val="tx1"/>
                    </a:solidFill>
                    <a:effectLst/>
                    <a:latin typeface="Arial" charset="0"/>
                  </a:rPr>
                  <a:t>Mqtt</a:t>
                </a:r>
                <a:r>
                  <a:rPr kumimoji="0" lang="en-GB" sz="800" b="0" i="0" u="none" strike="noStrike" cap="none" normalizeH="0" baseline="0" dirty="0" smtClean="0">
                    <a:ln>
                      <a:noFill/>
                    </a:ln>
                    <a:solidFill>
                      <a:schemeClr val="tx1"/>
                    </a:solidFill>
                    <a:effectLst/>
                    <a:latin typeface="Arial" charset="0"/>
                  </a:rPr>
                  <a:t> Plugin</a:t>
                </a:r>
              </a:p>
            </p:txBody>
          </p:sp>
          <p:sp>
            <p:nvSpPr>
              <p:cNvPr id="13" name="Isosceles Triangle 12"/>
              <p:cNvSpPr/>
              <p:nvPr/>
            </p:nvSpPr>
            <p:spPr bwMode="auto">
              <a:xfrm>
                <a:off x="2024463" y="2306053"/>
                <a:ext cx="1368152" cy="762907"/>
              </a:xfrm>
              <a:prstGeom prst="triangle">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800" b="0" i="0" u="none" strike="noStrike" cap="none" normalizeH="0" baseline="0" dirty="0" err="1" smtClean="0">
                    <a:ln>
                      <a:noFill/>
                    </a:ln>
                    <a:solidFill>
                      <a:schemeClr val="tx1"/>
                    </a:solidFill>
                    <a:effectLst/>
                    <a:latin typeface="Arial" charset="0"/>
                  </a:rPr>
                  <a:t>Mqtt</a:t>
                </a:r>
                <a:r>
                  <a:rPr kumimoji="0" lang="en-GB" sz="800" b="0" i="0" u="none" strike="noStrike" cap="none" normalizeH="0" baseline="0" dirty="0" smtClean="0">
                    <a:ln>
                      <a:noFill/>
                    </a:ln>
                    <a:solidFill>
                      <a:schemeClr val="tx1"/>
                    </a:solidFill>
                    <a:effectLst/>
                    <a:latin typeface="Arial" charset="0"/>
                  </a:rPr>
                  <a:t> broker</a:t>
                </a:r>
              </a:p>
            </p:txBody>
          </p:sp>
          <p:sp>
            <p:nvSpPr>
              <p:cNvPr id="14" name="Rectangle 13"/>
              <p:cNvSpPr/>
              <p:nvPr/>
            </p:nvSpPr>
            <p:spPr bwMode="auto">
              <a:xfrm>
                <a:off x="480120" y="1296380"/>
                <a:ext cx="648072" cy="360040"/>
              </a:xfrm>
              <a:prstGeom prst="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600" b="0" i="0" u="none" strike="noStrike" cap="none" normalizeH="0" baseline="0" dirty="0" err="1" smtClean="0">
                    <a:ln>
                      <a:noFill/>
                    </a:ln>
                    <a:solidFill>
                      <a:schemeClr val="tx1"/>
                    </a:solidFill>
                    <a:effectLst/>
                    <a:latin typeface="Arial" charset="0"/>
                  </a:rPr>
                  <a:t>Mqtt</a:t>
                </a:r>
                <a:r>
                  <a:rPr kumimoji="0" lang="en-GB" sz="600" b="0" i="0" u="none" strike="noStrike" cap="none" normalizeH="0" dirty="0" smtClean="0">
                    <a:ln>
                      <a:noFill/>
                    </a:ln>
                    <a:solidFill>
                      <a:schemeClr val="tx1"/>
                    </a:solidFill>
                    <a:effectLst/>
                    <a:latin typeface="Arial" charset="0"/>
                  </a:rPr>
                  <a:t> device</a:t>
                </a:r>
                <a:endParaRPr kumimoji="0" lang="en-GB" sz="600" b="0" i="0" u="none" strike="noStrike" cap="none" normalizeH="0" baseline="0" dirty="0" smtClean="0">
                  <a:ln>
                    <a:noFill/>
                  </a:ln>
                  <a:solidFill>
                    <a:schemeClr val="tx1"/>
                  </a:solidFill>
                  <a:effectLst/>
                  <a:latin typeface="Arial" charset="0"/>
                </a:endParaRPr>
              </a:p>
            </p:txBody>
          </p:sp>
          <p:sp>
            <p:nvSpPr>
              <p:cNvPr id="15" name="Rectangle 14"/>
              <p:cNvSpPr/>
              <p:nvPr/>
            </p:nvSpPr>
            <p:spPr bwMode="auto">
              <a:xfrm>
                <a:off x="632520" y="1448780"/>
                <a:ext cx="648072" cy="360040"/>
              </a:xfrm>
              <a:prstGeom prst="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600" b="0" i="0" u="none" strike="noStrike" cap="none" normalizeH="0" baseline="0" dirty="0" err="1" smtClean="0">
                    <a:ln>
                      <a:noFill/>
                    </a:ln>
                    <a:solidFill>
                      <a:schemeClr val="tx1"/>
                    </a:solidFill>
                    <a:effectLst/>
                    <a:latin typeface="Arial" charset="0"/>
                  </a:rPr>
                  <a:t>Mqtt</a:t>
                </a:r>
                <a:r>
                  <a:rPr kumimoji="0" lang="en-GB" sz="600" b="0" i="0" u="none" strike="noStrike" cap="none" normalizeH="0" dirty="0" smtClean="0">
                    <a:ln>
                      <a:noFill/>
                    </a:ln>
                    <a:solidFill>
                      <a:schemeClr val="tx1"/>
                    </a:solidFill>
                    <a:effectLst/>
                    <a:latin typeface="Arial" charset="0"/>
                  </a:rPr>
                  <a:t> device</a:t>
                </a:r>
                <a:endParaRPr kumimoji="0" lang="en-GB" sz="600" b="0" i="0" u="none" strike="noStrike" cap="none" normalizeH="0" baseline="0" dirty="0" smtClean="0">
                  <a:ln>
                    <a:noFill/>
                  </a:ln>
                  <a:solidFill>
                    <a:schemeClr val="tx1"/>
                  </a:solidFill>
                  <a:effectLst/>
                  <a:latin typeface="Arial" charset="0"/>
                </a:endParaRPr>
              </a:p>
            </p:txBody>
          </p:sp>
          <p:sp>
            <p:nvSpPr>
              <p:cNvPr id="16" name="Rectangle 15"/>
              <p:cNvSpPr/>
              <p:nvPr/>
            </p:nvSpPr>
            <p:spPr bwMode="auto">
              <a:xfrm>
                <a:off x="784920" y="1601180"/>
                <a:ext cx="648072" cy="360040"/>
              </a:xfrm>
              <a:prstGeom prst="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600" b="0" i="0" u="none" strike="noStrike" cap="none" normalizeH="0" baseline="0" dirty="0" err="1" smtClean="0">
                    <a:ln>
                      <a:noFill/>
                    </a:ln>
                    <a:solidFill>
                      <a:schemeClr val="tx1"/>
                    </a:solidFill>
                    <a:effectLst/>
                    <a:latin typeface="Arial" charset="0"/>
                  </a:rPr>
                  <a:t>Mqtt</a:t>
                </a:r>
                <a:r>
                  <a:rPr kumimoji="0" lang="en-GB" sz="600" b="0" i="0" u="none" strike="noStrike" cap="none" normalizeH="0" dirty="0" smtClean="0">
                    <a:ln>
                      <a:noFill/>
                    </a:ln>
                    <a:solidFill>
                      <a:schemeClr val="tx1"/>
                    </a:solidFill>
                    <a:effectLst/>
                    <a:latin typeface="Arial" charset="0"/>
                  </a:rPr>
                  <a:t> device</a:t>
                </a:r>
                <a:endParaRPr kumimoji="0" lang="en-GB" sz="600" b="0" i="0" u="none" strike="noStrike" cap="none" normalizeH="0" baseline="0" dirty="0" smtClean="0">
                  <a:ln>
                    <a:noFill/>
                  </a:ln>
                  <a:solidFill>
                    <a:schemeClr val="tx1"/>
                  </a:solidFill>
                  <a:effectLst/>
                  <a:latin typeface="Arial" charset="0"/>
                </a:endParaRPr>
              </a:p>
            </p:txBody>
          </p:sp>
          <p:sp>
            <p:nvSpPr>
              <p:cNvPr id="17" name="Rectangle 16"/>
              <p:cNvSpPr/>
              <p:nvPr/>
            </p:nvSpPr>
            <p:spPr bwMode="auto">
              <a:xfrm>
                <a:off x="937320" y="1753580"/>
                <a:ext cx="648072" cy="360040"/>
              </a:xfrm>
              <a:prstGeom prst="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600" b="0" i="0" u="none" strike="noStrike" cap="none" normalizeH="0" baseline="0" dirty="0" err="1" smtClean="0">
                    <a:ln>
                      <a:noFill/>
                    </a:ln>
                    <a:solidFill>
                      <a:schemeClr val="tx1"/>
                    </a:solidFill>
                    <a:effectLst/>
                    <a:latin typeface="Arial" charset="0"/>
                  </a:rPr>
                  <a:t>Mqtt</a:t>
                </a:r>
                <a:r>
                  <a:rPr kumimoji="0" lang="en-GB" sz="600" b="0" i="0" u="none" strike="noStrike" cap="none" normalizeH="0" dirty="0" smtClean="0">
                    <a:ln>
                      <a:noFill/>
                    </a:ln>
                    <a:solidFill>
                      <a:schemeClr val="tx1"/>
                    </a:solidFill>
                    <a:effectLst/>
                    <a:latin typeface="Arial" charset="0"/>
                  </a:rPr>
                  <a:t> device</a:t>
                </a:r>
                <a:endParaRPr kumimoji="0" lang="en-GB" sz="600" b="0" i="0" u="none" strike="noStrike" cap="none" normalizeH="0" baseline="0" dirty="0" smtClean="0">
                  <a:ln>
                    <a:noFill/>
                  </a:ln>
                  <a:solidFill>
                    <a:schemeClr val="tx1"/>
                  </a:solidFill>
                  <a:effectLst/>
                  <a:latin typeface="Arial" charset="0"/>
                </a:endParaRPr>
              </a:p>
            </p:txBody>
          </p:sp>
          <p:sp>
            <p:nvSpPr>
              <p:cNvPr id="18" name="Rectangle 17"/>
              <p:cNvSpPr/>
              <p:nvPr/>
            </p:nvSpPr>
            <p:spPr bwMode="auto">
              <a:xfrm>
                <a:off x="608747" y="2431740"/>
                <a:ext cx="648072" cy="360040"/>
              </a:xfrm>
              <a:prstGeom prst="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600" b="0" i="0" u="none" strike="noStrike" cap="none" normalizeH="0" baseline="0" dirty="0" err="1" smtClean="0">
                    <a:ln>
                      <a:noFill/>
                    </a:ln>
                    <a:solidFill>
                      <a:schemeClr val="tx1"/>
                    </a:solidFill>
                    <a:effectLst/>
                    <a:latin typeface="Arial" charset="0"/>
                  </a:rPr>
                  <a:t>Mqtt</a:t>
                </a:r>
                <a:r>
                  <a:rPr kumimoji="0" lang="en-GB" sz="600" b="0" i="0" u="none" strike="noStrike" cap="none" normalizeH="0" dirty="0" smtClean="0">
                    <a:ln>
                      <a:noFill/>
                    </a:ln>
                    <a:solidFill>
                      <a:schemeClr val="tx1"/>
                    </a:solidFill>
                    <a:effectLst/>
                    <a:latin typeface="Arial" charset="0"/>
                  </a:rPr>
                  <a:t> device</a:t>
                </a:r>
                <a:endParaRPr kumimoji="0" lang="en-GB" sz="600" b="0" i="0" u="none" strike="noStrike" cap="none" normalizeH="0" baseline="0" dirty="0" smtClean="0">
                  <a:ln>
                    <a:noFill/>
                  </a:ln>
                  <a:solidFill>
                    <a:schemeClr val="tx1"/>
                  </a:solidFill>
                  <a:effectLst/>
                  <a:latin typeface="Arial" charset="0"/>
                </a:endParaRPr>
              </a:p>
            </p:txBody>
          </p:sp>
          <p:sp>
            <p:nvSpPr>
              <p:cNvPr id="19" name="Rectangle 18"/>
              <p:cNvSpPr/>
              <p:nvPr/>
            </p:nvSpPr>
            <p:spPr bwMode="auto">
              <a:xfrm>
                <a:off x="761147" y="2584140"/>
                <a:ext cx="648072" cy="360040"/>
              </a:xfrm>
              <a:prstGeom prst="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600" b="0" i="0" u="none" strike="noStrike" cap="none" normalizeH="0" baseline="0" dirty="0" err="1" smtClean="0">
                    <a:ln>
                      <a:noFill/>
                    </a:ln>
                    <a:solidFill>
                      <a:schemeClr val="tx1"/>
                    </a:solidFill>
                    <a:effectLst/>
                    <a:latin typeface="Arial" charset="0"/>
                  </a:rPr>
                  <a:t>Mqtt</a:t>
                </a:r>
                <a:r>
                  <a:rPr kumimoji="0" lang="en-GB" sz="600" b="0" i="0" u="none" strike="noStrike" cap="none" normalizeH="0" dirty="0" smtClean="0">
                    <a:ln>
                      <a:noFill/>
                    </a:ln>
                    <a:solidFill>
                      <a:schemeClr val="tx1"/>
                    </a:solidFill>
                    <a:effectLst/>
                    <a:latin typeface="Arial" charset="0"/>
                  </a:rPr>
                  <a:t> device</a:t>
                </a:r>
                <a:endParaRPr kumimoji="0" lang="en-GB" sz="600" b="0" i="0" u="none" strike="noStrike" cap="none" normalizeH="0" baseline="0" dirty="0" smtClean="0">
                  <a:ln>
                    <a:noFill/>
                  </a:ln>
                  <a:solidFill>
                    <a:schemeClr val="tx1"/>
                  </a:solidFill>
                  <a:effectLst/>
                  <a:latin typeface="Arial" charset="0"/>
                </a:endParaRPr>
              </a:p>
            </p:txBody>
          </p:sp>
          <p:sp>
            <p:nvSpPr>
              <p:cNvPr id="20" name="Rectangle 19"/>
              <p:cNvSpPr/>
              <p:nvPr/>
            </p:nvSpPr>
            <p:spPr bwMode="auto">
              <a:xfrm>
                <a:off x="913547" y="2736540"/>
                <a:ext cx="648072" cy="360040"/>
              </a:xfrm>
              <a:prstGeom prst="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600" b="0" i="0" u="none" strike="noStrike" cap="none" normalizeH="0" baseline="0" dirty="0" err="1" smtClean="0">
                    <a:ln>
                      <a:noFill/>
                    </a:ln>
                    <a:solidFill>
                      <a:schemeClr val="tx1"/>
                    </a:solidFill>
                    <a:effectLst/>
                    <a:latin typeface="Arial" charset="0"/>
                  </a:rPr>
                  <a:t>Mqtt</a:t>
                </a:r>
                <a:r>
                  <a:rPr kumimoji="0" lang="en-GB" sz="600" b="0" i="0" u="none" strike="noStrike" cap="none" normalizeH="0" dirty="0" smtClean="0">
                    <a:ln>
                      <a:noFill/>
                    </a:ln>
                    <a:solidFill>
                      <a:schemeClr val="tx1"/>
                    </a:solidFill>
                    <a:effectLst/>
                    <a:latin typeface="Arial" charset="0"/>
                  </a:rPr>
                  <a:t> device</a:t>
                </a:r>
                <a:endParaRPr kumimoji="0" lang="en-GB" sz="600" b="0" i="0" u="none" strike="noStrike" cap="none" normalizeH="0" baseline="0" dirty="0" smtClean="0">
                  <a:ln>
                    <a:noFill/>
                  </a:ln>
                  <a:solidFill>
                    <a:schemeClr val="tx1"/>
                  </a:solidFill>
                  <a:effectLst/>
                  <a:latin typeface="Arial" charset="0"/>
                </a:endParaRPr>
              </a:p>
            </p:txBody>
          </p:sp>
          <p:sp>
            <p:nvSpPr>
              <p:cNvPr id="21" name="Rectangle 20"/>
              <p:cNvSpPr/>
              <p:nvPr/>
            </p:nvSpPr>
            <p:spPr bwMode="auto">
              <a:xfrm>
                <a:off x="1065947" y="2888940"/>
                <a:ext cx="648072" cy="360040"/>
              </a:xfrm>
              <a:prstGeom prst="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600" b="0" i="0" u="none" strike="noStrike" cap="none" normalizeH="0" baseline="0" dirty="0" err="1" smtClean="0">
                    <a:ln>
                      <a:noFill/>
                    </a:ln>
                    <a:solidFill>
                      <a:schemeClr val="tx1"/>
                    </a:solidFill>
                    <a:effectLst/>
                    <a:latin typeface="Arial" charset="0"/>
                  </a:rPr>
                  <a:t>Mqtt</a:t>
                </a:r>
                <a:r>
                  <a:rPr kumimoji="0" lang="en-GB" sz="600" b="0" i="0" u="none" strike="noStrike" cap="none" normalizeH="0" dirty="0" smtClean="0">
                    <a:ln>
                      <a:noFill/>
                    </a:ln>
                    <a:solidFill>
                      <a:schemeClr val="tx1"/>
                    </a:solidFill>
                    <a:effectLst/>
                    <a:latin typeface="Arial" charset="0"/>
                  </a:rPr>
                  <a:t> device</a:t>
                </a:r>
                <a:endParaRPr kumimoji="0" lang="en-GB" sz="600" b="0" i="0" u="none" strike="noStrike" cap="none" normalizeH="0" baseline="0" dirty="0" smtClean="0">
                  <a:ln>
                    <a:noFill/>
                  </a:ln>
                  <a:solidFill>
                    <a:schemeClr val="tx1"/>
                  </a:solidFill>
                  <a:effectLst/>
                  <a:latin typeface="Arial" charset="0"/>
                </a:endParaRPr>
              </a:p>
            </p:txBody>
          </p:sp>
          <p:cxnSp>
            <p:nvCxnSpPr>
              <p:cNvPr id="22" name="Elbow Connector 21"/>
              <p:cNvCxnSpPr>
                <a:stCxn id="12" idx="1"/>
                <a:endCxn id="10" idx="5"/>
              </p:cNvCxnSpPr>
              <p:nvPr/>
            </p:nvCxnSpPr>
            <p:spPr bwMode="auto">
              <a:xfrm rot="10800000">
                <a:off x="3086472" y="1556792"/>
                <a:ext cx="2298576" cy="252028"/>
              </a:xfrm>
              <a:prstGeom prst="bentConnector3">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Elbow Connector 22"/>
              <p:cNvCxnSpPr>
                <a:stCxn id="12" idx="1"/>
                <a:endCxn id="13" idx="5"/>
              </p:cNvCxnSpPr>
              <p:nvPr/>
            </p:nvCxnSpPr>
            <p:spPr bwMode="auto">
              <a:xfrm rot="10800000" flipV="1">
                <a:off x="3050578" y="1808819"/>
                <a:ext cx="2334471" cy="878687"/>
              </a:xfrm>
              <a:prstGeom prst="bentConnector3">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Elbow Connector 23"/>
              <p:cNvCxnSpPr>
                <a:stCxn id="15" idx="3"/>
                <a:endCxn id="10" idx="1"/>
              </p:cNvCxnSpPr>
              <p:nvPr/>
            </p:nvCxnSpPr>
            <p:spPr bwMode="auto">
              <a:xfrm flipV="1">
                <a:off x="1280592" y="1556792"/>
                <a:ext cx="1121804" cy="72008"/>
              </a:xfrm>
              <a:prstGeom prst="bentConnector3">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Elbow Connector 24"/>
              <p:cNvCxnSpPr>
                <a:stCxn id="19" idx="3"/>
              </p:cNvCxnSpPr>
              <p:nvPr/>
            </p:nvCxnSpPr>
            <p:spPr bwMode="auto">
              <a:xfrm flipV="1">
                <a:off x="1409219" y="2736540"/>
                <a:ext cx="879485" cy="27620"/>
              </a:xfrm>
              <a:prstGeom prst="bentConnector3">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pic>
          <p:nvPicPr>
            <p:cNvPr id="6" name="Picture 2" descr="C:\aaaGitRepos\tmforumhack2017\TMForumVancouver2017Hack\documentation\workup\activeMQlogo.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33920" y="1865294"/>
              <a:ext cx="448507" cy="16396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C:\Users\cgallen\Documents\workfolder\entimoss\events\2018-09-19-OUCE\workup\Mosquit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36750" y="2074508"/>
              <a:ext cx="328330" cy="35468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3" descr="C:\Users\cgallen\Documents\workfolder\entimoss\events\2018-09-19-OUCE\workup\HiveMQ.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89529" y="2444842"/>
              <a:ext cx="700809" cy="25692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4227352" y="1251737"/>
              <a:ext cx="2325281" cy="298447"/>
            </a:xfrm>
            <a:prstGeom prst="rect">
              <a:avLst/>
            </a:prstGeom>
            <a:noFill/>
          </p:spPr>
          <p:txBody>
            <a:bodyPr wrap="none" rtlCol="0">
              <a:spAutoFit/>
            </a:bodyPr>
            <a:lstStyle/>
            <a:p>
              <a:r>
                <a:rPr lang="en-GB" sz="800" dirty="0" smtClean="0"/>
                <a:t>Can connect to multiple clients</a:t>
              </a:r>
              <a:endParaRPr lang="en-GB" sz="800" dirty="0"/>
            </a:p>
          </p:txBody>
        </p:sp>
      </p:grpSp>
      <p:sp>
        <p:nvSpPr>
          <p:cNvPr id="26" name="TextBox 25"/>
          <p:cNvSpPr txBox="1"/>
          <p:nvPr/>
        </p:nvSpPr>
        <p:spPr>
          <a:xfrm>
            <a:off x="409961" y="2594934"/>
            <a:ext cx="6672019" cy="3893374"/>
          </a:xfrm>
          <a:prstGeom prst="rect">
            <a:avLst/>
          </a:prstGeom>
          <a:noFill/>
        </p:spPr>
        <p:txBody>
          <a:bodyPr wrap="none" rtlCol="0">
            <a:spAutoFit/>
          </a:bodyPr>
          <a:lstStyle/>
          <a:p>
            <a:pPr algn="l"/>
            <a:r>
              <a:rPr lang="en-GB" sz="1300" dirty="0"/>
              <a:t>  </a:t>
            </a:r>
            <a:r>
              <a:rPr lang="en-GB" sz="1300" dirty="0" smtClean="0"/>
              <a:t>  </a:t>
            </a:r>
            <a:r>
              <a:rPr lang="en-GB" sz="1300" dirty="0"/>
              <a:t>&lt;</a:t>
            </a:r>
            <a:r>
              <a:rPr lang="en-GB" sz="1300" dirty="0" err="1"/>
              <a:t>mqttClients</a:t>
            </a:r>
            <a:r>
              <a:rPr lang="en-GB" sz="1300" dirty="0"/>
              <a:t>&gt;</a:t>
            </a:r>
          </a:p>
          <a:p>
            <a:pPr algn="l"/>
            <a:r>
              <a:rPr lang="en-GB" sz="1300" dirty="0"/>
              <a:t>    &lt;client </a:t>
            </a:r>
            <a:r>
              <a:rPr lang="en-GB" sz="1300" dirty="0" err="1"/>
              <a:t>clientInstanceId</a:t>
            </a:r>
            <a:r>
              <a:rPr lang="en-GB" sz="1300" dirty="0"/>
              <a:t>="client1"&gt;</a:t>
            </a:r>
          </a:p>
          <a:p>
            <a:pPr algn="l"/>
            <a:r>
              <a:rPr lang="en-GB" sz="1300" dirty="0"/>
              <a:t>      &lt;</a:t>
            </a:r>
            <a:r>
              <a:rPr lang="en-GB" sz="1300" dirty="0" err="1"/>
              <a:t>brokerUrl</a:t>
            </a:r>
            <a:r>
              <a:rPr lang="en-GB" sz="1300" dirty="0"/>
              <a:t>&gt;tcp://localhost:1883&lt;/brokerUrl&gt;</a:t>
            </a:r>
          </a:p>
          <a:p>
            <a:pPr algn="l"/>
            <a:r>
              <a:rPr lang="en-GB" sz="1300" dirty="0"/>
              <a:t>      &lt;</a:t>
            </a:r>
            <a:r>
              <a:rPr lang="en-GB" sz="1300" dirty="0" err="1"/>
              <a:t>clientId</a:t>
            </a:r>
            <a:r>
              <a:rPr lang="en-GB" sz="1300" dirty="0"/>
              <a:t>&gt;</a:t>
            </a:r>
            <a:r>
              <a:rPr lang="en-GB" sz="1300" dirty="0" err="1"/>
              <a:t>opennms</a:t>
            </a:r>
            <a:r>
              <a:rPr lang="en-GB" sz="1300" dirty="0"/>
              <a:t>&lt;/</a:t>
            </a:r>
            <a:r>
              <a:rPr lang="en-GB" sz="1300" dirty="0" err="1"/>
              <a:t>clientId</a:t>
            </a:r>
            <a:r>
              <a:rPr lang="en-GB" sz="1300" dirty="0"/>
              <a:t>&gt;</a:t>
            </a:r>
          </a:p>
          <a:p>
            <a:pPr algn="l"/>
            <a:r>
              <a:rPr lang="en-GB" sz="1300" dirty="0"/>
              <a:t>      &lt;</a:t>
            </a:r>
            <a:r>
              <a:rPr lang="en-GB" sz="1300" dirty="0" err="1"/>
              <a:t>connectionRetryInterval</a:t>
            </a:r>
            <a:r>
              <a:rPr lang="en-GB" sz="1300" dirty="0"/>
              <a:t>&gt;3000&lt;/</a:t>
            </a:r>
            <a:r>
              <a:rPr lang="en-GB" sz="1300" dirty="0" err="1"/>
              <a:t>connectionRetryInterval</a:t>
            </a:r>
            <a:r>
              <a:rPr lang="en-GB" sz="1300" dirty="0"/>
              <a:t>&gt;</a:t>
            </a:r>
          </a:p>
          <a:p>
            <a:pPr algn="l"/>
            <a:r>
              <a:rPr lang="en-GB" sz="1300" dirty="0"/>
              <a:t>      &lt;</a:t>
            </a:r>
            <a:r>
              <a:rPr lang="en-GB" sz="1300" dirty="0" err="1"/>
              <a:t>clientConnectionMaxWait</a:t>
            </a:r>
            <a:r>
              <a:rPr lang="en-GB" sz="1300" dirty="0"/>
              <a:t>&gt;20000&lt;/</a:t>
            </a:r>
            <a:r>
              <a:rPr lang="en-GB" sz="1300" dirty="0" err="1"/>
              <a:t>clientConnectionMaxWait</a:t>
            </a:r>
            <a:r>
              <a:rPr lang="en-GB" sz="1300" dirty="0"/>
              <a:t>&gt;</a:t>
            </a:r>
          </a:p>
          <a:p>
            <a:pPr algn="l"/>
            <a:r>
              <a:rPr lang="en-GB" sz="1300" dirty="0"/>
              <a:t>      &lt;</a:t>
            </a:r>
            <a:r>
              <a:rPr lang="en-GB" sz="1300" dirty="0" err="1"/>
              <a:t>topicList</a:t>
            </a:r>
            <a:r>
              <a:rPr lang="en-GB" sz="1300" dirty="0"/>
              <a:t>&gt;</a:t>
            </a:r>
          </a:p>
          <a:p>
            <a:pPr algn="l"/>
            <a:r>
              <a:rPr lang="en-GB" sz="1300" dirty="0"/>
              <a:t>        &lt;topic </a:t>
            </a:r>
            <a:r>
              <a:rPr lang="en-GB" sz="1300" dirty="0" err="1"/>
              <a:t>qos</a:t>
            </a:r>
            <a:r>
              <a:rPr lang="en-GB" sz="1300" dirty="0"/>
              <a:t>="0" topic="</a:t>
            </a:r>
            <a:r>
              <a:rPr lang="en-GB" sz="1300" dirty="0" err="1"/>
              <a:t>mqtt</a:t>
            </a:r>
            <a:r>
              <a:rPr lang="en-GB" sz="1300" dirty="0"/>
              <a:t>-events/#" /&gt;</a:t>
            </a:r>
          </a:p>
          <a:p>
            <a:pPr algn="l"/>
            <a:r>
              <a:rPr lang="en-GB" sz="1300" dirty="0"/>
              <a:t>        &lt;topic </a:t>
            </a:r>
            <a:r>
              <a:rPr lang="en-GB" sz="1300" dirty="0" err="1"/>
              <a:t>qos</a:t>
            </a:r>
            <a:r>
              <a:rPr lang="en-GB" sz="1300" dirty="0"/>
              <a:t>="0" topic="</a:t>
            </a:r>
            <a:r>
              <a:rPr lang="en-GB" sz="1300" dirty="0" err="1"/>
              <a:t>mqtt</a:t>
            </a:r>
            <a:r>
              <a:rPr lang="en-GB" sz="1300" dirty="0"/>
              <a:t>-data" /&gt;</a:t>
            </a:r>
          </a:p>
          <a:p>
            <a:pPr algn="l"/>
            <a:r>
              <a:rPr lang="en-GB" sz="1300" dirty="0"/>
              <a:t>      &lt;/</a:t>
            </a:r>
            <a:r>
              <a:rPr lang="en-GB" sz="1300" dirty="0" err="1"/>
              <a:t>topicList</a:t>
            </a:r>
            <a:r>
              <a:rPr lang="en-GB" sz="1300" dirty="0"/>
              <a:t>&gt;</a:t>
            </a:r>
          </a:p>
          <a:p>
            <a:pPr algn="l"/>
            <a:r>
              <a:rPr lang="en-GB" sz="1300" dirty="0"/>
              <a:t>      &lt;</a:t>
            </a:r>
            <a:r>
              <a:rPr lang="en-GB" sz="1300" dirty="0" err="1"/>
              <a:t>userName</a:t>
            </a:r>
            <a:r>
              <a:rPr lang="en-GB" sz="1300" dirty="0"/>
              <a:t>&gt;</a:t>
            </a:r>
            <a:r>
              <a:rPr lang="en-GB" sz="1300" dirty="0" err="1"/>
              <a:t>mqtt</a:t>
            </a:r>
            <a:r>
              <a:rPr lang="en-GB" sz="1300" dirty="0"/>
              <a:t>-user&lt;/</a:t>
            </a:r>
            <a:r>
              <a:rPr lang="en-GB" sz="1300" dirty="0" err="1"/>
              <a:t>userName</a:t>
            </a:r>
            <a:r>
              <a:rPr lang="en-GB" sz="1300" dirty="0"/>
              <a:t>&gt;</a:t>
            </a:r>
          </a:p>
          <a:p>
            <a:pPr algn="l"/>
            <a:r>
              <a:rPr lang="en-GB" sz="1300" dirty="0"/>
              <a:t>      &lt;password&gt;</a:t>
            </a:r>
            <a:r>
              <a:rPr lang="en-GB" sz="1300" dirty="0" err="1"/>
              <a:t>mqtt</a:t>
            </a:r>
            <a:r>
              <a:rPr lang="en-GB" sz="1300" dirty="0"/>
              <a:t>-password&lt;/password&gt;</a:t>
            </a:r>
          </a:p>
          <a:p>
            <a:pPr algn="l"/>
            <a:endParaRPr lang="en-GB" sz="1300" dirty="0"/>
          </a:p>
          <a:p>
            <a:pPr algn="l"/>
            <a:r>
              <a:rPr lang="en-GB" sz="1300" dirty="0"/>
              <a:t>     </a:t>
            </a:r>
            <a:r>
              <a:rPr lang="en-GB" sz="1300" dirty="0" smtClean="0"/>
              <a:t>      </a:t>
            </a:r>
            <a:endParaRPr lang="en-GB" sz="1300" dirty="0"/>
          </a:p>
          <a:p>
            <a:pPr algn="l"/>
            <a:r>
              <a:rPr lang="en-GB" sz="1300" dirty="0"/>
              <a:t>      </a:t>
            </a:r>
            <a:r>
              <a:rPr lang="en-GB" sz="1300" dirty="0" smtClean="0"/>
              <a:t>    </a:t>
            </a:r>
            <a:r>
              <a:rPr lang="en-GB" sz="1300" dirty="0"/>
              <a:t>&lt;</a:t>
            </a:r>
            <a:r>
              <a:rPr lang="en-GB" sz="1300" dirty="0" err="1"/>
              <a:t>certificateFile</a:t>
            </a:r>
            <a:r>
              <a:rPr lang="en-GB" sz="1300" dirty="0"/>
              <a:t>&gt;put absolute path to </a:t>
            </a:r>
            <a:r>
              <a:rPr lang="en-GB" sz="1300" dirty="0" err="1"/>
              <a:t>certificate.pem</a:t>
            </a:r>
            <a:r>
              <a:rPr lang="en-GB" sz="1300" dirty="0"/>
              <a:t> file here&lt;/</a:t>
            </a:r>
            <a:r>
              <a:rPr lang="en-GB" sz="1300" dirty="0" err="1"/>
              <a:t>certificateFile</a:t>
            </a:r>
            <a:r>
              <a:rPr lang="en-GB" sz="1300" dirty="0"/>
              <a:t>&gt; </a:t>
            </a:r>
            <a:r>
              <a:rPr lang="en-GB" sz="1300" dirty="0" smtClean="0"/>
              <a:t>   </a:t>
            </a:r>
            <a:endParaRPr lang="en-GB" sz="1300" dirty="0"/>
          </a:p>
          <a:p>
            <a:pPr algn="l"/>
            <a:r>
              <a:rPr lang="en-GB" sz="1300" dirty="0"/>
              <a:t>      </a:t>
            </a:r>
            <a:r>
              <a:rPr lang="en-GB" sz="1300" dirty="0" smtClean="0"/>
              <a:t>    </a:t>
            </a:r>
            <a:r>
              <a:rPr lang="en-GB" sz="1300" dirty="0"/>
              <a:t>&lt;</a:t>
            </a:r>
            <a:r>
              <a:rPr lang="en-GB" sz="1300" dirty="0" err="1"/>
              <a:t>privateKeyFile</a:t>
            </a:r>
            <a:r>
              <a:rPr lang="en-GB" sz="1300" dirty="0"/>
              <a:t>&gt;put absolute path to </a:t>
            </a:r>
            <a:r>
              <a:rPr lang="en-GB" sz="1300" dirty="0" err="1"/>
              <a:t>private.key</a:t>
            </a:r>
            <a:r>
              <a:rPr lang="en-GB" sz="1300" dirty="0"/>
              <a:t> file here&lt;/</a:t>
            </a:r>
            <a:r>
              <a:rPr lang="en-GB" sz="1300" dirty="0" err="1"/>
              <a:t>privateKeyFile</a:t>
            </a:r>
            <a:r>
              <a:rPr lang="en-GB" sz="1300" dirty="0"/>
              <a:t>&gt; </a:t>
            </a:r>
            <a:r>
              <a:rPr lang="en-GB" sz="1300" dirty="0" smtClean="0"/>
              <a:t>   </a:t>
            </a:r>
            <a:endParaRPr lang="en-GB" sz="1300" dirty="0"/>
          </a:p>
          <a:p>
            <a:pPr algn="l"/>
            <a:r>
              <a:rPr lang="en-GB" sz="1300" dirty="0"/>
              <a:t>      </a:t>
            </a:r>
            <a:r>
              <a:rPr lang="en-GB" sz="1300" dirty="0" smtClean="0"/>
              <a:t>    </a:t>
            </a:r>
            <a:r>
              <a:rPr lang="en-GB" sz="1300" dirty="0"/>
              <a:t>&lt;</a:t>
            </a:r>
            <a:r>
              <a:rPr lang="en-GB" sz="1300" dirty="0" err="1"/>
              <a:t>brokerUrl</a:t>
            </a:r>
            <a:r>
              <a:rPr lang="en-GB" sz="1300" dirty="0"/>
              <a:t>&gt;ssl://{iot end point}:8883&lt;/</a:t>
            </a:r>
            <a:r>
              <a:rPr lang="en-GB" sz="1300" dirty="0" err="1"/>
              <a:t>brokerUrl</a:t>
            </a:r>
            <a:r>
              <a:rPr lang="en-GB" sz="1300" dirty="0"/>
              <a:t>&gt; </a:t>
            </a:r>
            <a:r>
              <a:rPr lang="en-GB" sz="1300" dirty="0" smtClean="0"/>
              <a:t>   </a:t>
            </a:r>
            <a:endParaRPr lang="en-GB" sz="1300" dirty="0"/>
          </a:p>
          <a:p>
            <a:pPr algn="l"/>
            <a:r>
              <a:rPr lang="en-GB" sz="1300" dirty="0"/>
              <a:t>    &lt;/client&gt;</a:t>
            </a:r>
          </a:p>
          <a:p>
            <a:pPr algn="l"/>
            <a:r>
              <a:rPr lang="en-GB" sz="1300" dirty="0"/>
              <a:t>&lt;/</a:t>
            </a:r>
            <a:r>
              <a:rPr lang="en-GB" sz="1300" dirty="0" err="1"/>
              <a:t>mqttClients</a:t>
            </a:r>
            <a:r>
              <a:rPr lang="en-GB" sz="1300" dirty="0"/>
              <a:t>&gt;</a:t>
            </a:r>
          </a:p>
        </p:txBody>
      </p:sp>
      <p:sp>
        <p:nvSpPr>
          <p:cNvPr id="27" name="TextBox 26"/>
          <p:cNvSpPr txBox="1"/>
          <p:nvPr/>
        </p:nvSpPr>
        <p:spPr>
          <a:xfrm>
            <a:off x="5441504" y="1081432"/>
            <a:ext cx="4464496" cy="4493538"/>
          </a:xfrm>
          <a:prstGeom prst="rect">
            <a:avLst/>
          </a:prstGeom>
          <a:noFill/>
        </p:spPr>
        <p:txBody>
          <a:bodyPr wrap="square" rtlCol="0">
            <a:spAutoFit/>
          </a:bodyPr>
          <a:lstStyle>
            <a:defPPr>
              <a:defRPr lang="en-GB"/>
            </a:defPPr>
            <a:lvl1pPr algn="l">
              <a:defRPr sz="1300"/>
            </a:lvl1pPr>
          </a:lstStyle>
          <a:p>
            <a:pPr marL="285750" indent="-285750">
              <a:buFont typeface="Arial" panose="020B0604020202020204" pitchFamily="34" charset="0"/>
              <a:buChar char="•"/>
            </a:pPr>
            <a:r>
              <a:rPr lang="en-GB" dirty="0" smtClean="0"/>
              <a:t>The </a:t>
            </a:r>
            <a:r>
              <a:rPr lang="en-GB" b="1" dirty="0" err="1" smtClean="0"/>
              <a:t>clientinstanceId</a:t>
            </a:r>
            <a:r>
              <a:rPr lang="en-GB" dirty="0" smtClean="0"/>
              <a:t> identifies the client in </a:t>
            </a:r>
            <a:r>
              <a:rPr lang="en-GB" dirty="0" err="1" smtClean="0"/>
              <a:t>OpenMS</a:t>
            </a:r>
            <a:r>
              <a:rPr lang="en-GB" dirty="0" smtClean="0"/>
              <a:t> and must be unique</a:t>
            </a:r>
          </a:p>
          <a:p>
            <a:pPr marL="285750" indent="-285750">
              <a:buFont typeface="Arial" panose="020B0604020202020204" pitchFamily="34" charset="0"/>
              <a:buChar char="•"/>
            </a:pPr>
            <a:r>
              <a:rPr lang="en-GB" dirty="0" smtClean="0"/>
              <a:t>the </a:t>
            </a:r>
            <a:r>
              <a:rPr lang="en-GB" b="1" dirty="0" err="1" smtClean="0"/>
              <a:t>clientid</a:t>
            </a:r>
            <a:r>
              <a:rPr lang="en-GB" dirty="0" smtClean="0"/>
              <a:t> </a:t>
            </a:r>
            <a:r>
              <a:rPr lang="en-GB" dirty="0"/>
              <a:t>must be unique for a given </a:t>
            </a:r>
            <a:r>
              <a:rPr lang="en-GB" dirty="0" err="1"/>
              <a:t>mqtt</a:t>
            </a:r>
            <a:r>
              <a:rPr lang="en-GB" dirty="0"/>
              <a:t> broker </a:t>
            </a:r>
          </a:p>
          <a:p>
            <a:pPr marL="742950" lvl="1" indent="-285750" algn="l">
              <a:buFont typeface="Arial" panose="020B0604020202020204" pitchFamily="34" charset="0"/>
              <a:buChar char="•"/>
            </a:pPr>
            <a:r>
              <a:rPr lang="en-GB" sz="1300" dirty="0" smtClean="0"/>
              <a:t>the </a:t>
            </a:r>
            <a:r>
              <a:rPr lang="en-GB" sz="1300" dirty="0" err="1"/>
              <a:t>clientConnectionMaxWait</a:t>
            </a:r>
            <a:r>
              <a:rPr lang="en-GB" sz="1300" dirty="0"/>
              <a:t> </a:t>
            </a:r>
            <a:r>
              <a:rPr lang="en-GB" sz="1300" dirty="0" err="1"/>
              <a:t>tetermins</a:t>
            </a:r>
            <a:r>
              <a:rPr lang="en-GB" sz="1300" dirty="0"/>
              <a:t> the time the client will wait for the broker to respond before abandoning a connection attempt </a:t>
            </a:r>
            <a:r>
              <a:rPr lang="en-GB" sz="1300" dirty="0" smtClean="0"/>
              <a:t>   </a:t>
            </a:r>
            <a:endParaRPr lang="en-GB" sz="1300" dirty="0"/>
          </a:p>
          <a:p>
            <a:pPr marL="742950" lvl="1" indent="-285750" algn="l">
              <a:buFont typeface="Arial" panose="020B0604020202020204" pitchFamily="34" charset="0"/>
              <a:buChar char="•"/>
            </a:pPr>
            <a:r>
              <a:rPr lang="en-GB" sz="1300" dirty="0"/>
              <a:t> the </a:t>
            </a:r>
            <a:r>
              <a:rPr lang="en-GB" sz="1300" dirty="0" err="1"/>
              <a:t>connectionRetryInterval</a:t>
            </a:r>
            <a:r>
              <a:rPr lang="en-GB" sz="1300" dirty="0"/>
              <a:t> is the interval before the client will try again to connect after failing to connect previously </a:t>
            </a:r>
          </a:p>
          <a:p>
            <a:r>
              <a:rPr lang="en-GB" dirty="0" smtClean="0"/>
              <a:t>    </a:t>
            </a:r>
          </a:p>
          <a:p>
            <a:pPr marL="285750" indent="-285750">
              <a:buFont typeface="Arial" panose="020B0604020202020204" pitchFamily="34" charset="0"/>
              <a:buChar char="•"/>
            </a:pPr>
            <a:r>
              <a:rPr lang="en-GB" dirty="0" smtClean="0"/>
              <a:t> </a:t>
            </a:r>
            <a:r>
              <a:rPr lang="en-GB" dirty="0"/>
              <a:t>the topic list determines which topics the client will subscribe to once it has established a connection </a:t>
            </a:r>
            <a:r>
              <a:rPr lang="en-GB" dirty="0" smtClean="0"/>
              <a:t>   </a:t>
            </a:r>
            <a:endParaRPr lang="en-GB" dirty="0"/>
          </a:p>
          <a:p>
            <a:pPr marL="285750" indent="-285750">
              <a:buFont typeface="Arial" panose="020B0604020202020204" pitchFamily="34" charset="0"/>
              <a:buChar char="•"/>
            </a:pPr>
            <a:r>
              <a:rPr lang="en-GB" dirty="0" smtClean="0"/>
              <a:t>The </a:t>
            </a:r>
            <a:r>
              <a:rPr lang="en-GB" b="1" dirty="0"/>
              <a:t>subscribed topic</a:t>
            </a:r>
            <a:r>
              <a:rPr lang="en-GB" dirty="0"/>
              <a:t> can also be a filter e.g. topic="/+/foo/# </a:t>
            </a:r>
            <a:r>
              <a:rPr lang="en-GB" dirty="0" smtClean="0"/>
              <a:t>   </a:t>
            </a:r>
            <a:endParaRPr lang="en-GB" dirty="0"/>
          </a:p>
          <a:p>
            <a:pPr marL="285750" indent="-285750">
              <a:buFont typeface="Arial" panose="020B0604020202020204" pitchFamily="34" charset="0"/>
              <a:buChar char="•"/>
            </a:pPr>
            <a:endParaRPr lang="en-GB" dirty="0" smtClean="0"/>
          </a:p>
          <a:p>
            <a:pPr marL="285750" indent="-285750">
              <a:buFont typeface="Arial" panose="020B0604020202020204" pitchFamily="34" charset="0"/>
              <a:buChar char="•"/>
            </a:pPr>
            <a:r>
              <a:rPr lang="en-GB" dirty="0" smtClean="0"/>
              <a:t>If </a:t>
            </a:r>
            <a:r>
              <a:rPr lang="en-GB" dirty="0"/>
              <a:t>you are using TLS you must provide both certificate and key </a:t>
            </a:r>
            <a:r>
              <a:rPr lang="en-GB" dirty="0" smtClean="0"/>
              <a:t>files.  </a:t>
            </a:r>
            <a:r>
              <a:rPr lang="en-GB" dirty="0"/>
              <a:t>If both are omitted from the configuration TLS will not be used </a:t>
            </a:r>
            <a:r>
              <a:rPr lang="en-GB" dirty="0" smtClean="0"/>
              <a:t> </a:t>
            </a:r>
            <a:endParaRPr lang="en-GB" dirty="0"/>
          </a:p>
          <a:p>
            <a:pPr marL="285750" indent="-285750">
              <a:buFont typeface="Arial" panose="020B0604020202020204" pitchFamily="34" charset="0"/>
              <a:buChar char="•"/>
            </a:pPr>
            <a:r>
              <a:rPr lang="en-GB" dirty="0"/>
              <a:t> </a:t>
            </a:r>
            <a:r>
              <a:rPr lang="en-GB" dirty="0" smtClean="0"/>
              <a:t>with </a:t>
            </a:r>
            <a:r>
              <a:rPr lang="en-GB" dirty="0"/>
              <a:t>AMAZON </a:t>
            </a:r>
            <a:r>
              <a:rPr lang="en-GB" dirty="0" err="1"/>
              <a:t>IoT</a:t>
            </a:r>
            <a:r>
              <a:rPr lang="en-GB" dirty="0"/>
              <a:t>, the certificate and key files can be generated for you </a:t>
            </a:r>
            <a:r>
              <a:rPr lang="en-GB" dirty="0" smtClean="0"/>
              <a:t>. These  </a:t>
            </a:r>
            <a:r>
              <a:rPr lang="en-GB" dirty="0"/>
              <a:t>are tied to a specific client id and </a:t>
            </a:r>
            <a:r>
              <a:rPr lang="en-GB" dirty="0" err="1"/>
              <a:t>IoT</a:t>
            </a:r>
            <a:r>
              <a:rPr lang="en-GB" dirty="0"/>
              <a:t> end point </a:t>
            </a:r>
            <a:r>
              <a:rPr lang="en-GB" dirty="0" smtClean="0"/>
              <a:t>   </a:t>
            </a:r>
            <a:endParaRPr lang="en-GB" dirty="0"/>
          </a:p>
          <a:p>
            <a:pPr marL="285750" indent="-285750">
              <a:buFont typeface="Arial" panose="020B0604020202020204" pitchFamily="34" charset="0"/>
              <a:buChar char="•"/>
            </a:pPr>
            <a:endParaRPr lang="en-GB" dirty="0"/>
          </a:p>
        </p:txBody>
      </p:sp>
      <p:grpSp>
        <p:nvGrpSpPr>
          <p:cNvPr id="36" name="Group 35"/>
          <p:cNvGrpSpPr/>
          <p:nvPr/>
        </p:nvGrpSpPr>
        <p:grpSpPr>
          <a:xfrm>
            <a:off x="1265014" y="1632300"/>
            <a:ext cx="4176490" cy="1868709"/>
            <a:chOff x="1265014" y="1632300"/>
            <a:chExt cx="4176490" cy="1868709"/>
          </a:xfrm>
        </p:grpSpPr>
        <p:sp>
          <p:nvSpPr>
            <p:cNvPr id="28" name="Oval 27"/>
            <p:cNvSpPr/>
            <p:nvPr/>
          </p:nvSpPr>
          <p:spPr bwMode="auto">
            <a:xfrm>
              <a:off x="1265014" y="3171765"/>
              <a:ext cx="1128185" cy="329244"/>
            </a:xfrm>
            <a:prstGeom prst="ellipse">
              <a:avLst/>
            </a:prstGeom>
            <a:noFill/>
            <a:ln w="9525" cap="flat" cmpd="sng" algn="ctr">
              <a:solidFill>
                <a:srgbClr val="FF0000"/>
              </a:solidFill>
              <a:prstDash val="solid"/>
              <a:round/>
              <a:headEnd type="none" w="sm" len="sm"/>
              <a:tailEnd type="triangle" w="sm" len="sm"/>
            </a:ln>
            <a:effectLst/>
            <a:extLst/>
          </p:spPr>
          <p:txBody>
            <a:bodyPr vert="horz" wrap="square" lIns="82800" tIns="46800" rIns="82800" bIns="46800" numCol="1" rtlCol="0" anchor="ctr" anchorCtr="0" compatLnSpc="1">
              <a:prstTxWarp prst="textNoShape">
                <a:avLst/>
              </a:prstTxWarp>
            </a:bodyPr>
            <a:lstStyle/>
            <a:p>
              <a:endParaRPr lang="en-GB">
                <a:latin typeface="Arial" charset="0"/>
              </a:endParaRPr>
            </a:p>
          </p:txBody>
        </p:sp>
        <p:cxnSp>
          <p:nvCxnSpPr>
            <p:cNvPr id="30" name="Elbow Connector 29"/>
            <p:cNvCxnSpPr>
              <a:stCxn id="28" idx="6"/>
            </p:cNvCxnSpPr>
            <p:nvPr/>
          </p:nvCxnSpPr>
          <p:spPr bwMode="auto">
            <a:xfrm flipV="1">
              <a:off x="2393199" y="1632300"/>
              <a:ext cx="3048305" cy="1704087"/>
            </a:xfrm>
            <a:prstGeom prst="bentConnector3">
              <a:avLst>
                <a:gd name="adj1" fmla="val 91908"/>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7" name="Group 36"/>
          <p:cNvGrpSpPr/>
          <p:nvPr/>
        </p:nvGrpSpPr>
        <p:grpSpPr>
          <a:xfrm>
            <a:off x="2337819" y="3645024"/>
            <a:ext cx="3335261" cy="608672"/>
            <a:chOff x="1265014" y="2892337"/>
            <a:chExt cx="3335261" cy="608672"/>
          </a:xfrm>
        </p:grpSpPr>
        <p:sp>
          <p:nvSpPr>
            <p:cNvPr id="38" name="Oval 37"/>
            <p:cNvSpPr/>
            <p:nvPr/>
          </p:nvSpPr>
          <p:spPr bwMode="auto">
            <a:xfrm>
              <a:off x="1265014" y="3171765"/>
              <a:ext cx="1128185" cy="329244"/>
            </a:xfrm>
            <a:prstGeom prst="ellipse">
              <a:avLst/>
            </a:prstGeom>
            <a:noFill/>
            <a:ln w="9525" cap="flat" cmpd="sng" algn="ctr">
              <a:solidFill>
                <a:srgbClr val="FF0000"/>
              </a:solidFill>
              <a:prstDash val="solid"/>
              <a:round/>
              <a:headEnd type="none" w="sm" len="sm"/>
              <a:tailEnd type="triangle" w="sm" len="sm"/>
            </a:ln>
            <a:effectLst/>
            <a:extLst/>
          </p:spPr>
          <p:txBody>
            <a:bodyPr vert="horz" wrap="square" lIns="82800" tIns="46800" rIns="82800" bIns="46800" numCol="1" rtlCol="0" anchor="ctr" anchorCtr="0" compatLnSpc="1">
              <a:prstTxWarp prst="textNoShape">
                <a:avLst/>
              </a:prstTxWarp>
            </a:bodyPr>
            <a:lstStyle/>
            <a:p>
              <a:endParaRPr lang="en-GB">
                <a:latin typeface="Arial" charset="0"/>
              </a:endParaRPr>
            </a:p>
          </p:txBody>
        </p:sp>
        <p:cxnSp>
          <p:nvCxnSpPr>
            <p:cNvPr id="39" name="Elbow Connector 38"/>
            <p:cNvCxnSpPr>
              <a:stCxn id="38" idx="6"/>
            </p:cNvCxnSpPr>
            <p:nvPr/>
          </p:nvCxnSpPr>
          <p:spPr bwMode="auto">
            <a:xfrm flipV="1">
              <a:off x="2393199" y="2892337"/>
              <a:ext cx="2207076" cy="444050"/>
            </a:xfrm>
            <a:prstGeom prst="bentConnector3">
              <a:avLst>
                <a:gd name="adj1" fmla="val 90821"/>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14503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Message Data parsers</a:t>
            </a:r>
            <a:endParaRPr lang="en-GB" dirty="0"/>
          </a:p>
        </p:txBody>
      </p:sp>
      <p:sp>
        <p:nvSpPr>
          <p:cNvPr id="10" name="TextBox 9"/>
          <p:cNvSpPr txBox="1"/>
          <p:nvPr/>
        </p:nvSpPr>
        <p:spPr>
          <a:xfrm>
            <a:off x="488504" y="812812"/>
            <a:ext cx="9289032" cy="5693866"/>
          </a:xfrm>
          <a:prstGeom prst="rect">
            <a:avLst/>
          </a:prstGeom>
          <a:noFill/>
        </p:spPr>
        <p:txBody>
          <a:bodyPr wrap="square" rtlCol="0">
            <a:spAutoFit/>
          </a:bodyPr>
          <a:lstStyle/>
          <a:p>
            <a:pPr algn="l"/>
            <a:r>
              <a:rPr lang="en-GB" sz="1300" dirty="0"/>
              <a:t> </a:t>
            </a:r>
            <a:r>
              <a:rPr lang="en-GB" sz="1300" b="1" dirty="0" smtClean="0"/>
              <a:t>message </a:t>
            </a:r>
            <a:r>
              <a:rPr lang="en-GB" sz="1300" b="1" dirty="0"/>
              <a:t>data parsers</a:t>
            </a:r>
            <a:r>
              <a:rPr lang="en-GB" sz="1300" dirty="0"/>
              <a:t> define how data messages are converted </a:t>
            </a:r>
            <a:r>
              <a:rPr lang="en-GB" sz="1300" dirty="0" smtClean="0"/>
              <a:t>to </a:t>
            </a:r>
            <a:r>
              <a:rPr lang="en-GB" sz="1300" dirty="0"/>
              <a:t>metrics to </a:t>
            </a:r>
            <a:r>
              <a:rPr lang="en-GB" sz="1300" dirty="0" smtClean="0"/>
              <a:t>be </a:t>
            </a:r>
            <a:r>
              <a:rPr lang="en-GB" sz="1300" dirty="0"/>
              <a:t>stored in RRD's or Cassandra by </a:t>
            </a:r>
            <a:r>
              <a:rPr lang="en-GB" sz="1300" dirty="0" err="1"/>
              <a:t>OpenNMS</a:t>
            </a:r>
            <a:r>
              <a:rPr lang="en-GB" sz="1300" dirty="0"/>
              <a:t> </a:t>
            </a:r>
            <a:endParaRPr lang="en-GB" sz="1300" dirty="0" smtClean="0"/>
          </a:p>
          <a:p>
            <a:pPr algn="l"/>
            <a:r>
              <a:rPr lang="en-GB" sz="1300" dirty="0" smtClean="0"/>
              <a:t>   </a:t>
            </a:r>
            <a:endParaRPr lang="en-GB" sz="1300" dirty="0"/>
          </a:p>
          <a:p>
            <a:pPr algn="l"/>
            <a:r>
              <a:rPr lang="en-GB" sz="1300" b="1" dirty="0" err="1" smtClean="0"/>
              <a:t>subscriptionTopics</a:t>
            </a:r>
            <a:r>
              <a:rPr lang="en-GB" sz="1300" b="1" dirty="0" smtClean="0"/>
              <a:t> </a:t>
            </a:r>
            <a:r>
              <a:rPr lang="en-GB" sz="1300" dirty="0"/>
              <a:t>defines which topic messages will be passed to this parser</a:t>
            </a:r>
            <a:r>
              <a:rPr lang="en-GB" sz="1300" dirty="0" smtClean="0"/>
              <a:t>. Can be a filter    </a:t>
            </a:r>
            <a:endParaRPr lang="en-GB" sz="1300" dirty="0"/>
          </a:p>
          <a:p>
            <a:pPr algn="l"/>
            <a:r>
              <a:rPr lang="en-GB" sz="1300" dirty="0"/>
              <a:t> </a:t>
            </a:r>
            <a:r>
              <a:rPr lang="en-GB" sz="1300" dirty="0" smtClean="0"/>
              <a:t>many </a:t>
            </a:r>
            <a:r>
              <a:rPr lang="en-GB" sz="1300" dirty="0" err="1"/>
              <a:t>messageDataParsers</a:t>
            </a:r>
            <a:r>
              <a:rPr lang="en-GB" sz="1300" dirty="0"/>
              <a:t> can be defined but only one per topic although events can also be driven off the same topic) </a:t>
            </a:r>
            <a:r>
              <a:rPr lang="en-GB" sz="1300" dirty="0" smtClean="0"/>
              <a:t>   </a:t>
            </a:r>
          </a:p>
          <a:p>
            <a:pPr algn="l"/>
            <a:endParaRPr lang="en-GB" sz="1300" dirty="0" smtClean="0"/>
          </a:p>
          <a:p>
            <a:pPr algn="l"/>
            <a:r>
              <a:rPr lang="en-GB" sz="1300" b="1" dirty="0" err="1" smtClean="0"/>
              <a:t>payloadType</a:t>
            </a:r>
            <a:r>
              <a:rPr lang="en-GB" sz="1300" dirty="0" smtClean="0"/>
              <a:t> </a:t>
            </a:r>
            <a:r>
              <a:rPr lang="en-GB" sz="1300" dirty="0"/>
              <a:t>determines how the payload is parsed; JSON, XML, PROTOBUF or TEXT.   </a:t>
            </a:r>
          </a:p>
          <a:p>
            <a:pPr algn="l"/>
            <a:r>
              <a:rPr lang="en-GB" sz="1300" dirty="0"/>
              <a:t>  </a:t>
            </a:r>
          </a:p>
          <a:p>
            <a:pPr algn="l"/>
            <a:r>
              <a:rPr lang="en-GB" sz="1300" b="1" dirty="0" err="1" smtClean="0"/>
              <a:t>foreignSource</a:t>
            </a:r>
            <a:r>
              <a:rPr lang="en-GB" sz="1300" b="1" dirty="0" smtClean="0"/>
              <a:t> </a:t>
            </a:r>
            <a:r>
              <a:rPr lang="en-GB" sz="1300" dirty="0"/>
              <a:t>defines the foreign source to be used when referencing or creating a new node    </a:t>
            </a:r>
          </a:p>
          <a:p>
            <a:pPr algn="l"/>
            <a:r>
              <a:rPr lang="en-GB" sz="1300" dirty="0"/>
              <a:t>    </a:t>
            </a:r>
          </a:p>
          <a:p>
            <a:pPr algn="l"/>
            <a:r>
              <a:rPr lang="en-GB" sz="1300" dirty="0"/>
              <a:t>    compression determines the processing of compressed messages GZIP, UNCOMPRESSED, AUTOMATIC_GZIP    </a:t>
            </a:r>
          </a:p>
          <a:p>
            <a:pPr algn="l"/>
            <a:r>
              <a:rPr lang="en-GB" sz="1300" dirty="0"/>
              <a:t>        (tries to guess if </a:t>
            </a:r>
            <a:r>
              <a:rPr lang="en-GB" sz="1300" dirty="0" err="1"/>
              <a:t>gzip</a:t>
            </a:r>
            <a:r>
              <a:rPr lang="en-GB" sz="1300" dirty="0"/>
              <a:t> compressed - small chance of false positives)    </a:t>
            </a:r>
          </a:p>
          <a:p>
            <a:pPr algn="l"/>
            <a:endParaRPr lang="en-GB" sz="1300" dirty="0"/>
          </a:p>
          <a:p>
            <a:pPr algn="l"/>
            <a:r>
              <a:rPr lang="en-GB" sz="1300" b="1" dirty="0" smtClean="0"/>
              <a:t>&lt;</a:t>
            </a:r>
            <a:r>
              <a:rPr lang="en-GB" sz="1300" b="1" dirty="0" err="1"/>
              <a:t>messageDataParsers</a:t>
            </a:r>
            <a:r>
              <a:rPr lang="en-GB" sz="1300" b="1" dirty="0"/>
              <a:t>&gt;</a:t>
            </a:r>
          </a:p>
          <a:p>
            <a:pPr algn="l"/>
            <a:r>
              <a:rPr lang="en-GB" sz="1300" dirty="0"/>
              <a:t>    </a:t>
            </a:r>
            <a:r>
              <a:rPr lang="en-GB" sz="1300" dirty="0" smtClean="0"/>
              <a:t> </a:t>
            </a:r>
            <a:endParaRPr lang="en-GB" sz="1300" dirty="0"/>
          </a:p>
          <a:p>
            <a:pPr algn="l"/>
            <a:r>
              <a:rPr lang="en-GB" sz="1300" dirty="0"/>
              <a:t>    </a:t>
            </a:r>
            <a:r>
              <a:rPr lang="en-GB" sz="1300" b="1" dirty="0"/>
              <a:t>&lt;</a:t>
            </a:r>
            <a:r>
              <a:rPr lang="en-GB" sz="1300" b="1" dirty="0" err="1"/>
              <a:t>messageDataParser</a:t>
            </a:r>
            <a:r>
              <a:rPr lang="en-GB" sz="1300" b="1" dirty="0"/>
              <a:t> </a:t>
            </a:r>
            <a:r>
              <a:rPr lang="en-GB" sz="1300" b="1" dirty="0" err="1"/>
              <a:t>foreignSource</a:t>
            </a:r>
            <a:r>
              <a:rPr lang="en-GB" sz="1300" b="1" dirty="0"/>
              <a:t>="</a:t>
            </a:r>
            <a:r>
              <a:rPr lang="en-GB" sz="1300" b="1" dirty="0" err="1"/>
              <a:t>mqtt</a:t>
            </a:r>
            <a:r>
              <a:rPr lang="en-GB" sz="1300" b="1" dirty="0"/>
              <a:t>" </a:t>
            </a:r>
            <a:r>
              <a:rPr lang="en-GB" sz="1300" b="1" dirty="0" err="1"/>
              <a:t>payloadType</a:t>
            </a:r>
            <a:r>
              <a:rPr lang="en-GB" sz="1300" b="1" dirty="0"/>
              <a:t>="JSON" compression="UNCOMPRESSED</a:t>
            </a:r>
            <a:r>
              <a:rPr lang="en-GB" sz="1300" b="1" dirty="0" smtClean="0"/>
              <a:t>"&gt;</a:t>
            </a:r>
          </a:p>
          <a:p>
            <a:pPr algn="l"/>
            <a:endParaRPr lang="en-GB" sz="1300" b="1" dirty="0"/>
          </a:p>
          <a:p>
            <a:pPr algn="l"/>
            <a:r>
              <a:rPr lang="en-GB" sz="1300" dirty="0"/>
              <a:t>      &lt;</a:t>
            </a:r>
            <a:r>
              <a:rPr lang="en-GB" sz="1300" dirty="0" err="1"/>
              <a:t>subscriptionTopics</a:t>
            </a:r>
            <a:r>
              <a:rPr lang="en-GB" sz="1300" dirty="0"/>
              <a:t>&gt;</a:t>
            </a:r>
          </a:p>
          <a:p>
            <a:pPr algn="l"/>
            <a:r>
              <a:rPr lang="en-GB" sz="1300" dirty="0"/>
              <a:t>        &lt;topic&gt;</a:t>
            </a:r>
            <a:r>
              <a:rPr lang="en-GB" sz="1300" dirty="0" err="1"/>
              <a:t>mqtt</a:t>
            </a:r>
            <a:r>
              <a:rPr lang="en-GB" sz="1300" dirty="0"/>
              <a:t>-data&lt;/topic</a:t>
            </a:r>
            <a:r>
              <a:rPr lang="en-GB" sz="1300" dirty="0" smtClean="0"/>
              <a:t>&gt;</a:t>
            </a:r>
          </a:p>
          <a:p>
            <a:pPr algn="l"/>
            <a:r>
              <a:rPr lang="en-GB" sz="1300" dirty="0"/>
              <a:t>           </a:t>
            </a:r>
            <a:r>
              <a:rPr lang="en-GB" sz="1300" dirty="0" smtClean="0"/>
              <a:t>    </a:t>
            </a:r>
            <a:r>
              <a:rPr lang="en-GB" sz="1300" dirty="0"/>
              <a:t>to match data topic PMc178e3c2.6637eiot-2/type/</a:t>
            </a:r>
            <a:r>
              <a:rPr lang="en-GB" sz="1300" dirty="0" err="1"/>
              <a:t>mosquitto</a:t>
            </a:r>
            <a:r>
              <a:rPr lang="en-GB" sz="1300" dirty="0"/>
              <a:t>/id/00-08-00-4A-4F-F6/</a:t>
            </a:r>
            <a:r>
              <a:rPr lang="en-GB" sz="1300" dirty="0" err="1"/>
              <a:t>evt</a:t>
            </a:r>
            <a:r>
              <a:rPr lang="en-GB" sz="1300" dirty="0"/>
              <a:t>/</a:t>
            </a:r>
            <a:r>
              <a:rPr lang="en-GB" sz="1300" dirty="0" err="1"/>
              <a:t>datapoint</a:t>
            </a:r>
            <a:r>
              <a:rPr lang="en-GB" sz="1300" dirty="0"/>
              <a:t>/</a:t>
            </a:r>
            <a:r>
              <a:rPr lang="en-GB" sz="1300" dirty="0" err="1"/>
              <a:t>fmt</a:t>
            </a:r>
            <a:r>
              <a:rPr lang="en-GB" sz="1300" dirty="0"/>
              <a:t>/</a:t>
            </a:r>
            <a:r>
              <a:rPr lang="en-GB" sz="1300" dirty="0" err="1"/>
              <a:t>json</a:t>
            </a:r>
            <a:r>
              <a:rPr lang="en-GB" sz="1300" dirty="0"/>
              <a:t> </a:t>
            </a:r>
            <a:r>
              <a:rPr lang="en-GB" sz="1300" dirty="0" smtClean="0"/>
              <a:t>   </a:t>
            </a:r>
            <a:endParaRPr lang="en-GB" sz="1300" dirty="0"/>
          </a:p>
          <a:p>
            <a:pPr algn="l"/>
            <a:r>
              <a:rPr lang="en-GB" sz="1300" dirty="0" smtClean="0"/>
              <a:t>         &lt;</a:t>
            </a:r>
            <a:r>
              <a:rPr lang="en-GB" sz="1300" dirty="0"/>
              <a:t>topic&gt;PMc178e3c2.6637eiot-2/type/</a:t>
            </a:r>
            <a:r>
              <a:rPr lang="en-GB" sz="1300" dirty="0" err="1"/>
              <a:t>mosquitto</a:t>
            </a:r>
            <a:r>
              <a:rPr lang="en-GB" sz="1300" dirty="0"/>
              <a:t>/id/+/</a:t>
            </a:r>
            <a:r>
              <a:rPr lang="en-GB" sz="1300" dirty="0" err="1"/>
              <a:t>evt</a:t>
            </a:r>
            <a:r>
              <a:rPr lang="en-GB" sz="1300" dirty="0"/>
              <a:t>/</a:t>
            </a:r>
            <a:r>
              <a:rPr lang="en-GB" sz="1300" dirty="0" err="1"/>
              <a:t>datapoint</a:t>
            </a:r>
            <a:r>
              <a:rPr lang="en-GB" sz="1300" dirty="0"/>
              <a:t>/</a:t>
            </a:r>
            <a:r>
              <a:rPr lang="en-GB" sz="1300" dirty="0" err="1"/>
              <a:t>fmt</a:t>
            </a:r>
            <a:r>
              <a:rPr lang="en-GB" sz="1300" dirty="0"/>
              <a:t>/</a:t>
            </a:r>
            <a:r>
              <a:rPr lang="en-GB" sz="1300" dirty="0" err="1"/>
              <a:t>json</a:t>
            </a:r>
            <a:r>
              <a:rPr lang="en-GB" sz="1300" dirty="0"/>
              <a:t>&lt;/topic&gt;</a:t>
            </a:r>
          </a:p>
          <a:p>
            <a:pPr algn="l"/>
            <a:r>
              <a:rPr lang="en-GB" sz="1300" dirty="0"/>
              <a:t>      &lt;/</a:t>
            </a:r>
            <a:r>
              <a:rPr lang="en-GB" sz="1300" dirty="0" err="1"/>
              <a:t>subscriptionTopics</a:t>
            </a:r>
            <a:r>
              <a:rPr lang="en-GB" sz="1300" dirty="0" smtClean="0"/>
              <a:t>&gt;</a:t>
            </a:r>
          </a:p>
          <a:p>
            <a:pPr algn="l"/>
            <a:endParaRPr lang="en-GB" sz="1300" dirty="0"/>
          </a:p>
          <a:p>
            <a:pPr algn="l"/>
            <a:r>
              <a:rPr lang="en-GB" sz="1300" dirty="0"/>
              <a:t>     </a:t>
            </a:r>
            <a:r>
              <a:rPr lang="en-GB" sz="1300" dirty="0" smtClean="0"/>
              <a:t>      &lt;xml-groups&gt;</a:t>
            </a:r>
          </a:p>
          <a:p>
            <a:pPr algn="l"/>
            <a:r>
              <a:rPr lang="en-GB" sz="1300" dirty="0" smtClean="0"/>
              <a:t>           &lt;/xml-groups&gt;</a:t>
            </a:r>
          </a:p>
          <a:p>
            <a:pPr algn="l"/>
            <a:r>
              <a:rPr lang="en-GB" sz="1300" dirty="0" smtClean="0"/>
              <a:t>       &lt;/</a:t>
            </a:r>
            <a:r>
              <a:rPr lang="en-GB" sz="1300" dirty="0" err="1" smtClean="0"/>
              <a:t>messageDataParser</a:t>
            </a:r>
            <a:r>
              <a:rPr lang="en-GB" sz="1300" dirty="0" smtClean="0"/>
              <a:t>&gt;</a:t>
            </a:r>
          </a:p>
          <a:p>
            <a:pPr algn="l"/>
            <a:endParaRPr lang="en-GB" sz="1300" dirty="0" smtClean="0"/>
          </a:p>
          <a:p>
            <a:pPr algn="l"/>
            <a:r>
              <a:rPr lang="en-GB" sz="1300" b="1" dirty="0" smtClean="0"/>
              <a:t>  &lt;/</a:t>
            </a:r>
            <a:r>
              <a:rPr lang="en-GB" sz="1300" b="1" dirty="0" err="1" smtClean="0"/>
              <a:t>messageDataParsers</a:t>
            </a:r>
            <a:r>
              <a:rPr lang="en-GB" sz="1300" b="1" dirty="0" smtClean="0"/>
              <a:t>&gt;</a:t>
            </a:r>
            <a:endParaRPr lang="en-GB" sz="1300" dirty="0" smtClean="0"/>
          </a:p>
        </p:txBody>
      </p:sp>
      <p:sp>
        <p:nvSpPr>
          <p:cNvPr id="3" name="TextBox 2"/>
          <p:cNvSpPr txBox="1"/>
          <p:nvPr/>
        </p:nvSpPr>
        <p:spPr>
          <a:xfrm>
            <a:off x="3512840" y="5727739"/>
            <a:ext cx="5784631" cy="646331"/>
          </a:xfrm>
          <a:prstGeom prst="rect">
            <a:avLst/>
          </a:prstGeom>
          <a:noFill/>
        </p:spPr>
        <p:txBody>
          <a:bodyPr wrap="square" rtlCol="0">
            <a:spAutoFit/>
          </a:bodyPr>
          <a:lstStyle/>
          <a:p>
            <a:r>
              <a:rPr lang="en-GB" b="1" dirty="0" smtClean="0"/>
              <a:t>Similar JXPATH configuration to Alejandro’s XML data collector </a:t>
            </a:r>
            <a:endParaRPr lang="en-GB" b="1" dirty="0"/>
          </a:p>
        </p:txBody>
      </p:sp>
    </p:spTree>
    <p:extLst>
      <p:ext uri="{BB962C8B-B14F-4D97-AF65-F5344CB8AC3E}">
        <p14:creationId xmlns:p14="http://schemas.microsoft.com/office/powerpoint/2010/main" val="368123045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Example Complex Payload</a:t>
            </a:r>
            <a:endParaRPr lang="en-GB" dirty="0"/>
          </a:p>
        </p:txBody>
      </p:sp>
      <p:sp>
        <p:nvSpPr>
          <p:cNvPr id="3" name="Content Placeholder 2"/>
          <p:cNvSpPr>
            <a:spLocks noGrp="1"/>
          </p:cNvSpPr>
          <p:nvPr>
            <p:ph idx="1"/>
          </p:nvPr>
        </p:nvSpPr>
        <p:spPr>
          <a:xfrm>
            <a:off x="448784" y="5090284"/>
            <a:ext cx="1824459" cy="573832"/>
          </a:xfrm>
        </p:spPr>
        <p:txBody>
          <a:bodyPr/>
          <a:lstStyle/>
          <a:p>
            <a:pPr marL="0" indent="0">
              <a:buNone/>
            </a:pPr>
            <a:r>
              <a:rPr lang="en-GB" sz="1400" dirty="0" smtClean="0"/>
              <a:t>Note each zone in array generates own data set</a:t>
            </a:r>
            <a:endParaRPr lang="en-GB" sz="1400" dirty="0"/>
          </a:p>
        </p:txBody>
      </p:sp>
      <p:sp>
        <p:nvSpPr>
          <p:cNvPr id="4" name="TextBox 3"/>
          <p:cNvSpPr txBox="1"/>
          <p:nvPr/>
        </p:nvSpPr>
        <p:spPr>
          <a:xfrm>
            <a:off x="133894" y="648247"/>
            <a:ext cx="3688830" cy="4693593"/>
          </a:xfrm>
          <a:prstGeom prst="rect">
            <a:avLst/>
          </a:prstGeom>
          <a:noFill/>
        </p:spPr>
        <p:txBody>
          <a:bodyPr wrap="none" rtlCol="0">
            <a:spAutoFit/>
          </a:bodyPr>
          <a:lstStyle/>
          <a:p>
            <a:pPr algn="l"/>
            <a:r>
              <a:rPr lang="en-GB" sz="1300" dirty="0"/>
              <a:t>{</a:t>
            </a:r>
          </a:p>
          <a:p>
            <a:pPr algn="l"/>
            <a:r>
              <a:rPr lang="en-GB" sz="1300" dirty="0"/>
              <a:t>   "zones": [ {</a:t>
            </a:r>
          </a:p>
          <a:p>
            <a:pPr algn="l"/>
            <a:r>
              <a:rPr lang="en-GB" sz="1300" dirty="0"/>
              <a:t>     "zone" : {</a:t>
            </a:r>
          </a:p>
          <a:p>
            <a:pPr algn="l"/>
            <a:r>
              <a:rPr lang="en-GB" sz="1300" dirty="0"/>
              <a:t>       "id" : 0,</a:t>
            </a:r>
          </a:p>
          <a:p>
            <a:pPr algn="l"/>
            <a:r>
              <a:rPr lang="en-GB" sz="1300" dirty="0"/>
              <a:t>       "name" : "global",</a:t>
            </a:r>
          </a:p>
          <a:p>
            <a:pPr algn="l"/>
            <a:r>
              <a:rPr lang="en-GB" sz="1300" dirty="0"/>
              <a:t>       "timestamp" : 1299258888,</a:t>
            </a:r>
          </a:p>
          <a:p>
            <a:pPr algn="l"/>
            <a:r>
              <a:rPr lang="en-GB" sz="1300" dirty="0"/>
              <a:t>       "parameter" : [</a:t>
            </a:r>
          </a:p>
          <a:p>
            <a:pPr algn="l"/>
            <a:r>
              <a:rPr lang="en-GB" sz="1300" dirty="0"/>
              <a:t>         { "key" : "</a:t>
            </a:r>
            <a:r>
              <a:rPr lang="en-GB" sz="1300" dirty="0" err="1"/>
              <a:t>nproc</a:t>
            </a:r>
            <a:r>
              <a:rPr lang="en-GB" sz="1300" dirty="0"/>
              <a:t>", "value" : "245" },</a:t>
            </a:r>
          </a:p>
          <a:p>
            <a:pPr algn="l"/>
            <a:r>
              <a:rPr lang="en-GB" sz="1300" dirty="0"/>
              <a:t>         { "key" : "</a:t>
            </a:r>
            <a:r>
              <a:rPr lang="en-GB" sz="1300" dirty="0" err="1"/>
              <a:t>nlwp</a:t>
            </a:r>
            <a:r>
              <a:rPr lang="en-GB" sz="1300" dirty="0"/>
              <a:t>", "value" : "1455" },</a:t>
            </a:r>
          </a:p>
          <a:p>
            <a:pPr algn="l"/>
            <a:r>
              <a:rPr lang="en-GB" sz="1300" dirty="0"/>
              <a:t>         { "key" : "</a:t>
            </a:r>
            <a:r>
              <a:rPr lang="en-GB" sz="1300" dirty="0" err="1"/>
              <a:t>pr_size</a:t>
            </a:r>
            <a:r>
              <a:rPr lang="en-GB" sz="1300" dirty="0"/>
              <a:t>", "value" : "2646864" },</a:t>
            </a:r>
          </a:p>
          <a:p>
            <a:pPr algn="l"/>
            <a:r>
              <a:rPr lang="en-GB" sz="1300" dirty="0"/>
              <a:t>         { "key" : "</a:t>
            </a:r>
            <a:r>
              <a:rPr lang="en-GB" sz="1300" dirty="0" err="1"/>
              <a:t>pr_rssize</a:t>
            </a:r>
            <a:r>
              <a:rPr lang="en-GB" sz="1300" dirty="0"/>
              <a:t>", "value" : "1851072" },</a:t>
            </a:r>
          </a:p>
          <a:p>
            <a:pPr algn="l"/>
            <a:r>
              <a:rPr lang="en-GB" sz="1300" dirty="0"/>
              <a:t>         { "key" : "</a:t>
            </a:r>
            <a:r>
              <a:rPr lang="en-GB" sz="1300" dirty="0" err="1"/>
              <a:t>pctmem</a:t>
            </a:r>
            <a:r>
              <a:rPr lang="en-GB" sz="1300" dirty="0"/>
              <a:t>", "value" : "0.7" },</a:t>
            </a:r>
          </a:p>
          <a:p>
            <a:pPr algn="l"/>
            <a:r>
              <a:rPr lang="en-GB" sz="1300" dirty="0"/>
              <a:t>         { "key" : "</a:t>
            </a:r>
            <a:r>
              <a:rPr lang="en-GB" sz="1300" dirty="0" err="1"/>
              <a:t>pctcpu</a:t>
            </a:r>
            <a:r>
              <a:rPr lang="en-GB" sz="1300" dirty="0"/>
              <a:t>", "value" : "0.24" }</a:t>
            </a:r>
          </a:p>
          <a:p>
            <a:pPr algn="l"/>
            <a:r>
              <a:rPr lang="en-GB" sz="1300" dirty="0"/>
              <a:t>       ]</a:t>
            </a:r>
          </a:p>
          <a:p>
            <a:pPr algn="l"/>
            <a:r>
              <a:rPr lang="en-GB" sz="1300" dirty="0"/>
              <a:t>     }</a:t>
            </a:r>
          </a:p>
          <a:p>
            <a:pPr algn="l"/>
            <a:r>
              <a:rPr lang="en-GB" sz="1300" dirty="0"/>
              <a:t>     },</a:t>
            </a:r>
          </a:p>
          <a:p>
            <a:pPr algn="l"/>
            <a:r>
              <a:rPr lang="en-GB" sz="1300" dirty="0"/>
              <a:t>     {"zone" : {</a:t>
            </a:r>
          </a:p>
          <a:p>
            <a:pPr algn="l"/>
            <a:r>
              <a:rPr lang="en-GB" sz="1300" dirty="0"/>
              <a:t>       "id" : 871,</a:t>
            </a:r>
          </a:p>
          <a:p>
            <a:pPr algn="l"/>
            <a:r>
              <a:rPr lang="en-GB" sz="1300" dirty="0"/>
              <a:t>       "name" : "zone1",</a:t>
            </a:r>
          </a:p>
          <a:p>
            <a:pPr algn="l"/>
            <a:r>
              <a:rPr lang="en-GB" sz="1300" dirty="0"/>
              <a:t>     </a:t>
            </a:r>
            <a:r>
              <a:rPr lang="en-GB" sz="1300" dirty="0" smtClean="0"/>
              <a:t>     </a:t>
            </a:r>
            <a:r>
              <a:rPr lang="en-GB" sz="1300" dirty="0"/>
              <a:t>}</a:t>
            </a:r>
          </a:p>
          <a:p>
            <a:pPr algn="l"/>
            <a:r>
              <a:rPr lang="en-GB" sz="1300" dirty="0"/>
              <a:t>     }</a:t>
            </a:r>
          </a:p>
          <a:p>
            <a:pPr algn="l"/>
            <a:r>
              <a:rPr lang="en-GB" sz="1300" dirty="0"/>
              <a:t>   ]</a:t>
            </a:r>
          </a:p>
          <a:p>
            <a:pPr algn="l"/>
            <a:endParaRPr lang="en-GB" sz="1300" dirty="0"/>
          </a:p>
        </p:txBody>
      </p:sp>
      <p:sp>
        <p:nvSpPr>
          <p:cNvPr id="38" name="TextBox 37"/>
          <p:cNvSpPr txBox="1"/>
          <p:nvPr/>
        </p:nvSpPr>
        <p:spPr>
          <a:xfrm>
            <a:off x="2273152" y="3356992"/>
            <a:ext cx="7632848" cy="3293209"/>
          </a:xfrm>
          <a:prstGeom prst="rect">
            <a:avLst/>
          </a:prstGeom>
          <a:noFill/>
        </p:spPr>
        <p:txBody>
          <a:bodyPr wrap="square" rtlCol="0">
            <a:spAutoFit/>
          </a:bodyPr>
          <a:lstStyle/>
          <a:p>
            <a:pPr algn="l"/>
            <a:r>
              <a:rPr lang="en-GB" sz="1300" dirty="0"/>
              <a:t>&lt;?xml version="1.0" encoding="UTF-8" ?&gt;</a:t>
            </a:r>
          </a:p>
          <a:p>
            <a:pPr algn="l"/>
            <a:r>
              <a:rPr lang="en-GB" sz="1300" dirty="0"/>
              <a:t>&lt;xml-groups </a:t>
            </a:r>
            <a:r>
              <a:rPr lang="en-GB" sz="1300" dirty="0" err="1"/>
              <a:t>xmlns</a:t>
            </a:r>
            <a:r>
              <a:rPr lang="en-GB" sz="1300" dirty="0"/>
              <a:t>="http://xmlns.opennms.org/</a:t>
            </a:r>
            <a:r>
              <a:rPr lang="en-GB" sz="1300" dirty="0" err="1"/>
              <a:t>xsd</a:t>
            </a:r>
            <a:r>
              <a:rPr lang="en-GB" sz="1300" dirty="0"/>
              <a:t>/</a:t>
            </a:r>
            <a:r>
              <a:rPr lang="en-GB" sz="1300" dirty="0" err="1"/>
              <a:t>config</a:t>
            </a:r>
            <a:r>
              <a:rPr lang="en-GB" sz="1300" dirty="0"/>
              <a:t>/xml-</a:t>
            </a:r>
            <a:r>
              <a:rPr lang="en-GB" sz="1300" dirty="0" err="1"/>
              <a:t>datacollection</a:t>
            </a:r>
            <a:r>
              <a:rPr lang="en-GB" sz="1300" dirty="0"/>
              <a:t>"&gt;</a:t>
            </a:r>
          </a:p>
          <a:p>
            <a:pPr algn="l"/>
            <a:r>
              <a:rPr lang="en-GB" sz="1300" dirty="0"/>
              <a:t>  &lt;xml-group name="</a:t>
            </a:r>
            <a:r>
              <a:rPr lang="en-GB" sz="1300" dirty="0" err="1"/>
              <a:t>solaris</a:t>
            </a:r>
            <a:r>
              <a:rPr lang="en-GB" sz="1300" dirty="0"/>
              <a:t>-zone-stats" resource-type="</a:t>
            </a:r>
            <a:r>
              <a:rPr lang="en-GB" sz="1300" dirty="0" err="1"/>
              <a:t>solarisZone</a:t>
            </a:r>
            <a:r>
              <a:rPr lang="en-GB" sz="1300" dirty="0"/>
              <a:t>" </a:t>
            </a:r>
            <a:endParaRPr lang="en-GB" sz="1300" dirty="0" smtClean="0"/>
          </a:p>
          <a:p>
            <a:pPr algn="l"/>
            <a:r>
              <a:rPr lang="en-GB" sz="1300" dirty="0"/>
              <a:t> </a:t>
            </a:r>
            <a:r>
              <a:rPr lang="en-GB" sz="1300" dirty="0" smtClean="0"/>
              <a:t>  resource-</a:t>
            </a:r>
            <a:r>
              <a:rPr lang="en-GB" sz="1300" dirty="0" err="1" smtClean="0"/>
              <a:t>xpath</a:t>
            </a:r>
            <a:r>
              <a:rPr lang="en-GB" sz="1300" dirty="0"/>
              <a:t>="/zones/zone" key-</a:t>
            </a:r>
            <a:r>
              <a:rPr lang="en-GB" sz="1300" dirty="0" err="1"/>
              <a:t>xpath</a:t>
            </a:r>
            <a:r>
              <a:rPr lang="en-GB" sz="1300" dirty="0"/>
              <a:t>="@name" </a:t>
            </a:r>
            <a:r>
              <a:rPr lang="en-GB" sz="1300" dirty="0" smtClean="0"/>
              <a:t>  </a:t>
            </a:r>
            <a:r>
              <a:rPr lang="en-GB" sz="1300" dirty="0"/>
              <a:t>timestamp-</a:t>
            </a:r>
            <a:r>
              <a:rPr lang="en-GB" sz="1300" dirty="0" err="1"/>
              <a:t>xpath</a:t>
            </a:r>
            <a:r>
              <a:rPr lang="en-GB" sz="1300" dirty="0"/>
              <a:t>="@timestamp" </a:t>
            </a:r>
            <a:endParaRPr lang="en-GB" sz="1300" dirty="0" smtClean="0"/>
          </a:p>
          <a:p>
            <a:pPr algn="l"/>
            <a:r>
              <a:rPr lang="en-GB" sz="1300" dirty="0"/>
              <a:t> </a:t>
            </a:r>
            <a:r>
              <a:rPr lang="en-GB" sz="1300" dirty="0" smtClean="0"/>
              <a:t> timestamp-format</a:t>
            </a:r>
            <a:r>
              <a:rPr lang="en-GB" sz="1300" dirty="0"/>
              <a:t>=""&gt; </a:t>
            </a:r>
            <a:endParaRPr lang="en-GB" sz="1300" dirty="0" smtClean="0"/>
          </a:p>
          <a:p>
            <a:pPr algn="l"/>
            <a:r>
              <a:rPr lang="en-GB" sz="1300" dirty="0" smtClean="0"/>
              <a:t>    empty format </a:t>
            </a:r>
            <a:r>
              <a:rPr lang="en-GB" sz="1300" dirty="0"/>
              <a:t>indicates simple timestamp from epoch (</a:t>
            </a:r>
            <a:r>
              <a:rPr lang="en-GB" sz="1300" dirty="0" err="1"/>
              <a:t>Date.toString</a:t>
            </a:r>
            <a:r>
              <a:rPr lang="en-GB" sz="1300" dirty="0"/>
              <a:t>()) </a:t>
            </a:r>
            <a:r>
              <a:rPr lang="en-GB" sz="1300" dirty="0" smtClean="0"/>
              <a:t>    </a:t>
            </a:r>
            <a:endParaRPr lang="en-GB" sz="1300" dirty="0"/>
          </a:p>
          <a:p>
            <a:pPr algn="l"/>
            <a:r>
              <a:rPr lang="en-GB" sz="1300" dirty="0"/>
              <a:t>    &lt;xml-object name="</a:t>
            </a:r>
            <a:r>
              <a:rPr lang="en-GB" sz="1300" dirty="0" err="1"/>
              <a:t>zoneName</a:t>
            </a:r>
            <a:r>
              <a:rPr lang="en-GB" sz="1300" dirty="0"/>
              <a:t>" type="string" </a:t>
            </a:r>
            <a:r>
              <a:rPr lang="en-GB" sz="1300" dirty="0" err="1"/>
              <a:t>xpath</a:t>
            </a:r>
            <a:r>
              <a:rPr lang="en-GB" sz="1300" dirty="0"/>
              <a:t>="@name" /&gt;</a:t>
            </a:r>
          </a:p>
          <a:p>
            <a:pPr algn="l"/>
            <a:r>
              <a:rPr lang="en-GB" sz="1300" dirty="0"/>
              <a:t>    &lt;xml-object name="timestamp" type="string" </a:t>
            </a:r>
            <a:r>
              <a:rPr lang="en-GB" sz="1300" dirty="0" err="1"/>
              <a:t>xpath</a:t>
            </a:r>
            <a:r>
              <a:rPr lang="en-GB" sz="1300" dirty="0"/>
              <a:t>="@timestamp" /&gt;</a:t>
            </a:r>
          </a:p>
          <a:p>
            <a:pPr algn="l"/>
            <a:r>
              <a:rPr lang="en-GB" sz="1300" dirty="0"/>
              <a:t>    &lt;xml-object name="</a:t>
            </a:r>
            <a:r>
              <a:rPr lang="en-GB" sz="1300" dirty="0" err="1"/>
              <a:t>nproc</a:t>
            </a:r>
            <a:r>
              <a:rPr lang="en-GB" sz="1300" dirty="0"/>
              <a:t>" type="GAUGE" </a:t>
            </a:r>
            <a:r>
              <a:rPr lang="en-GB" sz="1300" dirty="0" err="1"/>
              <a:t>xpath</a:t>
            </a:r>
            <a:r>
              <a:rPr lang="en-GB" sz="1300" dirty="0"/>
              <a:t>="parameter[@key='</a:t>
            </a:r>
            <a:r>
              <a:rPr lang="en-GB" sz="1300" dirty="0" err="1"/>
              <a:t>nproc</a:t>
            </a:r>
            <a:r>
              <a:rPr lang="en-GB" sz="1300" dirty="0"/>
              <a:t>']/@value" /&gt;</a:t>
            </a:r>
          </a:p>
          <a:p>
            <a:pPr algn="l"/>
            <a:r>
              <a:rPr lang="en-GB" sz="1300" dirty="0"/>
              <a:t>    &lt;xml-object name="</a:t>
            </a:r>
            <a:r>
              <a:rPr lang="en-GB" sz="1300" dirty="0" err="1"/>
              <a:t>nlwp</a:t>
            </a:r>
            <a:r>
              <a:rPr lang="en-GB" sz="1300" dirty="0"/>
              <a:t>" type="GAUGE" </a:t>
            </a:r>
            <a:r>
              <a:rPr lang="en-GB" sz="1300" dirty="0" err="1"/>
              <a:t>xpath</a:t>
            </a:r>
            <a:r>
              <a:rPr lang="en-GB" sz="1300" dirty="0"/>
              <a:t>="parameter[@key='</a:t>
            </a:r>
            <a:r>
              <a:rPr lang="en-GB" sz="1300" dirty="0" err="1"/>
              <a:t>nlwp</a:t>
            </a:r>
            <a:r>
              <a:rPr lang="en-GB" sz="1300" dirty="0"/>
              <a:t>']/@value" /&gt;</a:t>
            </a:r>
          </a:p>
          <a:p>
            <a:pPr algn="l"/>
            <a:r>
              <a:rPr lang="en-GB" sz="1300" dirty="0"/>
              <a:t>    &lt;xml-object name="</a:t>
            </a:r>
            <a:r>
              <a:rPr lang="en-GB" sz="1300" dirty="0" err="1"/>
              <a:t>pr_size</a:t>
            </a:r>
            <a:r>
              <a:rPr lang="en-GB" sz="1300" dirty="0"/>
              <a:t>" type="GAUGE" </a:t>
            </a:r>
            <a:r>
              <a:rPr lang="en-GB" sz="1300" dirty="0" err="1"/>
              <a:t>xpath</a:t>
            </a:r>
            <a:r>
              <a:rPr lang="en-GB" sz="1300" dirty="0"/>
              <a:t>="parameter[@key='</a:t>
            </a:r>
            <a:r>
              <a:rPr lang="en-GB" sz="1300" dirty="0" err="1"/>
              <a:t>pr_size</a:t>
            </a:r>
            <a:r>
              <a:rPr lang="en-GB" sz="1300" dirty="0"/>
              <a:t>']/@value" /&gt;</a:t>
            </a:r>
          </a:p>
          <a:p>
            <a:pPr algn="l"/>
            <a:r>
              <a:rPr lang="en-GB" sz="1300" dirty="0"/>
              <a:t>    &lt;xml-object name="</a:t>
            </a:r>
            <a:r>
              <a:rPr lang="en-GB" sz="1300" dirty="0" err="1"/>
              <a:t>pr_rssize</a:t>
            </a:r>
            <a:r>
              <a:rPr lang="en-GB" sz="1300" dirty="0"/>
              <a:t>" type="GAUGE" </a:t>
            </a:r>
            <a:r>
              <a:rPr lang="en-GB" sz="1300" dirty="0" err="1"/>
              <a:t>xpath</a:t>
            </a:r>
            <a:r>
              <a:rPr lang="en-GB" sz="1300" dirty="0"/>
              <a:t>="parameter[@key='</a:t>
            </a:r>
            <a:r>
              <a:rPr lang="en-GB" sz="1300" dirty="0" err="1"/>
              <a:t>pr_rssize</a:t>
            </a:r>
            <a:r>
              <a:rPr lang="en-GB" sz="1300" dirty="0"/>
              <a:t>']/@value" /&gt;</a:t>
            </a:r>
          </a:p>
          <a:p>
            <a:pPr algn="l"/>
            <a:r>
              <a:rPr lang="en-GB" sz="1300" dirty="0"/>
              <a:t>    &lt;xml-object name="</a:t>
            </a:r>
            <a:r>
              <a:rPr lang="en-GB" sz="1300" dirty="0" err="1"/>
              <a:t>pctmem</a:t>
            </a:r>
            <a:r>
              <a:rPr lang="en-GB" sz="1300" dirty="0"/>
              <a:t>" type="GAUGE" </a:t>
            </a:r>
            <a:r>
              <a:rPr lang="en-GB" sz="1300" dirty="0" err="1"/>
              <a:t>xpath</a:t>
            </a:r>
            <a:r>
              <a:rPr lang="en-GB" sz="1300" dirty="0"/>
              <a:t>="parameter[@key='</a:t>
            </a:r>
            <a:r>
              <a:rPr lang="en-GB" sz="1300" dirty="0" err="1"/>
              <a:t>pctmem</a:t>
            </a:r>
            <a:r>
              <a:rPr lang="en-GB" sz="1300" dirty="0"/>
              <a:t>']/@value" /&gt;</a:t>
            </a:r>
          </a:p>
          <a:p>
            <a:pPr algn="l"/>
            <a:r>
              <a:rPr lang="en-GB" sz="1300" dirty="0"/>
              <a:t>    &lt;xml-object name="</a:t>
            </a:r>
            <a:r>
              <a:rPr lang="en-GB" sz="1300" dirty="0" err="1"/>
              <a:t>pctcpu</a:t>
            </a:r>
            <a:r>
              <a:rPr lang="en-GB" sz="1300" dirty="0"/>
              <a:t>" type="GAUGE" </a:t>
            </a:r>
            <a:r>
              <a:rPr lang="en-GB" sz="1300" dirty="0" err="1"/>
              <a:t>xpath</a:t>
            </a:r>
            <a:r>
              <a:rPr lang="en-GB" sz="1300" dirty="0"/>
              <a:t>="parameter[@key='</a:t>
            </a:r>
            <a:r>
              <a:rPr lang="en-GB" sz="1300" dirty="0" err="1"/>
              <a:t>pctcpu</a:t>
            </a:r>
            <a:r>
              <a:rPr lang="en-GB" sz="1300" dirty="0"/>
              <a:t>']/@value" /&gt;</a:t>
            </a:r>
          </a:p>
          <a:p>
            <a:pPr algn="l"/>
            <a:r>
              <a:rPr lang="en-GB" sz="1300" dirty="0"/>
              <a:t>  &lt;/xml-group&gt;</a:t>
            </a:r>
          </a:p>
          <a:p>
            <a:pPr algn="l"/>
            <a:r>
              <a:rPr lang="en-GB" sz="1300" dirty="0"/>
              <a:t>&lt;/xml-groups&gt;</a:t>
            </a:r>
          </a:p>
        </p:txBody>
      </p:sp>
      <p:sp>
        <p:nvSpPr>
          <p:cNvPr id="39" name="Oval 38"/>
          <p:cNvSpPr/>
          <p:nvPr/>
        </p:nvSpPr>
        <p:spPr bwMode="auto">
          <a:xfrm>
            <a:off x="1496616" y="1628800"/>
            <a:ext cx="1152128" cy="288032"/>
          </a:xfrm>
          <a:prstGeom prst="ellipse">
            <a:avLst/>
          </a:prstGeom>
          <a:noFill/>
          <a:ln w="9525" cap="flat" cmpd="sng" algn="ctr">
            <a:solidFill>
              <a:srgbClr val="FF0000"/>
            </a:solidFill>
            <a:prstDash val="solid"/>
            <a:round/>
            <a:headEnd type="none" w="sm" len="sm"/>
            <a:tailEnd type="triangle" w="sm" len="sm"/>
          </a:ln>
          <a:effectLst/>
          <a:extLst/>
        </p:spPr>
        <p:txBody>
          <a:bodyPr vert="horz" wrap="square" lIns="82800" tIns="46800" rIns="82800" bIns="46800" numCol="1" rtlCol="0" anchor="ctr" anchorCtr="0" compatLnSpc="1">
            <a:prstTxWarp prst="textNoShape">
              <a:avLst/>
            </a:prstTxWarp>
          </a:bodyPr>
          <a:lstStyle/>
          <a:p>
            <a:endParaRPr lang="en-GB">
              <a:latin typeface="Arial" charset="0"/>
            </a:endParaRPr>
          </a:p>
        </p:txBody>
      </p:sp>
      <p:sp>
        <p:nvSpPr>
          <p:cNvPr id="40" name="Oval 39"/>
          <p:cNvSpPr/>
          <p:nvPr/>
        </p:nvSpPr>
        <p:spPr bwMode="auto">
          <a:xfrm>
            <a:off x="7761241" y="3933056"/>
            <a:ext cx="1152128" cy="288032"/>
          </a:xfrm>
          <a:prstGeom prst="ellipse">
            <a:avLst/>
          </a:prstGeom>
          <a:noFill/>
          <a:ln w="9525" cap="flat" cmpd="sng" algn="ctr">
            <a:solidFill>
              <a:srgbClr val="FF0000"/>
            </a:solidFill>
            <a:prstDash val="solid"/>
            <a:round/>
            <a:headEnd type="none" w="sm" len="sm"/>
            <a:tailEnd type="triangle" w="sm" len="sm"/>
          </a:ln>
          <a:effectLst/>
          <a:extLst/>
        </p:spPr>
        <p:txBody>
          <a:bodyPr vert="horz" wrap="square" lIns="82800" tIns="46800" rIns="82800" bIns="46800" numCol="1" rtlCol="0" anchor="ctr" anchorCtr="0" compatLnSpc="1">
            <a:prstTxWarp prst="textNoShape">
              <a:avLst/>
            </a:prstTxWarp>
          </a:bodyPr>
          <a:lstStyle/>
          <a:p>
            <a:endParaRPr lang="en-GB">
              <a:latin typeface="Arial" charset="0"/>
            </a:endParaRPr>
          </a:p>
        </p:txBody>
      </p:sp>
      <p:cxnSp>
        <p:nvCxnSpPr>
          <p:cNvPr id="42" name="Elbow Connector 41"/>
          <p:cNvCxnSpPr>
            <a:endCxn id="40" idx="0"/>
          </p:cNvCxnSpPr>
          <p:nvPr/>
        </p:nvCxnSpPr>
        <p:spPr bwMode="auto">
          <a:xfrm>
            <a:off x="2648744" y="1772816"/>
            <a:ext cx="5688561" cy="2160240"/>
          </a:xfrm>
          <a:prstGeom prst="bentConnector2">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Oval 42"/>
          <p:cNvSpPr/>
          <p:nvPr/>
        </p:nvSpPr>
        <p:spPr bwMode="auto">
          <a:xfrm>
            <a:off x="920552" y="1366047"/>
            <a:ext cx="1152128" cy="288032"/>
          </a:xfrm>
          <a:prstGeom prst="ellipse">
            <a:avLst/>
          </a:prstGeom>
          <a:noFill/>
          <a:ln w="9525" cap="flat" cmpd="sng" algn="ctr">
            <a:solidFill>
              <a:srgbClr val="FF0000"/>
            </a:solidFill>
            <a:prstDash val="solid"/>
            <a:round/>
            <a:headEnd type="none" w="sm" len="sm"/>
            <a:tailEnd type="triangle" w="sm" len="sm"/>
          </a:ln>
          <a:effectLst/>
          <a:extLst/>
        </p:spPr>
        <p:txBody>
          <a:bodyPr vert="horz" wrap="square" lIns="82800" tIns="46800" rIns="82800" bIns="46800" numCol="1" rtlCol="0" anchor="ctr" anchorCtr="0" compatLnSpc="1">
            <a:prstTxWarp prst="textNoShape">
              <a:avLst/>
            </a:prstTxWarp>
          </a:bodyPr>
          <a:lstStyle/>
          <a:p>
            <a:endParaRPr lang="en-GB">
              <a:latin typeface="Arial" charset="0"/>
            </a:endParaRPr>
          </a:p>
        </p:txBody>
      </p:sp>
      <p:sp>
        <p:nvSpPr>
          <p:cNvPr id="44" name="Oval 43"/>
          <p:cNvSpPr/>
          <p:nvPr/>
        </p:nvSpPr>
        <p:spPr bwMode="auto">
          <a:xfrm>
            <a:off x="5313040" y="3933056"/>
            <a:ext cx="1152128" cy="288032"/>
          </a:xfrm>
          <a:prstGeom prst="ellipse">
            <a:avLst/>
          </a:prstGeom>
          <a:noFill/>
          <a:ln w="9525" cap="flat" cmpd="sng" algn="ctr">
            <a:solidFill>
              <a:srgbClr val="FF0000"/>
            </a:solidFill>
            <a:prstDash val="solid"/>
            <a:round/>
            <a:headEnd type="none" w="sm" len="sm"/>
            <a:tailEnd type="triangle" w="sm" len="sm"/>
          </a:ln>
          <a:effectLst/>
          <a:extLst/>
        </p:spPr>
        <p:txBody>
          <a:bodyPr vert="horz" wrap="square" lIns="82800" tIns="46800" rIns="82800" bIns="46800" numCol="1" rtlCol="0" anchor="ctr" anchorCtr="0" compatLnSpc="1">
            <a:prstTxWarp prst="textNoShape">
              <a:avLst/>
            </a:prstTxWarp>
          </a:bodyPr>
          <a:lstStyle/>
          <a:p>
            <a:endParaRPr lang="en-GB">
              <a:latin typeface="Arial" charset="0"/>
            </a:endParaRPr>
          </a:p>
        </p:txBody>
      </p:sp>
      <p:cxnSp>
        <p:nvCxnSpPr>
          <p:cNvPr id="46" name="Elbow Connector 45"/>
          <p:cNvCxnSpPr>
            <a:stCxn id="43" idx="6"/>
            <a:endCxn id="44" idx="0"/>
          </p:cNvCxnSpPr>
          <p:nvPr/>
        </p:nvCxnSpPr>
        <p:spPr bwMode="auto">
          <a:xfrm>
            <a:off x="2072680" y="1510063"/>
            <a:ext cx="3816424" cy="2422993"/>
          </a:xfrm>
          <a:prstGeom prst="bentConnector2">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74004109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Extracting Node Id from Topic path</a:t>
            </a:r>
            <a:endParaRPr lang="en-GB" dirty="0"/>
          </a:p>
        </p:txBody>
      </p:sp>
      <p:grpSp>
        <p:nvGrpSpPr>
          <p:cNvPr id="36" name="Group 35"/>
          <p:cNvGrpSpPr/>
          <p:nvPr/>
        </p:nvGrpSpPr>
        <p:grpSpPr>
          <a:xfrm>
            <a:off x="272480" y="764704"/>
            <a:ext cx="9289032" cy="5701412"/>
            <a:chOff x="272480" y="764704"/>
            <a:chExt cx="9289032" cy="5701412"/>
          </a:xfrm>
        </p:grpSpPr>
        <p:sp>
          <p:nvSpPr>
            <p:cNvPr id="34" name="TextBox 33"/>
            <p:cNvSpPr txBox="1"/>
            <p:nvPr/>
          </p:nvSpPr>
          <p:spPr>
            <a:xfrm>
              <a:off x="2288704" y="3573016"/>
              <a:ext cx="7272808" cy="2893100"/>
            </a:xfrm>
            <a:prstGeom prst="rect">
              <a:avLst/>
            </a:prstGeom>
            <a:noFill/>
          </p:spPr>
          <p:txBody>
            <a:bodyPr wrap="square" rtlCol="0">
              <a:spAutoFit/>
            </a:bodyPr>
            <a:lstStyle>
              <a:defPPr>
                <a:defRPr lang="en-GB"/>
              </a:defPPr>
              <a:lvl1pPr algn="l">
                <a:defRPr sz="1300"/>
              </a:lvl1pPr>
            </a:lstStyle>
            <a:p>
              <a:r>
                <a:rPr lang="en-GB" dirty="0"/>
                <a:t>&lt;?xml version="1.0" encoding="UTF-8" ?&gt;</a:t>
              </a:r>
            </a:p>
            <a:p>
              <a:r>
                <a:rPr lang="en-GB" dirty="0"/>
                <a:t>&lt;xml-groups </a:t>
              </a:r>
              <a:r>
                <a:rPr lang="en-GB" dirty="0" err="1"/>
                <a:t>xmlns</a:t>
              </a:r>
              <a:r>
                <a:rPr lang="en-GB" dirty="0"/>
                <a:t>="http://xmlns.opennms.org/</a:t>
              </a:r>
              <a:r>
                <a:rPr lang="en-GB" dirty="0" err="1"/>
                <a:t>xsd</a:t>
              </a:r>
              <a:r>
                <a:rPr lang="en-GB" dirty="0"/>
                <a:t>/</a:t>
              </a:r>
              <a:r>
                <a:rPr lang="en-GB" dirty="0" err="1"/>
                <a:t>config</a:t>
              </a:r>
              <a:r>
                <a:rPr lang="en-GB" dirty="0"/>
                <a:t>/xml-</a:t>
              </a:r>
              <a:r>
                <a:rPr lang="en-GB" dirty="0" err="1"/>
                <a:t>datacollection</a:t>
              </a:r>
              <a:r>
                <a:rPr lang="en-GB" dirty="0"/>
                <a:t>"&gt;</a:t>
              </a:r>
            </a:p>
            <a:p>
              <a:r>
                <a:rPr lang="en-GB" dirty="0"/>
                <a:t>  &lt;xml-group name="</a:t>
              </a:r>
              <a:r>
                <a:rPr lang="en-GB" dirty="0" err="1"/>
                <a:t>laurawan</a:t>
              </a:r>
              <a:r>
                <a:rPr lang="en-GB" dirty="0"/>
                <a:t>" resource-type="</a:t>
              </a:r>
              <a:r>
                <a:rPr lang="en-GB" dirty="0" err="1"/>
                <a:t>laurawan</a:t>
              </a:r>
              <a:r>
                <a:rPr lang="en-GB" dirty="0"/>
                <a:t>" resource-</a:t>
              </a:r>
              <a:r>
                <a:rPr lang="en-GB" dirty="0" err="1"/>
                <a:t>xpath</a:t>
              </a:r>
              <a:r>
                <a:rPr lang="en-GB" dirty="0"/>
                <a:t>="/*" </a:t>
              </a:r>
              <a:endParaRPr lang="en-GB" dirty="0" smtClean="0"/>
            </a:p>
            <a:p>
              <a:r>
                <a:rPr lang="en-GB" dirty="0" smtClean="0"/>
                <a:t>key-</a:t>
              </a:r>
              <a:r>
                <a:rPr lang="en-GB" dirty="0" err="1" smtClean="0"/>
                <a:t>xpath</a:t>
              </a:r>
              <a:r>
                <a:rPr lang="en-GB" dirty="0"/>
                <a:t>="$</a:t>
              </a:r>
              <a:r>
                <a:rPr lang="en-GB" dirty="0" err="1"/>
                <a:t>topicLevels</a:t>
              </a:r>
              <a:r>
                <a:rPr lang="en-GB" dirty="0"/>
                <a:t>[5]" &gt;</a:t>
              </a:r>
            </a:p>
            <a:p>
              <a:endParaRPr lang="en-GB" dirty="0"/>
            </a:p>
            <a:p>
              <a:r>
                <a:rPr lang="en-GB" dirty="0"/>
                <a:t>    &lt;xml-object name="light" type="GAUGE" </a:t>
              </a:r>
              <a:r>
                <a:rPr lang="en-GB" dirty="0" err="1"/>
                <a:t>xpath</a:t>
              </a:r>
              <a:r>
                <a:rPr lang="en-GB" dirty="0"/>
                <a:t>="@light" /&gt;</a:t>
              </a:r>
            </a:p>
            <a:p>
              <a:r>
                <a:rPr lang="en-GB" dirty="0"/>
                <a:t>    &lt;xml-object name="moisture" type="GAUGE" </a:t>
              </a:r>
              <a:r>
                <a:rPr lang="en-GB" dirty="0" err="1"/>
                <a:t>xpath</a:t>
              </a:r>
              <a:r>
                <a:rPr lang="en-GB" dirty="0"/>
                <a:t>="@moisture" /&gt;</a:t>
              </a:r>
            </a:p>
            <a:p>
              <a:r>
                <a:rPr lang="en-GB" dirty="0"/>
                <a:t>    &lt;xml-object name="temperature" type="GAUGE" </a:t>
              </a:r>
              <a:r>
                <a:rPr lang="en-GB" dirty="0" err="1"/>
                <a:t>xpath</a:t>
              </a:r>
              <a:r>
                <a:rPr lang="en-GB" dirty="0"/>
                <a:t>="@temperature" /&gt;</a:t>
              </a:r>
            </a:p>
            <a:p>
              <a:r>
                <a:rPr lang="en-GB" dirty="0"/>
                <a:t>    &lt;xml-object name="</a:t>
              </a:r>
              <a:r>
                <a:rPr lang="en-GB" dirty="0" err="1"/>
                <a:t>x_acc</a:t>
              </a:r>
              <a:r>
                <a:rPr lang="en-GB" dirty="0"/>
                <a:t>" type="GAUGE" </a:t>
              </a:r>
              <a:r>
                <a:rPr lang="en-GB" dirty="0" err="1"/>
                <a:t>xpath</a:t>
              </a:r>
              <a:r>
                <a:rPr lang="en-GB" dirty="0"/>
                <a:t>="@</a:t>
              </a:r>
              <a:r>
                <a:rPr lang="en-GB" dirty="0" err="1"/>
                <a:t>x_acc</a:t>
              </a:r>
              <a:r>
                <a:rPr lang="en-GB" dirty="0"/>
                <a:t>" /&gt;</a:t>
              </a:r>
            </a:p>
            <a:p>
              <a:r>
                <a:rPr lang="en-GB" dirty="0"/>
                <a:t>    &lt;xml-object name="</a:t>
              </a:r>
              <a:r>
                <a:rPr lang="en-GB" dirty="0" err="1"/>
                <a:t>y_acc</a:t>
              </a:r>
              <a:r>
                <a:rPr lang="en-GB" dirty="0"/>
                <a:t>" type="GAUGE" </a:t>
              </a:r>
              <a:r>
                <a:rPr lang="en-GB" dirty="0" err="1"/>
                <a:t>xpath</a:t>
              </a:r>
              <a:r>
                <a:rPr lang="en-GB" dirty="0"/>
                <a:t>="@</a:t>
              </a:r>
              <a:r>
                <a:rPr lang="en-GB" dirty="0" err="1"/>
                <a:t>y_acc</a:t>
              </a:r>
              <a:r>
                <a:rPr lang="en-GB" dirty="0"/>
                <a:t>" /&gt;</a:t>
              </a:r>
            </a:p>
            <a:p>
              <a:r>
                <a:rPr lang="en-GB" dirty="0"/>
                <a:t>    &lt;xml-object name="</a:t>
              </a:r>
              <a:r>
                <a:rPr lang="en-GB" dirty="0" err="1"/>
                <a:t>z_acc</a:t>
              </a:r>
              <a:r>
                <a:rPr lang="en-GB" dirty="0"/>
                <a:t>" type="GAUGE" </a:t>
              </a:r>
              <a:r>
                <a:rPr lang="en-GB" dirty="0" err="1"/>
                <a:t>xpath</a:t>
              </a:r>
              <a:r>
                <a:rPr lang="en-GB" dirty="0"/>
                <a:t>="@</a:t>
              </a:r>
              <a:r>
                <a:rPr lang="en-GB" dirty="0" err="1"/>
                <a:t>z_acc</a:t>
              </a:r>
              <a:r>
                <a:rPr lang="en-GB" dirty="0"/>
                <a:t>" /&gt;</a:t>
              </a:r>
            </a:p>
            <a:p>
              <a:endParaRPr lang="en-GB" dirty="0"/>
            </a:p>
            <a:p>
              <a:r>
                <a:rPr lang="en-GB" dirty="0"/>
                <a:t>  &lt;/xml-group&gt;</a:t>
              </a:r>
            </a:p>
            <a:p>
              <a:r>
                <a:rPr lang="en-GB" dirty="0"/>
                <a:t>&lt;/xml-groups</a:t>
              </a:r>
              <a:r>
                <a:rPr lang="en-GB" dirty="0" smtClean="0"/>
                <a:t>&gt;</a:t>
              </a:r>
              <a:endParaRPr lang="en-GB" dirty="0"/>
            </a:p>
          </p:txBody>
        </p:sp>
        <p:sp>
          <p:nvSpPr>
            <p:cNvPr id="35" name="TextBox 34"/>
            <p:cNvSpPr txBox="1"/>
            <p:nvPr/>
          </p:nvSpPr>
          <p:spPr>
            <a:xfrm>
              <a:off x="272480" y="764704"/>
              <a:ext cx="8000908" cy="3293209"/>
            </a:xfrm>
            <a:prstGeom prst="rect">
              <a:avLst/>
            </a:prstGeom>
            <a:noFill/>
          </p:spPr>
          <p:txBody>
            <a:bodyPr wrap="none" rtlCol="0">
              <a:spAutoFit/>
            </a:bodyPr>
            <a:lstStyle>
              <a:defPPr>
                <a:defRPr lang="en-GB"/>
              </a:defPPr>
              <a:lvl1pPr algn="l">
                <a:defRPr sz="1300"/>
              </a:lvl1pPr>
            </a:lstStyle>
            <a:p>
              <a:r>
                <a:rPr lang="en-GB" dirty="0" smtClean="0"/>
                <a:t> Example </a:t>
              </a:r>
              <a:r>
                <a:rPr lang="en-GB" dirty="0" err="1"/>
                <a:t>Laurawan</a:t>
              </a:r>
              <a:r>
                <a:rPr lang="en-GB" dirty="0"/>
                <a:t> MQTT payload Herb Garcia </a:t>
              </a:r>
              <a:r>
                <a:rPr lang="en-GB" dirty="0" err="1"/>
                <a:t>Insitu</a:t>
              </a:r>
              <a:r>
                <a:rPr lang="en-GB" dirty="0"/>
                <a:t> Systems, Inc. </a:t>
              </a:r>
              <a:r>
                <a:rPr lang="en-GB" dirty="0" smtClean="0"/>
                <a:t> </a:t>
              </a:r>
              <a:endParaRPr lang="en-GB" dirty="0"/>
            </a:p>
            <a:p>
              <a:r>
                <a:rPr lang="en-GB" dirty="0" smtClean="0"/>
                <a:t> note </a:t>
              </a:r>
              <a:r>
                <a:rPr lang="en-GB" dirty="0"/>
                <a:t>$</a:t>
              </a:r>
              <a:r>
                <a:rPr lang="en-GB" dirty="0" err="1"/>
                <a:t>topicLevels</a:t>
              </a:r>
              <a:r>
                <a:rPr lang="en-GB" dirty="0"/>
                <a:t>[5] ==  00-08-00-4A-4F-F6 (note starts at 1</a:t>
              </a:r>
              <a:r>
                <a:rPr lang="en-GB" dirty="0" smtClean="0"/>
                <a:t>) </a:t>
              </a:r>
              <a:endParaRPr lang="en-GB" dirty="0"/>
            </a:p>
            <a:p>
              <a:r>
                <a:rPr lang="en-GB" dirty="0" smtClean="0"/>
                <a:t> 6/15/2018</a:t>
              </a:r>
              <a:r>
                <a:rPr lang="en-GB" dirty="0"/>
                <a:t>, 6:25:59 PMc178e3c2.6637eiot-2/type/</a:t>
              </a:r>
              <a:r>
                <a:rPr lang="en-GB" dirty="0" err="1"/>
                <a:t>mosquitto</a:t>
              </a:r>
              <a:r>
                <a:rPr lang="en-GB" dirty="0"/>
                <a:t>/id/00-08-00-4A-4F-F6/</a:t>
              </a:r>
              <a:r>
                <a:rPr lang="en-GB" dirty="0" err="1"/>
                <a:t>evt</a:t>
              </a:r>
              <a:r>
                <a:rPr lang="en-GB" dirty="0"/>
                <a:t>/</a:t>
              </a:r>
              <a:r>
                <a:rPr lang="en-GB" dirty="0" err="1"/>
                <a:t>datapoint</a:t>
              </a:r>
              <a:r>
                <a:rPr lang="en-GB" dirty="0"/>
                <a:t>/</a:t>
              </a:r>
              <a:r>
                <a:rPr lang="en-GB" dirty="0" err="1"/>
                <a:t>fmt</a:t>
              </a:r>
              <a:r>
                <a:rPr lang="en-GB" dirty="0"/>
                <a:t>/</a:t>
              </a:r>
              <a:r>
                <a:rPr lang="en-GB" dirty="0" err="1"/>
                <a:t>json</a:t>
              </a:r>
              <a:r>
                <a:rPr lang="en-GB" dirty="0"/>
                <a:t> </a:t>
              </a:r>
              <a:r>
                <a:rPr lang="en-GB" dirty="0" smtClean="0"/>
                <a:t> </a:t>
              </a:r>
              <a:endParaRPr lang="en-GB" dirty="0"/>
            </a:p>
            <a:p>
              <a:r>
                <a:rPr lang="en-GB" dirty="0" smtClean="0"/>
                <a:t> </a:t>
              </a:r>
            </a:p>
            <a:p>
              <a:r>
                <a:rPr lang="en-GB" dirty="0" smtClean="0"/>
                <a:t>: </a:t>
              </a:r>
              <a:r>
                <a:rPr lang="en-GB" dirty="0" err="1"/>
                <a:t>msg.payload</a:t>
              </a:r>
              <a:r>
                <a:rPr lang="en-GB" dirty="0"/>
                <a:t> : Object </a:t>
              </a:r>
              <a:r>
                <a:rPr lang="en-GB" dirty="0" smtClean="0"/>
                <a:t> </a:t>
              </a:r>
              <a:endParaRPr lang="en-GB" dirty="0"/>
            </a:p>
            <a:p>
              <a:endParaRPr lang="en-GB" dirty="0"/>
            </a:p>
            <a:p>
              <a:r>
                <a:rPr lang="en-GB" dirty="0" smtClean="0"/>
                <a:t> {  </a:t>
              </a:r>
              <a:endParaRPr lang="en-GB" dirty="0"/>
            </a:p>
            <a:p>
              <a:r>
                <a:rPr lang="en-GB" dirty="0" smtClean="0"/>
                <a:t>    "</a:t>
              </a:r>
              <a:r>
                <a:rPr lang="en-GB" dirty="0"/>
                <a:t>d": { </a:t>
              </a:r>
              <a:r>
                <a:rPr lang="en-GB" dirty="0" smtClean="0"/>
                <a:t> </a:t>
              </a:r>
              <a:endParaRPr lang="en-GB" dirty="0"/>
            </a:p>
            <a:p>
              <a:r>
                <a:rPr lang="en-GB" dirty="0" smtClean="0"/>
                <a:t>       "</a:t>
              </a:r>
              <a:r>
                <a:rPr lang="en-GB" dirty="0"/>
                <a:t>light": 462, </a:t>
              </a:r>
              <a:r>
                <a:rPr lang="en-GB" dirty="0" smtClean="0"/>
                <a:t> </a:t>
              </a:r>
              <a:endParaRPr lang="en-GB" dirty="0"/>
            </a:p>
            <a:p>
              <a:r>
                <a:rPr lang="en-GB" dirty="0" smtClean="0"/>
                <a:t>       "</a:t>
              </a:r>
              <a:r>
                <a:rPr lang="en-GB" dirty="0"/>
                <a:t>moisture": 97.34025, </a:t>
              </a:r>
              <a:r>
                <a:rPr lang="en-GB" dirty="0" smtClean="0"/>
                <a:t> </a:t>
              </a:r>
              <a:endParaRPr lang="en-GB" dirty="0"/>
            </a:p>
            <a:p>
              <a:r>
                <a:rPr lang="en-GB" dirty="0" smtClean="0"/>
                <a:t>       "</a:t>
              </a:r>
              <a:r>
                <a:rPr lang="en-GB" dirty="0"/>
                <a:t>temperature": 29.8125, </a:t>
              </a:r>
              <a:r>
                <a:rPr lang="en-GB" dirty="0" smtClean="0"/>
                <a:t> </a:t>
              </a:r>
              <a:endParaRPr lang="en-GB" dirty="0"/>
            </a:p>
            <a:p>
              <a:r>
                <a:rPr lang="en-GB" dirty="0" smtClean="0"/>
                <a:t>       "</a:t>
              </a:r>
              <a:r>
                <a:rPr lang="en-GB" dirty="0" err="1"/>
                <a:t>x_acc</a:t>
              </a:r>
              <a:r>
                <a:rPr lang="en-GB" dirty="0"/>
                <a:t>": 0.1875, </a:t>
              </a:r>
              <a:r>
                <a:rPr lang="en-GB" dirty="0" smtClean="0"/>
                <a:t> </a:t>
              </a:r>
              <a:endParaRPr lang="en-GB" dirty="0"/>
            </a:p>
            <a:p>
              <a:r>
                <a:rPr lang="en-GB" dirty="0" smtClean="0"/>
                <a:t>       "</a:t>
              </a:r>
              <a:r>
                <a:rPr lang="en-GB" dirty="0" err="1"/>
                <a:t>y_acc</a:t>
              </a:r>
              <a:r>
                <a:rPr lang="en-GB" dirty="0"/>
                <a:t>": 0.375, </a:t>
              </a:r>
              <a:r>
                <a:rPr lang="en-GB" dirty="0" smtClean="0"/>
                <a:t> </a:t>
              </a:r>
              <a:endParaRPr lang="en-GB" dirty="0"/>
            </a:p>
            <a:p>
              <a:r>
                <a:rPr lang="en-GB" dirty="0" smtClean="0"/>
                <a:t>       "</a:t>
              </a:r>
              <a:r>
                <a:rPr lang="en-GB" dirty="0" err="1"/>
                <a:t>z_acc</a:t>
              </a:r>
              <a:r>
                <a:rPr lang="en-GB" dirty="0"/>
                <a:t>": 0.8125 </a:t>
              </a:r>
              <a:r>
                <a:rPr lang="en-GB" dirty="0" smtClean="0"/>
                <a:t> </a:t>
              </a:r>
              <a:endParaRPr lang="en-GB" dirty="0"/>
            </a:p>
            <a:p>
              <a:r>
                <a:rPr lang="en-GB" dirty="0" smtClean="0"/>
                <a:t>    }  </a:t>
              </a:r>
              <a:endParaRPr lang="en-GB" dirty="0"/>
            </a:p>
            <a:p>
              <a:r>
                <a:rPr lang="en-GB" dirty="0" smtClean="0"/>
                <a:t> }  </a:t>
              </a:r>
              <a:endParaRPr lang="en-GB" dirty="0"/>
            </a:p>
          </p:txBody>
        </p:sp>
      </p:grpSp>
      <p:sp>
        <p:nvSpPr>
          <p:cNvPr id="37" name="Oval 36"/>
          <p:cNvSpPr/>
          <p:nvPr/>
        </p:nvSpPr>
        <p:spPr bwMode="auto">
          <a:xfrm>
            <a:off x="3080792" y="4057913"/>
            <a:ext cx="1368152" cy="576064"/>
          </a:xfrm>
          <a:prstGeom prst="ellipse">
            <a:avLst/>
          </a:prstGeom>
          <a:noFill/>
          <a:ln w="9525" cap="flat" cmpd="sng" algn="ctr">
            <a:solidFill>
              <a:srgbClr val="FF0000"/>
            </a:solidFill>
            <a:prstDash val="solid"/>
            <a:round/>
            <a:headEnd type="none" w="sm" len="sm"/>
            <a:tailEnd type="triangle" w="sm" len="sm"/>
          </a:ln>
          <a:effectLs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8" name="Oval 37"/>
          <p:cNvSpPr/>
          <p:nvPr/>
        </p:nvSpPr>
        <p:spPr bwMode="auto">
          <a:xfrm>
            <a:off x="4808984" y="980728"/>
            <a:ext cx="1512168" cy="576064"/>
          </a:xfrm>
          <a:prstGeom prst="ellipse">
            <a:avLst/>
          </a:prstGeom>
          <a:noFill/>
          <a:ln w="9525" cap="flat" cmpd="sng" algn="ctr">
            <a:solidFill>
              <a:srgbClr val="FF0000"/>
            </a:solidFill>
            <a:prstDash val="solid"/>
            <a:round/>
            <a:headEnd type="none" w="sm" len="sm"/>
            <a:tailEnd type="triangle" w="sm" len="sm"/>
          </a:ln>
          <a:effectLs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cxnSp>
        <p:nvCxnSpPr>
          <p:cNvPr id="40" name="Elbow Connector 39"/>
          <p:cNvCxnSpPr/>
          <p:nvPr/>
        </p:nvCxnSpPr>
        <p:spPr bwMode="auto">
          <a:xfrm rot="5400000">
            <a:off x="3450412" y="1907252"/>
            <a:ext cx="2501121" cy="1800200"/>
          </a:xfrm>
          <a:prstGeom prst="bentConnector3">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78145138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213" y="207963"/>
            <a:ext cx="6937027" cy="428451"/>
          </a:xfrm>
        </p:spPr>
        <p:txBody>
          <a:bodyPr/>
          <a:lstStyle/>
          <a:p>
            <a:r>
              <a:rPr lang="en-GB" dirty="0" smtClean="0"/>
              <a:t>Message Event Handling</a:t>
            </a:r>
            <a:endParaRPr lang="en-GB" dirty="0"/>
          </a:p>
        </p:txBody>
      </p:sp>
      <p:sp>
        <p:nvSpPr>
          <p:cNvPr id="10" name="TextBox 9"/>
          <p:cNvSpPr txBox="1"/>
          <p:nvPr/>
        </p:nvSpPr>
        <p:spPr>
          <a:xfrm>
            <a:off x="176213" y="636414"/>
            <a:ext cx="9377888" cy="6093976"/>
          </a:xfrm>
          <a:prstGeom prst="rect">
            <a:avLst/>
          </a:prstGeom>
          <a:noFill/>
        </p:spPr>
        <p:txBody>
          <a:bodyPr wrap="none" rtlCol="0">
            <a:spAutoFit/>
          </a:bodyPr>
          <a:lstStyle/>
          <a:p>
            <a:pPr algn="l"/>
            <a:r>
              <a:rPr lang="en-GB" sz="1300" dirty="0" smtClean="0"/>
              <a:t>message event parsers follow the same pattern as message data parsers.    </a:t>
            </a:r>
          </a:p>
          <a:p>
            <a:pPr algn="l"/>
            <a:r>
              <a:rPr lang="en-GB" sz="1300" dirty="0" smtClean="0"/>
              <a:t> however the </a:t>
            </a:r>
            <a:r>
              <a:rPr lang="en-GB" sz="1300" dirty="0" err="1" smtClean="0"/>
              <a:t>Xpath</a:t>
            </a:r>
            <a:r>
              <a:rPr lang="en-GB" sz="1300" dirty="0" smtClean="0"/>
              <a:t> defines which name value pairs are saved as </a:t>
            </a:r>
            <a:r>
              <a:rPr lang="en-GB" sz="1300" dirty="0" err="1" smtClean="0"/>
              <a:t>params</a:t>
            </a:r>
            <a:r>
              <a:rPr lang="en-GB" sz="1300" dirty="0" smtClean="0"/>
              <a:t> in the resulting </a:t>
            </a:r>
            <a:r>
              <a:rPr lang="en-GB" sz="1300" dirty="0" err="1" smtClean="0"/>
              <a:t>opennms</a:t>
            </a:r>
            <a:r>
              <a:rPr lang="en-GB" sz="1300" dirty="0" smtClean="0"/>
              <a:t> events    </a:t>
            </a:r>
          </a:p>
          <a:p>
            <a:pPr algn="l"/>
            <a:endParaRPr lang="en-GB" sz="1300" dirty="0" smtClean="0"/>
          </a:p>
          <a:p>
            <a:pPr algn="l"/>
            <a:r>
              <a:rPr lang="en-GB" sz="1300" dirty="0" smtClean="0"/>
              <a:t>  &lt;</a:t>
            </a:r>
            <a:r>
              <a:rPr lang="en-GB" sz="1300" dirty="0" err="1" smtClean="0"/>
              <a:t>messageEventParsers</a:t>
            </a:r>
            <a:r>
              <a:rPr lang="en-GB" sz="1300" dirty="0" smtClean="0"/>
              <a:t>&gt;</a:t>
            </a:r>
          </a:p>
          <a:p>
            <a:pPr algn="l"/>
            <a:r>
              <a:rPr lang="en-GB" sz="1300" dirty="0" smtClean="0"/>
              <a:t>    </a:t>
            </a:r>
            <a:r>
              <a:rPr lang="en-GB" sz="1300" dirty="0"/>
              <a:t>&lt;</a:t>
            </a:r>
            <a:r>
              <a:rPr lang="en-GB" sz="1300" dirty="0" err="1"/>
              <a:t>messageEventParser</a:t>
            </a:r>
            <a:r>
              <a:rPr lang="en-GB" sz="1300" dirty="0"/>
              <a:t> </a:t>
            </a:r>
            <a:r>
              <a:rPr lang="en-GB" sz="1300" dirty="0" err="1"/>
              <a:t>foreignSource</a:t>
            </a:r>
            <a:r>
              <a:rPr lang="en-GB" sz="1300" dirty="0"/>
              <a:t>="$</a:t>
            </a:r>
            <a:r>
              <a:rPr lang="en-GB" sz="1300" dirty="0" err="1"/>
              <a:t>topicLevels</a:t>
            </a:r>
            <a:r>
              <a:rPr lang="en-GB" sz="1300" dirty="0"/>
              <a:t>[5]" </a:t>
            </a:r>
            <a:r>
              <a:rPr lang="en-GB" sz="1300" dirty="0" err="1"/>
              <a:t>payloadType</a:t>
            </a:r>
            <a:r>
              <a:rPr lang="en-GB" sz="1300" dirty="0"/>
              <a:t>="JSON" compression="UNCOMPRESSED"&gt;</a:t>
            </a:r>
          </a:p>
          <a:p>
            <a:pPr algn="l"/>
            <a:r>
              <a:rPr lang="en-GB" sz="1300" dirty="0"/>
              <a:t>      &lt;</a:t>
            </a:r>
            <a:r>
              <a:rPr lang="en-GB" sz="1300" dirty="0" err="1"/>
              <a:t>subscriptionTopics</a:t>
            </a:r>
            <a:r>
              <a:rPr lang="en-GB" sz="1300" dirty="0"/>
              <a:t>&gt;</a:t>
            </a:r>
          </a:p>
          <a:p>
            <a:pPr algn="l"/>
            <a:r>
              <a:rPr lang="en-GB" sz="1300" dirty="0"/>
              <a:t>        &lt;topic&gt;</a:t>
            </a:r>
            <a:r>
              <a:rPr lang="en-GB" sz="1300" dirty="0" err="1"/>
              <a:t>iot</a:t>
            </a:r>
            <a:r>
              <a:rPr lang="en-GB" sz="1300" dirty="0"/>
              <a:t>/type/mosquito/id/+/device/+/app/</a:t>
            </a:r>
            <a:r>
              <a:rPr lang="en-GB" sz="1300" dirty="0" err="1"/>
              <a:t>opennms</a:t>
            </a:r>
            <a:r>
              <a:rPr lang="en-GB" sz="1300" dirty="0"/>
              <a:t>/</a:t>
            </a:r>
            <a:r>
              <a:rPr lang="en-GB" sz="1300" dirty="0" err="1"/>
              <a:t>fmt</a:t>
            </a:r>
            <a:r>
              <a:rPr lang="en-GB" sz="1300" dirty="0"/>
              <a:t>/</a:t>
            </a:r>
            <a:r>
              <a:rPr lang="en-GB" sz="1300" dirty="0" err="1"/>
              <a:t>json</a:t>
            </a:r>
            <a:r>
              <a:rPr lang="en-GB" sz="1300" dirty="0"/>
              <a:t>&lt;/topic&gt;</a:t>
            </a:r>
          </a:p>
          <a:p>
            <a:pPr algn="l"/>
            <a:r>
              <a:rPr lang="en-GB" sz="1300" dirty="0"/>
              <a:t>      &lt;/</a:t>
            </a:r>
            <a:r>
              <a:rPr lang="en-GB" sz="1300" dirty="0" err="1"/>
              <a:t>subscriptionTopics</a:t>
            </a:r>
            <a:r>
              <a:rPr lang="en-GB" sz="1300" dirty="0"/>
              <a:t>&gt;</a:t>
            </a:r>
          </a:p>
          <a:p>
            <a:pPr algn="l"/>
            <a:endParaRPr lang="en-GB" sz="1300" dirty="0"/>
          </a:p>
          <a:p>
            <a:pPr algn="l"/>
            <a:r>
              <a:rPr lang="en-GB" sz="1300" dirty="0"/>
              <a:t>    </a:t>
            </a:r>
            <a:r>
              <a:rPr lang="en-GB" sz="1300" b="1" dirty="0" smtClean="0"/>
              <a:t>It is </a:t>
            </a:r>
            <a:r>
              <a:rPr lang="en-GB" sz="1300" b="1" dirty="0"/>
              <a:t>possible to specify a specific </a:t>
            </a:r>
            <a:r>
              <a:rPr lang="en-GB" sz="1300" b="1" dirty="0" err="1"/>
              <a:t>uri</a:t>
            </a:r>
            <a:r>
              <a:rPr lang="en-GB" sz="1300" b="1" dirty="0"/>
              <a:t> to </a:t>
            </a:r>
            <a:r>
              <a:rPr lang="en-GB" sz="1300" b="1" dirty="0" smtClean="0"/>
              <a:t>associate </a:t>
            </a:r>
            <a:r>
              <a:rPr lang="en-GB" sz="1300" b="1" dirty="0"/>
              <a:t>with this event </a:t>
            </a:r>
            <a:endParaRPr lang="en-GB" sz="1300" b="1" dirty="0" smtClean="0"/>
          </a:p>
          <a:p>
            <a:pPr algn="l"/>
            <a:r>
              <a:rPr lang="en-GB" sz="1300" b="1" dirty="0"/>
              <a:t> </a:t>
            </a:r>
            <a:r>
              <a:rPr lang="en-GB" sz="1300" b="1" dirty="0" smtClean="0"/>
              <a:t>   if </a:t>
            </a:r>
            <a:r>
              <a:rPr lang="en-GB" sz="1300" b="1" dirty="0" err="1"/>
              <a:t>ueiRoot</a:t>
            </a:r>
            <a:r>
              <a:rPr lang="en-GB" sz="1300" b="1" dirty="0"/>
              <a:t> is not specified then a default generic value is used </a:t>
            </a:r>
            <a:r>
              <a:rPr lang="en-GB" sz="1300" dirty="0" smtClean="0"/>
              <a:t>   </a:t>
            </a:r>
            <a:endParaRPr lang="en-GB" sz="1300" dirty="0"/>
          </a:p>
          <a:p>
            <a:pPr algn="l"/>
            <a:r>
              <a:rPr lang="en-GB" sz="1300" dirty="0"/>
              <a:t>      </a:t>
            </a:r>
            <a:r>
              <a:rPr lang="en-GB" sz="1300" b="1" dirty="0"/>
              <a:t>&lt;</a:t>
            </a:r>
            <a:r>
              <a:rPr lang="en-GB" sz="1300" b="1" dirty="0" err="1"/>
              <a:t>ueiRoot</a:t>
            </a:r>
            <a:r>
              <a:rPr lang="en-GB" sz="1300" b="1" dirty="0"/>
              <a:t>&gt;</a:t>
            </a:r>
            <a:r>
              <a:rPr lang="en-GB" sz="1300" dirty="0"/>
              <a:t>uei.opennms.org/plugin/</a:t>
            </a:r>
            <a:r>
              <a:rPr lang="en-GB" sz="1300" dirty="0" err="1"/>
              <a:t>MqttReceiver</a:t>
            </a:r>
            <a:r>
              <a:rPr lang="en-GB" sz="1300" dirty="0"/>
              <a:t>/</a:t>
            </a:r>
            <a:r>
              <a:rPr lang="en-GB" sz="1300" dirty="0" err="1"/>
              <a:t>laurawan</a:t>
            </a:r>
            <a:r>
              <a:rPr lang="en-GB" sz="1300" dirty="0"/>
              <a:t>&lt;/</a:t>
            </a:r>
            <a:r>
              <a:rPr lang="en-GB" sz="1300" dirty="0" err="1"/>
              <a:t>ueiRoot</a:t>
            </a:r>
            <a:r>
              <a:rPr lang="en-GB" sz="1300" dirty="0"/>
              <a:t>&gt;</a:t>
            </a:r>
          </a:p>
          <a:p>
            <a:pPr algn="l"/>
            <a:r>
              <a:rPr lang="en-GB" sz="1300" dirty="0" smtClean="0"/>
              <a:t>  </a:t>
            </a:r>
            <a:endParaRPr lang="en-GB" sz="1300" dirty="0"/>
          </a:p>
          <a:p>
            <a:pPr algn="l"/>
            <a:r>
              <a:rPr lang="en-GB" sz="1300" dirty="0"/>
              <a:t>      </a:t>
            </a:r>
            <a:r>
              <a:rPr lang="en-GB" sz="1300" dirty="0" smtClean="0"/>
              <a:t>   &lt;</a:t>
            </a:r>
            <a:r>
              <a:rPr lang="en-GB" sz="1300" dirty="0"/>
              <a:t>ns2:xml-groups </a:t>
            </a:r>
            <a:r>
              <a:rPr lang="en-GB" sz="1300" dirty="0" err="1"/>
              <a:t>xmlns</a:t>
            </a:r>
            <a:r>
              <a:rPr lang="en-GB" sz="1300" dirty="0"/>
              <a:t>="http://xmlns.opennms.org/</a:t>
            </a:r>
            <a:r>
              <a:rPr lang="en-GB" sz="1300" dirty="0" err="1"/>
              <a:t>xsd</a:t>
            </a:r>
            <a:r>
              <a:rPr lang="en-GB" sz="1300" dirty="0"/>
              <a:t>/</a:t>
            </a:r>
            <a:r>
              <a:rPr lang="en-GB" sz="1300" dirty="0" err="1"/>
              <a:t>config</a:t>
            </a:r>
            <a:r>
              <a:rPr lang="en-GB" sz="1300" dirty="0"/>
              <a:t>/xml-</a:t>
            </a:r>
            <a:r>
              <a:rPr lang="en-GB" sz="1300" dirty="0" err="1"/>
              <a:t>datacollection</a:t>
            </a:r>
            <a:r>
              <a:rPr lang="en-GB" sz="1300" dirty="0"/>
              <a:t>"&gt;</a:t>
            </a:r>
          </a:p>
          <a:p>
            <a:pPr algn="l"/>
            <a:r>
              <a:rPr lang="en-GB" sz="1300" dirty="0"/>
              <a:t>        </a:t>
            </a:r>
            <a:r>
              <a:rPr lang="en-GB" sz="1300" dirty="0" smtClean="0"/>
              <a:t>      &lt;</a:t>
            </a:r>
            <a:r>
              <a:rPr lang="en-GB" sz="1300" dirty="0"/>
              <a:t>ns2:xml-group name="</a:t>
            </a:r>
            <a:r>
              <a:rPr lang="en-GB" sz="1300" dirty="0" err="1"/>
              <a:t>laurawan</a:t>
            </a:r>
            <a:r>
              <a:rPr lang="en-GB" sz="1300" dirty="0"/>
              <a:t>" resource-type="</a:t>
            </a:r>
            <a:r>
              <a:rPr lang="en-GB" sz="1300" dirty="0" err="1"/>
              <a:t>laurawan</a:t>
            </a:r>
            <a:r>
              <a:rPr lang="en-GB" sz="1300" dirty="0"/>
              <a:t>" resource-</a:t>
            </a:r>
            <a:r>
              <a:rPr lang="en-GB" sz="1300" dirty="0" err="1"/>
              <a:t>xpath</a:t>
            </a:r>
            <a:r>
              <a:rPr lang="en-GB" sz="1300" dirty="0"/>
              <a:t>="/metrics" key-</a:t>
            </a:r>
            <a:r>
              <a:rPr lang="en-GB" sz="1300" dirty="0" err="1"/>
              <a:t>xpath</a:t>
            </a:r>
            <a:r>
              <a:rPr lang="en-GB" sz="1300" dirty="0"/>
              <a:t>="$</a:t>
            </a:r>
            <a:r>
              <a:rPr lang="en-GB" sz="1300" dirty="0" err="1"/>
              <a:t>topicLevels</a:t>
            </a:r>
            <a:r>
              <a:rPr lang="en-GB" sz="1300" dirty="0"/>
              <a:t>[7</a:t>
            </a:r>
            <a:r>
              <a:rPr lang="en-GB" sz="1300" dirty="0" smtClean="0"/>
              <a:t>]“</a:t>
            </a:r>
          </a:p>
          <a:p>
            <a:pPr algn="l"/>
            <a:r>
              <a:rPr lang="en-GB" sz="1300" dirty="0" smtClean="0"/>
              <a:t>                  </a:t>
            </a:r>
            <a:r>
              <a:rPr lang="en-GB" sz="1300" dirty="0"/>
              <a:t>timestamp-</a:t>
            </a:r>
            <a:r>
              <a:rPr lang="en-GB" sz="1300" dirty="0" err="1"/>
              <a:t>xpath</a:t>
            </a:r>
            <a:r>
              <a:rPr lang="en-GB" sz="1300" dirty="0"/>
              <a:t>="@</a:t>
            </a:r>
            <a:r>
              <a:rPr lang="en-GB" sz="1300" dirty="0" smtClean="0"/>
              <a:t>timestamp“    </a:t>
            </a:r>
            <a:r>
              <a:rPr lang="en-GB" sz="1300" dirty="0"/>
              <a:t>timestamp-format="</a:t>
            </a:r>
            <a:r>
              <a:rPr lang="en-GB" sz="1300" dirty="0" err="1"/>
              <a:t>yyyy</a:t>
            </a:r>
            <a:r>
              <a:rPr lang="en-GB" sz="1300" dirty="0"/>
              <a:t>-MM-</a:t>
            </a:r>
            <a:r>
              <a:rPr lang="en-GB" sz="1300" dirty="0" err="1"/>
              <a:t>dd</a:t>
            </a:r>
            <a:r>
              <a:rPr lang="en-GB" sz="1300" dirty="0"/>
              <a:t> </a:t>
            </a:r>
            <a:r>
              <a:rPr lang="en-GB" sz="1300" dirty="0" err="1"/>
              <a:t>HH:mm:ss.SSSSSS</a:t>
            </a:r>
            <a:r>
              <a:rPr lang="en-GB" sz="1300" dirty="0"/>
              <a:t>"&gt;</a:t>
            </a:r>
          </a:p>
          <a:p>
            <a:pPr algn="l"/>
            <a:r>
              <a:rPr lang="en-GB" sz="1300" dirty="0"/>
              <a:t>         </a:t>
            </a:r>
            <a:r>
              <a:rPr lang="en-GB" sz="1300" dirty="0" smtClean="0"/>
              <a:t>     &lt;ns2:xml-object name="</a:t>
            </a:r>
            <a:r>
              <a:rPr lang="en-GB" sz="1300" dirty="0" err="1" smtClean="0"/>
              <a:t>gweui</a:t>
            </a:r>
            <a:r>
              <a:rPr lang="en-GB" sz="1300" dirty="0" smtClean="0"/>
              <a:t>" type="string" </a:t>
            </a:r>
            <a:r>
              <a:rPr lang="en-GB" sz="1300" dirty="0" err="1" smtClean="0"/>
              <a:t>xpath</a:t>
            </a:r>
            <a:r>
              <a:rPr lang="en-GB" sz="1300" dirty="0" smtClean="0"/>
              <a:t>="@</a:t>
            </a:r>
            <a:r>
              <a:rPr lang="en-GB" sz="1300" dirty="0" err="1" smtClean="0"/>
              <a:t>gweui</a:t>
            </a:r>
            <a:r>
              <a:rPr lang="en-GB" sz="1300" dirty="0" smtClean="0"/>
              <a:t>" /&gt;</a:t>
            </a:r>
          </a:p>
          <a:p>
            <a:pPr algn="l"/>
            <a:r>
              <a:rPr lang="en-GB" sz="1300" dirty="0" smtClean="0"/>
              <a:t>              &lt;ns2:xml-object name="</a:t>
            </a:r>
            <a:r>
              <a:rPr lang="en-GB" sz="1300" dirty="0" err="1" smtClean="0"/>
              <a:t>deveui</a:t>
            </a:r>
            <a:r>
              <a:rPr lang="en-GB" sz="1300" dirty="0" smtClean="0"/>
              <a:t>" type="string" </a:t>
            </a:r>
            <a:r>
              <a:rPr lang="en-GB" sz="1300" dirty="0" err="1" smtClean="0"/>
              <a:t>xpath</a:t>
            </a:r>
            <a:r>
              <a:rPr lang="en-GB" sz="1300" dirty="0" smtClean="0"/>
              <a:t>="@</a:t>
            </a:r>
            <a:r>
              <a:rPr lang="en-GB" sz="1300" dirty="0" err="1" smtClean="0"/>
              <a:t>deveui</a:t>
            </a:r>
            <a:r>
              <a:rPr lang="en-GB" sz="1300" dirty="0" smtClean="0"/>
              <a:t>" /&gt;</a:t>
            </a:r>
          </a:p>
          <a:p>
            <a:pPr algn="l"/>
            <a:r>
              <a:rPr lang="en-GB" sz="1300" dirty="0" smtClean="0"/>
              <a:t>          …</a:t>
            </a:r>
            <a:endParaRPr lang="en-GB" sz="1300" dirty="0"/>
          </a:p>
          <a:p>
            <a:pPr algn="l"/>
            <a:r>
              <a:rPr lang="en-GB" sz="1300" dirty="0"/>
              <a:t>          </a:t>
            </a:r>
            <a:r>
              <a:rPr lang="en-GB" sz="1300" dirty="0" smtClean="0"/>
              <a:t>   </a:t>
            </a:r>
            <a:r>
              <a:rPr lang="en-GB" sz="1300" b="1" dirty="0" smtClean="0"/>
              <a:t> </a:t>
            </a:r>
            <a:r>
              <a:rPr lang="en-GB" sz="1300" b="1" dirty="0"/>
              <a:t>if </a:t>
            </a:r>
            <a:r>
              <a:rPr lang="en-GB" sz="1300" b="1" dirty="0" err="1"/>
              <a:t>ueiRoot</a:t>
            </a:r>
            <a:r>
              <a:rPr lang="en-GB" sz="1300" b="1" dirty="0"/>
              <a:t> is specified and in addition, the xml-group contains a definition </a:t>
            </a:r>
            <a:r>
              <a:rPr lang="en-GB" sz="1300" b="1" dirty="0" err="1"/>
              <a:t>labled</a:t>
            </a:r>
            <a:r>
              <a:rPr lang="en-GB" sz="1300" b="1" dirty="0"/>
              <a:t> "UEI_SUFFIX" </a:t>
            </a:r>
            <a:r>
              <a:rPr lang="en-GB" sz="1300" b="1" dirty="0" smtClean="0"/>
              <a:t>   </a:t>
            </a:r>
            <a:endParaRPr lang="en-GB" sz="1300" b="1" dirty="0"/>
          </a:p>
          <a:p>
            <a:pPr algn="l"/>
            <a:r>
              <a:rPr lang="en-GB" sz="1300" b="1" dirty="0"/>
              <a:t>          </a:t>
            </a:r>
            <a:r>
              <a:rPr lang="en-GB" sz="1300" b="1" dirty="0" smtClean="0"/>
              <a:t>    </a:t>
            </a:r>
            <a:r>
              <a:rPr lang="en-GB" sz="1300" b="1" dirty="0"/>
              <a:t>then the value UEI_SUFFIX parsed from the message context will be appended to the </a:t>
            </a:r>
            <a:r>
              <a:rPr lang="en-GB" sz="1300" b="1" dirty="0" err="1"/>
              <a:t>ueiRoot</a:t>
            </a:r>
            <a:r>
              <a:rPr lang="en-GB" sz="1300" b="1" dirty="0"/>
              <a:t> </a:t>
            </a:r>
            <a:r>
              <a:rPr lang="en-GB" sz="1300" b="1" dirty="0" smtClean="0"/>
              <a:t>   </a:t>
            </a:r>
            <a:endParaRPr lang="en-GB" sz="1300" b="1" dirty="0"/>
          </a:p>
          <a:p>
            <a:pPr algn="l"/>
            <a:r>
              <a:rPr lang="en-GB" sz="1300" b="1" dirty="0"/>
              <a:t>          </a:t>
            </a:r>
            <a:r>
              <a:rPr lang="en-GB" sz="1300" b="1" dirty="0" smtClean="0"/>
              <a:t>    </a:t>
            </a:r>
            <a:r>
              <a:rPr lang="en-GB" sz="1300" b="1" dirty="0"/>
              <a:t>to form a message specific </a:t>
            </a:r>
            <a:r>
              <a:rPr lang="en-GB" sz="1300" b="1" dirty="0" err="1"/>
              <a:t>uei</a:t>
            </a:r>
            <a:r>
              <a:rPr lang="en-GB" sz="1300" b="1" dirty="0"/>
              <a:t>. Thus if the following line is added </a:t>
            </a:r>
            <a:r>
              <a:rPr lang="en-GB" sz="1300" b="1" dirty="0" smtClean="0"/>
              <a:t>   </a:t>
            </a:r>
            <a:endParaRPr lang="en-GB" sz="1300" b="1" dirty="0"/>
          </a:p>
          <a:p>
            <a:pPr algn="l"/>
            <a:r>
              <a:rPr lang="en-GB" sz="1300" dirty="0"/>
              <a:t>          </a:t>
            </a:r>
            <a:r>
              <a:rPr lang="en-GB" sz="1300" dirty="0" smtClean="0"/>
              <a:t>    </a:t>
            </a:r>
            <a:r>
              <a:rPr lang="en-GB" sz="1300" dirty="0"/>
              <a:t>&lt;ns2:xml-object name="UEI_SUFFIX" type="string" </a:t>
            </a:r>
            <a:r>
              <a:rPr lang="en-GB" sz="1300" dirty="0" err="1"/>
              <a:t>xpath</a:t>
            </a:r>
            <a:r>
              <a:rPr lang="en-GB" sz="1300" dirty="0"/>
              <a:t>="@</a:t>
            </a:r>
            <a:r>
              <a:rPr lang="en-GB" sz="1300" dirty="0" err="1"/>
              <a:t>deveui</a:t>
            </a:r>
            <a:r>
              <a:rPr lang="en-GB" sz="1300" dirty="0"/>
              <a:t>" /&gt; </a:t>
            </a:r>
          </a:p>
          <a:p>
            <a:pPr algn="l"/>
            <a:r>
              <a:rPr lang="en-GB" sz="1300" dirty="0"/>
              <a:t>          </a:t>
            </a:r>
            <a:r>
              <a:rPr lang="en-GB" sz="1300" dirty="0" smtClean="0"/>
              <a:t>   </a:t>
            </a:r>
            <a:r>
              <a:rPr lang="en-GB" sz="1300" b="1" dirty="0" smtClean="0"/>
              <a:t> </a:t>
            </a:r>
            <a:r>
              <a:rPr lang="en-GB" sz="1300" b="1" dirty="0"/>
              <a:t>the generated event </a:t>
            </a:r>
            <a:r>
              <a:rPr lang="en-GB" sz="1300" b="1" dirty="0" err="1"/>
              <a:t>uei</a:t>
            </a:r>
            <a:r>
              <a:rPr lang="en-GB" sz="1300" b="1" dirty="0"/>
              <a:t> will be </a:t>
            </a:r>
            <a:r>
              <a:rPr lang="en-GB" sz="1300" b="1" dirty="0" smtClean="0"/>
              <a:t>   </a:t>
            </a:r>
            <a:endParaRPr lang="en-GB" sz="1300" b="1" dirty="0"/>
          </a:p>
          <a:p>
            <a:pPr algn="l"/>
            <a:r>
              <a:rPr lang="en-GB" sz="1300" b="1" dirty="0"/>
              <a:t>          </a:t>
            </a:r>
            <a:r>
              <a:rPr lang="en-GB" sz="1300" b="1" dirty="0" smtClean="0"/>
              <a:t>    </a:t>
            </a:r>
            <a:r>
              <a:rPr lang="en-GB" sz="1300" b="1" dirty="0"/>
              <a:t>uei.opennms.org/plugin/</a:t>
            </a:r>
            <a:r>
              <a:rPr lang="en-GB" sz="1300" b="1" dirty="0" err="1"/>
              <a:t>MqttReceiver</a:t>
            </a:r>
            <a:r>
              <a:rPr lang="en-GB" sz="1300" b="1" dirty="0"/>
              <a:t>/</a:t>
            </a:r>
            <a:r>
              <a:rPr lang="en-GB" sz="1300" b="1" dirty="0" err="1"/>
              <a:t>laurawan</a:t>
            </a:r>
            <a:r>
              <a:rPr lang="en-GB" sz="1300" b="1" dirty="0"/>
              <a:t>/{@</a:t>
            </a:r>
            <a:r>
              <a:rPr lang="en-GB" sz="1300" b="1" dirty="0" err="1"/>
              <a:t>deveui</a:t>
            </a:r>
            <a:r>
              <a:rPr lang="en-GB" sz="1300" b="1" dirty="0"/>
              <a:t> value} </a:t>
            </a:r>
            <a:r>
              <a:rPr lang="en-GB" sz="1300" b="1" dirty="0" smtClean="0"/>
              <a:t>   </a:t>
            </a:r>
            <a:endParaRPr lang="en-GB" sz="1300" b="1" dirty="0"/>
          </a:p>
          <a:p>
            <a:pPr algn="l"/>
            <a:endParaRPr lang="en-GB" sz="1300" dirty="0"/>
          </a:p>
          <a:p>
            <a:pPr algn="l"/>
            <a:r>
              <a:rPr lang="en-GB" sz="1300" dirty="0"/>
              <a:t>        </a:t>
            </a:r>
            <a:r>
              <a:rPr lang="en-GB" sz="1300" dirty="0" smtClean="0"/>
              <a:t>      &lt;/</a:t>
            </a:r>
            <a:r>
              <a:rPr lang="en-GB" sz="1300" dirty="0"/>
              <a:t>ns2:xml-group&gt;</a:t>
            </a:r>
          </a:p>
          <a:p>
            <a:pPr algn="l"/>
            <a:r>
              <a:rPr lang="en-GB" sz="1300" dirty="0"/>
              <a:t>      </a:t>
            </a:r>
            <a:r>
              <a:rPr lang="en-GB" sz="1300" dirty="0" smtClean="0"/>
              <a:t>    &lt;/</a:t>
            </a:r>
            <a:r>
              <a:rPr lang="en-GB" sz="1300" dirty="0"/>
              <a:t>ns2:xml-groups&gt;</a:t>
            </a:r>
          </a:p>
          <a:p>
            <a:pPr algn="l"/>
            <a:r>
              <a:rPr lang="en-GB" sz="1300" dirty="0" smtClean="0"/>
              <a:t>    </a:t>
            </a:r>
            <a:r>
              <a:rPr lang="en-GB" sz="1300" dirty="0"/>
              <a:t>&lt;/</a:t>
            </a:r>
            <a:r>
              <a:rPr lang="en-GB" sz="1300" dirty="0" err="1"/>
              <a:t>messageEventParser</a:t>
            </a:r>
            <a:r>
              <a:rPr lang="en-GB" sz="1300" dirty="0"/>
              <a:t>&gt;</a:t>
            </a:r>
          </a:p>
          <a:p>
            <a:pPr algn="l"/>
            <a:r>
              <a:rPr lang="en-GB" sz="1300" dirty="0" smtClean="0"/>
              <a:t>  </a:t>
            </a:r>
            <a:r>
              <a:rPr lang="en-GB" sz="1300" dirty="0"/>
              <a:t>&lt;/</a:t>
            </a:r>
            <a:r>
              <a:rPr lang="en-GB" sz="1300" dirty="0" err="1"/>
              <a:t>messageEventParsers</a:t>
            </a:r>
            <a:r>
              <a:rPr lang="en-GB" sz="1300" dirty="0" smtClean="0"/>
              <a:t>&gt;</a:t>
            </a:r>
            <a:endParaRPr lang="en-GB" sz="1300" dirty="0"/>
          </a:p>
        </p:txBody>
      </p:sp>
    </p:spTree>
    <p:extLst>
      <p:ext uri="{BB962C8B-B14F-4D97-AF65-F5344CB8AC3E}">
        <p14:creationId xmlns:p14="http://schemas.microsoft.com/office/powerpoint/2010/main" val="320711483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Contents</a:t>
            </a:r>
            <a:endParaRPr lang="en-GB" dirty="0"/>
          </a:p>
        </p:txBody>
      </p:sp>
      <p:sp>
        <p:nvSpPr>
          <p:cNvPr id="3" name="Content Placeholder 2"/>
          <p:cNvSpPr>
            <a:spLocks noGrp="1"/>
          </p:cNvSpPr>
          <p:nvPr>
            <p:ph idx="1"/>
          </p:nvPr>
        </p:nvSpPr>
        <p:spPr>
          <a:xfrm>
            <a:off x="176213" y="2132856"/>
            <a:ext cx="4632771" cy="4159994"/>
          </a:xfrm>
        </p:spPr>
        <p:txBody>
          <a:bodyPr/>
          <a:lstStyle/>
          <a:p>
            <a:r>
              <a:rPr lang="en-GB" sz="2400" b="0" dirty="0" smtClean="0"/>
              <a:t>General discussion of </a:t>
            </a:r>
            <a:r>
              <a:rPr lang="en-GB" sz="2400" b="0" dirty="0" err="1" smtClean="0"/>
              <a:t>IoT</a:t>
            </a:r>
            <a:endParaRPr lang="en-GB" sz="2400" b="0" dirty="0" smtClean="0"/>
          </a:p>
          <a:p>
            <a:endParaRPr lang="en-GB" sz="2400" dirty="0"/>
          </a:p>
          <a:p>
            <a:r>
              <a:rPr lang="en-GB" sz="2400" b="0" dirty="0" smtClean="0"/>
              <a:t>MQTT</a:t>
            </a:r>
          </a:p>
          <a:p>
            <a:endParaRPr lang="en-GB" sz="2400" b="0" dirty="0"/>
          </a:p>
          <a:p>
            <a:r>
              <a:rPr lang="en-GB" sz="2400" b="0" dirty="0" err="1" smtClean="0"/>
              <a:t>OpenNMS</a:t>
            </a:r>
            <a:r>
              <a:rPr lang="en-GB" sz="2400" b="0" dirty="0" smtClean="0"/>
              <a:t> </a:t>
            </a:r>
            <a:r>
              <a:rPr lang="en-GB" sz="2400" b="0" dirty="0" err="1" smtClean="0"/>
              <a:t>IoT</a:t>
            </a:r>
            <a:r>
              <a:rPr lang="en-GB" sz="2400" b="0" dirty="0" smtClean="0"/>
              <a:t> Plugin</a:t>
            </a:r>
          </a:p>
          <a:p>
            <a:endParaRPr lang="en-GB" sz="2400" b="0" dirty="0"/>
          </a:p>
          <a:p>
            <a:r>
              <a:rPr lang="en-GB" sz="2400" dirty="0" smtClean="0"/>
              <a:t>Use Cases</a:t>
            </a:r>
          </a:p>
          <a:p>
            <a:endParaRPr lang="en-GB" sz="2400" dirty="0"/>
          </a:p>
          <a:p>
            <a:endParaRPr lang="en-GB" sz="2400" dirty="0"/>
          </a:p>
        </p:txBody>
      </p:sp>
      <p:pic>
        <p:nvPicPr>
          <p:cNvPr id="4" name="Picture 2" descr="C:\Users\cgallen\Documents\workfolder\entimoss\events\2018-09-19-OUCE\workup\Internet_of_ThingsWikipedi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6940" y="1340768"/>
            <a:ext cx="4088467" cy="39212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157157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437" y="207963"/>
            <a:ext cx="6937027" cy="428451"/>
          </a:xfrm>
        </p:spPr>
        <p:txBody>
          <a:bodyPr/>
          <a:lstStyle/>
          <a:p>
            <a:r>
              <a:rPr lang="en-GB" dirty="0" smtClean="0"/>
              <a:t>Case Study – Monitoring Tailings</a:t>
            </a:r>
            <a:endParaRPr lang="en-GB" dirty="0"/>
          </a:p>
        </p:txBody>
      </p:sp>
      <p:sp>
        <p:nvSpPr>
          <p:cNvPr id="3" name="Content Placeholder 2"/>
          <p:cNvSpPr>
            <a:spLocks noGrp="1"/>
          </p:cNvSpPr>
          <p:nvPr>
            <p:ph idx="1"/>
          </p:nvPr>
        </p:nvSpPr>
        <p:spPr>
          <a:xfrm>
            <a:off x="176213" y="838200"/>
            <a:ext cx="6288955" cy="6019800"/>
          </a:xfrm>
        </p:spPr>
        <p:txBody>
          <a:bodyPr/>
          <a:lstStyle/>
          <a:p>
            <a:r>
              <a:rPr lang="en-GB" dirty="0" smtClean="0"/>
              <a:t>Herb </a:t>
            </a:r>
            <a:r>
              <a:rPr lang="en-GB" dirty="0" err="1" smtClean="0"/>
              <a:t>Garcea</a:t>
            </a:r>
            <a:r>
              <a:rPr lang="en-GB" dirty="0" smtClean="0"/>
              <a:t> </a:t>
            </a:r>
            <a:r>
              <a:rPr lang="en-GB" dirty="0" err="1" smtClean="0"/>
              <a:t>Insitu</a:t>
            </a:r>
            <a:r>
              <a:rPr lang="en-GB" dirty="0" smtClean="0"/>
              <a:t> </a:t>
            </a:r>
            <a:r>
              <a:rPr lang="en-GB" dirty="0"/>
              <a:t>Systems, Inc.</a:t>
            </a:r>
          </a:p>
          <a:p>
            <a:r>
              <a:rPr lang="en-GB" dirty="0" smtClean="0"/>
              <a:t>www.insitusys.com</a:t>
            </a:r>
          </a:p>
          <a:p>
            <a:endParaRPr lang="en-GB" dirty="0"/>
          </a:p>
          <a:p>
            <a:endParaRPr lang="en-GB" dirty="0" smtClean="0"/>
          </a:p>
          <a:p>
            <a:endParaRPr lang="en-GB" dirty="0"/>
          </a:p>
          <a:p>
            <a:endParaRPr lang="en-GB" dirty="0" smtClean="0"/>
          </a:p>
          <a:p>
            <a:endParaRPr lang="en-GB" dirty="0"/>
          </a:p>
          <a:p>
            <a:endParaRPr lang="en-GB" dirty="0" smtClean="0"/>
          </a:p>
          <a:p>
            <a:endParaRPr lang="en-GB" dirty="0"/>
          </a:p>
          <a:p>
            <a:endParaRPr lang="en-GB" dirty="0" smtClean="0"/>
          </a:p>
          <a:p>
            <a:endParaRPr lang="en-GB" dirty="0" smtClean="0"/>
          </a:p>
          <a:p>
            <a:r>
              <a:rPr lang="en-GB" dirty="0" smtClean="0"/>
              <a:t>Mine tailings</a:t>
            </a:r>
          </a:p>
          <a:p>
            <a:pPr lvl="1"/>
            <a:r>
              <a:rPr lang="en-GB" dirty="0" smtClean="0"/>
              <a:t>are </a:t>
            </a:r>
            <a:r>
              <a:rPr lang="en-GB" dirty="0"/>
              <a:t>the ore waste of mines, and are typically a mud-like material. Worldwide, the storage and handling of tailings is a major environmental issue. Many tailings are toxic and must be kept </a:t>
            </a:r>
            <a:r>
              <a:rPr lang="en-GB" dirty="0" smtClean="0"/>
              <a:t>perpetually </a:t>
            </a:r>
            <a:r>
              <a:rPr lang="en-GB" dirty="0"/>
              <a:t>isolated from the environment</a:t>
            </a:r>
            <a:r>
              <a:rPr lang="en-GB" dirty="0" smtClean="0"/>
              <a:t>.</a:t>
            </a:r>
          </a:p>
          <a:p>
            <a:pPr lvl="1"/>
            <a:r>
              <a:rPr lang="en-GB" dirty="0"/>
              <a:t>https://www.nps.gov/articles/aps-v13-i2-c8.htm </a:t>
            </a:r>
          </a:p>
          <a:p>
            <a:pPr lvl="1"/>
            <a:r>
              <a:rPr lang="en-GB" dirty="0"/>
              <a:t>Series: Alaska Park Science - Volume 13 Issue 2: Mineral and Energy </a:t>
            </a:r>
            <a:r>
              <a:rPr lang="en-GB" dirty="0" smtClean="0"/>
              <a:t>Development Long-term </a:t>
            </a:r>
            <a:r>
              <a:rPr lang="en-GB" dirty="0"/>
              <a:t>Risk of Tailings Dam Failure</a:t>
            </a:r>
          </a:p>
          <a:p>
            <a:endParaRPr lang="en-GB" dirty="0"/>
          </a:p>
        </p:txBody>
      </p:sp>
      <p:pic>
        <p:nvPicPr>
          <p:cNvPr id="8197" name="Picture 5" descr="C:\Users\cgallen\Documents\workfolder\entimoss\events\2018-09-19-OUCE\workup\HerbSmal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5839" y="1052736"/>
            <a:ext cx="2245785" cy="2712122"/>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C:\Users\cgallen\Documents\workfolder\entimoss\events\2018-09-19-OUCE\workup\sensorSmall.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9064" y="1805383"/>
            <a:ext cx="1286404" cy="1623617"/>
          </a:xfrm>
          <a:prstGeom prst="rect">
            <a:avLst/>
          </a:prstGeom>
          <a:noFill/>
          <a:extLst>
            <a:ext uri="{909E8E84-426E-40DD-AFC4-6F175D3DCCD1}">
              <a14:hiddenFill xmlns:a14="http://schemas.microsoft.com/office/drawing/2010/main">
                <a:solidFill>
                  <a:srgbClr val="FFFFFF"/>
                </a:solidFill>
              </a14:hiddenFill>
            </a:ext>
          </a:extLst>
        </p:spPr>
      </p:pic>
      <p:pic>
        <p:nvPicPr>
          <p:cNvPr id="8199" name="Picture 7" descr="C:\Users\cgallen\Documents\workfolder\entimoss\events\2018-09-19-OUCE\workup\multitechusbrf.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35197" y="4509120"/>
            <a:ext cx="1743075" cy="1143000"/>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C:\Users\cgallen\Documents\workfolder\entimoss\events\2018-09-19-OUCE\workup\AerialviewofPond.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6536" y="1518675"/>
            <a:ext cx="3672408" cy="2447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715914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213" y="207963"/>
            <a:ext cx="7369075" cy="749692"/>
          </a:xfrm>
        </p:spPr>
        <p:txBody>
          <a:bodyPr/>
          <a:lstStyle/>
          <a:p>
            <a:r>
              <a:rPr lang="en-GB" sz="2800" dirty="0"/>
              <a:t>Case </a:t>
            </a:r>
            <a:r>
              <a:rPr lang="en-GB" sz="2800" dirty="0" smtClean="0"/>
              <a:t>Study</a:t>
            </a:r>
            <a:br>
              <a:rPr lang="en-GB" sz="2800" dirty="0" smtClean="0"/>
            </a:br>
            <a:r>
              <a:rPr lang="en-GB" sz="2800" dirty="0" smtClean="0"/>
              <a:t>Southampton Air Pollution Monitoring</a:t>
            </a:r>
            <a:endParaRPr lang="en-GB" sz="2800" dirty="0"/>
          </a:p>
        </p:txBody>
      </p:sp>
      <p:sp>
        <p:nvSpPr>
          <p:cNvPr id="3" name="Content Placeholder 2"/>
          <p:cNvSpPr>
            <a:spLocks noGrp="1"/>
          </p:cNvSpPr>
          <p:nvPr>
            <p:ph idx="1"/>
          </p:nvPr>
        </p:nvSpPr>
        <p:spPr>
          <a:xfrm>
            <a:off x="176213" y="1052736"/>
            <a:ext cx="5136827" cy="2088232"/>
          </a:xfrm>
        </p:spPr>
        <p:txBody>
          <a:bodyPr/>
          <a:lstStyle/>
          <a:p>
            <a:pPr>
              <a:spcBef>
                <a:spcPts val="600"/>
              </a:spcBef>
            </a:pPr>
            <a:r>
              <a:rPr lang="en-GB" b="0" dirty="0"/>
              <a:t>The UK’s number one cruise port, which welcomes 1.7m passengers </a:t>
            </a:r>
          </a:p>
          <a:p>
            <a:pPr>
              <a:spcBef>
                <a:spcPts val="600"/>
              </a:spcBef>
            </a:pPr>
            <a:r>
              <a:rPr lang="en-GB" b="0" dirty="0"/>
              <a:t>Each ship up to 6000 passenger and crew</a:t>
            </a:r>
          </a:p>
          <a:p>
            <a:pPr>
              <a:spcBef>
                <a:spcPts val="600"/>
              </a:spcBef>
            </a:pPr>
            <a:r>
              <a:rPr lang="en-GB" b="0" dirty="0"/>
              <a:t>Ship turn around  1-2 days</a:t>
            </a:r>
          </a:p>
          <a:p>
            <a:pPr>
              <a:spcBef>
                <a:spcPts val="600"/>
              </a:spcBef>
            </a:pPr>
            <a:r>
              <a:rPr lang="en-GB" b="0" dirty="0"/>
              <a:t>Increasing problem of air pollution due to generators running while ships in </a:t>
            </a:r>
            <a:r>
              <a:rPr lang="en-GB" b="0" dirty="0" smtClean="0"/>
              <a:t>port</a:t>
            </a:r>
          </a:p>
          <a:p>
            <a:pPr>
              <a:spcBef>
                <a:spcPts val="600"/>
              </a:spcBef>
            </a:pPr>
            <a:endParaRPr lang="en-GB" b="0" dirty="0" smtClean="0"/>
          </a:p>
          <a:p>
            <a:pPr>
              <a:spcBef>
                <a:spcPts val="600"/>
              </a:spcBef>
            </a:pPr>
            <a:r>
              <a:rPr lang="en-GB" b="0" dirty="0"/>
              <a:t>http://www.solentairwatch.co.uk/</a:t>
            </a:r>
          </a:p>
          <a:p>
            <a:pPr lvl="1">
              <a:spcBef>
                <a:spcPts val="600"/>
              </a:spcBef>
            </a:pPr>
            <a:r>
              <a:rPr lang="en-GB" b="0" dirty="0"/>
              <a:t>Community air monitoring project</a:t>
            </a:r>
          </a:p>
          <a:p>
            <a:pPr lvl="1">
              <a:spcBef>
                <a:spcPts val="600"/>
              </a:spcBef>
            </a:pPr>
            <a:r>
              <a:rPr lang="en-GB" b="0" dirty="0"/>
              <a:t>Not for profit charity run by Southampton volunteers</a:t>
            </a:r>
          </a:p>
          <a:p>
            <a:pPr lvl="1">
              <a:spcBef>
                <a:spcPts val="600"/>
              </a:spcBef>
            </a:pPr>
            <a:r>
              <a:rPr lang="en-GB" b="0" dirty="0" smtClean="0"/>
              <a:t>Monitor Sniffy </a:t>
            </a:r>
            <a:r>
              <a:rPr lang="en-GB" b="0" dirty="0"/>
              <a:t>– version 1</a:t>
            </a:r>
          </a:p>
          <a:p>
            <a:pPr lvl="2">
              <a:spcBef>
                <a:spcPts val="600"/>
              </a:spcBef>
            </a:pPr>
            <a:r>
              <a:rPr lang="en-GB" b="0" dirty="0"/>
              <a:t>https://github.com/SolentAirWatch/sniffy</a:t>
            </a:r>
          </a:p>
          <a:p>
            <a:pPr lvl="2">
              <a:spcBef>
                <a:spcPts val="600"/>
              </a:spcBef>
            </a:pPr>
            <a:r>
              <a:rPr lang="en-GB" b="0" dirty="0"/>
              <a:t>Raspberry Pi Zero</a:t>
            </a:r>
          </a:p>
          <a:p>
            <a:pPr lvl="2">
              <a:spcBef>
                <a:spcPts val="600"/>
              </a:spcBef>
            </a:pPr>
            <a:r>
              <a:rPr lang="en-GB" b="0" dirty="0"/>
              <a:t>Low cost laser Smoke detector</a:t>
            </a:r>
          </a:p>
          <a:p>
            <a:pPr lvl="2">
              <a:spcBef>
                <a:spcPts val="600"/>
              </a:spcBef>
            </a:pPr>
            <a:r>
              <a:rPr lang="en-GB" b="0" dirty="0"/>
              <a:t>Ruggedized  </a:t>
            </a:r>
            <a:r>
              <a:rPr lang="en-GB" b="0" dirty="0" smtClean="0"/>
              <a:t>container</a:t>
            </a:r>
          </a:p>
          <a:p>
            <a:pPr lvl="1">
              <a:spcBef>
                <a:spcPts val="600"/>
              </a:spcBef>
            </a:pPr>
            <a:r>
              <a:rPr lang="en-GB" dirty="0" smtClean="0"/>
              <a:t>Founder Dr Joshua Taylor</a:t>
            </a:r>
            <a:endParaRPr lang="en-GB" b="0" dirty="0"/>
          </a:p>
          <a:p>
            <a:pPr>
              <a:spcBef>
                <a:spcPts val="600"/>
              </a:spcBef>
            </a:pPr>
            <a:endParaRPr lang="en-GB" b="0" dirty="0" smtClean="0"/>
          </a:p>
          <a:p>
            <a:pPr>
              <a:spcBef>
                <a:spcPts val="600"/>
              </a:spcBef>
            </a:pPr>
            <a:endParaRPr lang="en-GB" b="0" dirty="0"/>
          </a:p>
          <a:p>
            <a:pPr>
              <a:spcBef>
                <a:spcPts val="600"/>
              </a:spcBef>
            </a:pPr>
            <a:endParaRPr lang="en-GB" b="0" dirty="0"/>
          </a:p>
          <a:p>
            <a:endParaRPr lang="en-GB" b="0" dirty="0"/>
          </a:p>
        </p:txBody>
      </p:sp>
      <p:pic>
        <p:nvPicPr>
          <p:cNvPr id="6" name="Picture 2" descr="C:\aaaGitRepos\tmforumgithub\workup\SouthamptonPort.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89104" y="1138514"/>
            <a:ext cx="3514856" cy="234030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3" descr="C:\aaaGitRepos\tmforumgithub\workup\PortMap.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41032" y="4293096"/>
            <a:ext cx="4309444" cy="190158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C:\aaaGitRepos\tmforumhack2017\TMForumVancouver2017Hack\documentation\SolentAirwatchLogo28094956.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4064" y="2798116"/>
            <a:ext cx="1040904" cy="10409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185078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213" y="207963"/>
            <a:ext cx="6937027" cy="1285352"/>
          </a:xfrm>
        </p:spPr>
        <p:txBody>
          <a:bodyPr/>
          <a:lstStyle/>
          <a:p>
            <a:r>
              <a:rPr lang="en-GB" dirty="0" smtClean="0"/>
              <a:t>Case Study</a:t>
            </a:r>
            <a:br>
              <a:rPr lang="en-GB" dirty="0" smtClean="0"/>
            </a:br>
            <a:r>
              <a:rPr lang="en-GB" dirty="0" smtClean="0"/>
              <a:t>Receiving Amazon </a:t>
            </a:r>
            <a:r>
              <a:rPr lang="en-GB" dirty="0" err="1" smtClean="0"/>
              <a:t>CloudWatch</a:t>
            </a:r>
            <a:r>
              <a:rPr lang="en-GB" dirty="0" smtClean="0"/>
              <a:t> data via Amazon </a:t>
            </a:r>
            <a:r>
              <a:rPr lang="en-GB" dirty="0" err="1" smtClean="0"/>
              <a:t>IoT</a:t>
            </a:r>
            <a:endParaRPr lang="en-GB" dirty="0"/>
          </a:p>
        </p:txBody>
      </p:sp>
      <p:pic>
        <p:nvPicPr>
          <p:cNvPr id="4" name="Picture 2" descr="C:\Users\cgallen\Documents\workfolder\entimoss\events\2018-06-10_DevJam\EnetLogo.png"/>
          <p:cNvPicPr>
            <a:picLocks noChangeAspect="1" noChangeArrowheads="1"/>
          </p:cNvPicPr>
          <p:nvPr/>
        </p:nvPicPr>
        <p:blipFill rotWithShape="1">
          <a:blip r:embed="rId2">
            <a:extLst>
              <a:ext uri="{28A0092B-C50C-407E-A947-70E740481C1C}">
                <a14:useLocalDpi xmlns:a14="http://schemas.microsoft.com/office/drawing/2010/main" val="0"/>
              </a:ext>
            </a:extLst>
          </a:blip>
          <a:srcRect l="-5273" t="21379" r="5273" b="32466"/>
          <a:stretch/>
        </p:blipFill>
        <p:spPr bwMode="auto">
          <a:xfrm>
            <a:off x="7689850" y="2190869"/>
            <a:ext cx="1734276" cy="54864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descr="C:\Users\cgallen\Documents\workfolder\entimoss\events\2018-06-10_DevJam\Ino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05328" y="1587760"/>
            <a:ext cx="916533" cy="40079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C:\Users\cgallen\Documents\workfolder\entimoss\events\2018-06-10_DevJam\RipeNcc.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1350" y="968850"/>
            <a:ext cx="1808757" cy="599819"/>
          </a:xfrm>
          <a:prstGeom prst="rect">
            <a:avLst/>
          </a:prstGeom>
          <a:noFill/>
          <a:extLst>
            <a:ext uri="{909E8E84-426E-40DD-AFC4-6F175D3DCCD1}">
              <a14:hiddenFill xmlns:a14="http://schemas.microsoft.com/office/drawing/2010/main">
                <a:solidFill>
                  <a:srgbClr val="FFFFFF"/>
                </a:solidFill>
              </a14:hiddenFill>
            </a:ext>
          </a:extLst>
        </p:spPr>
      </p:pic>
      <p:sp>
        <p:nvSpPr>
          <p:cNvPr id="7" name="Rounded Rectangle 6"/>
          <p:cNvSpPr/>
          <p:nvPr/>
        </p:nvSpPr>
        <p:spPr bwMode="auto">
          <a:xfrm>
            <a:off x="628419" y="1989138"/>
            <a:ext cx="1512168" cy="792162"/>
          </a:xfrm>
          <a:prstGeom prst="round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smtClean="0">
                <a:ln>
                  <a:noFill/>
                </a:ln>
                <a:solidFill>
                  <a:schemeClr val="tx1"/>
                </a:solidFill>
                <a:effectLst/>
                <a:latin typeface="Arial" charset="0"/>
              </a:rPr>
              <a:t>Amazon </a:t>
            </a:r>
            <a:r>
              <a:rPr kumimoji="0" lang="en-GB" sz="1800" b="0" i="0" u="none" strike="noStrike" cap="none" normalizeH="0" baseline="0" dirty="0" err="1" smtClean="0">
                <a:ln>
                  <a:noFill/>
                </a:ln>
                <a:solidFill>
                  <a:schemeClr val="tx1"/>
                </a:solidFill>
                <a:effectLst/>
                <a:latin typeface="Arial" charset="0"/>
              </a:rPr>
              <a:t>Cloudwatch</a:t>
            </a:r>
            <a:endParaRPr kumimoji="0" lang="en-GB" sz="1800" b="0" i="0" u="none" strike="noStrike" cap="none" normalizeH="0" baseline="0" dirty="0" smtClean="0">
              <a:ln>
                <a:noFill/>
              </a:ln>
              <a:solidFill>
                <a:schemeClr val="tx1"/>
              </a:solidFill>
              <a:effectLst/>
              <a:latin typeface="Arial" charset="0"/>
            </a:endParaRPr>
          </a:p>
        </p:txBody>
      </p:sp>
      <p:sp>
        <p:nvSpPr>
          <p:cNvPr id="8" name="Rounded Rectangle 7"/>
          <p:cNvSpPr/>
          <p:nvPr/>
        </p:nvSpPr>
        <p:spPr bwMode="auto">
          <a:xfrm>
            <a:off x="2864768" y="1965022"/>
            <a:ext cx="1654641" cy="816278"/>
          </a:xfrm>
          <a:prstGeom prst="round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smtClean="0">
                <a:ln>
                  <a:noFill/>
                </a:ln>
                <a:solidFill>
                  <a:schemeClr val="tx1"/>
                </a:solidFill>
                <a:effectLst/>
                <a:latin typeface="Arial" charset="0"/>
              </a:rPr>
              <a:t>Amazon </a:t>
            </a:r>
            <a:r>
              <a:rPr kumimoji="0" lang="en-GB" sz="1800" b="0" i="0" u="none" strike="noStrike" cap="none" normalizeH="0" baseline="0" dirty="0" err="1" smtClean="0">
                <a:ln>
                  <a:noFill/>
                </a:ln>
                <a:solidFill>
                  <a:schemeClr val="tx1"/>
                </a:solidFill>
                <a:effectLst/>
                <a:latin typeface="Arial" charset="0"/>
              </a:rPr>
              <a:t>IoT</a:t>
            </a:r>
            <a:endParaRPr kumimoji="0" lang="en-GB" sz="1800" b="0" i="0" u="none" strike="noStrike" cap="none" normalizeH="0" baseline="0" dirty="0" smtClean="0">
              <a:ln>
                <a:noFill/>
              </a:ln>
              <a:solidFill>
                <a:schemeClr val="tx1"/>
              </a:solidFill>
              <a:effectLst/>
              <a:latin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lang="en-GB" dirty="0" smtClean="0">
                <a:latin typeface="Arial" charset="0"/>
              </a:rPr>
              <a:t>Broker</a:t>
            </a:r>
            <a:endParaRPr kumimoji="0" lang="en-GB" sz="1800" b="0" i="0" u="none" strike="noStrike" cap="none" normalizeH="0" baseline="0" dirty="0" smtClean="0">
              <a:ln>
                <a:noFill/>
              </a:ln>
              <a:solidFill>
                <a:schemeClr val="tx1"/>
              </a:solidFill>
              <a:effectLst/>
              <a:latin typeface="Arial" charset="0"/>
            </a:endParaRPr>
          </a:p>
        </p:txBody>
      </p:sp>
      <p:sp>
        <p:nvSpPr>
          <p:cNvPr id="9" name="Rounded Rectangle 8"/>
          <p:cNvSpPr/>
          <p:nvPr/>
        </p:nvSpPr>
        <p:spPr bwMode="auto">
          <a:xfrm>
            <a:off x="5313040" y="1988559"/>
            <a:ext cx="1800200" cy="792741"/>
          </a:xfrm>
          <a:prstGeom prst="round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err="1" smtClean="0">
                <a:ln>
                  <a:noFill/>
                </a:ln>
                <a:solidFill>
                  <a:schemeClr val="tx1"/>
                </a:solidFill>
                <a:effectLst/>
                <a:latin typeface="Arial" charset="0"/>
              </a:rPr>
              <a:t>OpenNMS</a:t>
            </a:r>
            <a:endParaRPr kumimoji="0" lang="en-GB" sz="1800" b="0" i="0" u="none" strike="noStrike" cap="none" normalizeH="0" baseline="0" dirty="0" smtClean="0">
              <a:ln>
                <a:noFill/>
              </a:ln>
              <a:solidFill>
                <a:schemeClr val="tx1"/>
              </a:solidFill>
              <a:effectLst/>
              <a:latin typeface="Arial" charset="0"/>
            </a:endParaRPr>
          </a:p>
          <a:p>
            <a:pPr marL="0" marR="0" indent="0" algn="ctr" defTabSz="914400" rtl="0" eaLnBrk="0" fontAlgn="base" latinLnBrk="0" hangingPunct="0">
              <a:lnSpc>
                <a:spcPct val="100000"/>
              </a:lnSpc>
              <a:spcBef>
                <a:spcPct val="0"/>
              </a:spcBef>
              <a:spcAft>
                <a:spcPct val="0"/>
              </a:spcAft>
              <a:buClrTx/>
              <a:buSzTx/>
              <a:buFontTx/>
              <a:buNone/>
              <a:tabLst/>
            </a:pPr>
            <a:r>
              <a:rPr lang="en-GB" dirty="0" err="1" smtClean="0">
                <a:latin typeface="Arial" charset="0"/>
              </a:rPr>
              <a:t>IoT</a:t>
            </a:r>
            <a:endParaRPr kumimoji="0" lang="en-GB" sz="1800" b="0" i="0" u="none" strike="noStrike" cap="none" normalizeH="0" baseline="0" dirty="0" smtClean="0">
              <a:ln>
                <a:noFill/>
              </a:ln>
              <a:solidFill>
                <a:schemeClr val="tx1"/>
              </a:solidFill>
              <a:effectLst/>
              <a:latin typeface="Arial" charset="0"/>
            </a:endParaRPr>
          </a:p>
        </p:txBody>
      </p:sp>
      <p:sp>
        <p:nvSpPr>
          <p:cNvPr id="10" name="Rounded Rectangle 9"/>
          <p:cNvSpPr/>
          <p:nvPr/>
        </p:nvSpPr>
        <p:spPr bwMode="auto">
          <a:xfrm>
            <a:off x="632520" y="3057628"/>
            <a:ext cx="1296144" cy="288032"/>
          </a:xfrm>
          <a:prstGeom prst="round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latin typeface="Arial" charset="0"/>
              </a:rPr>
              <a:t>AWS VM</a:t>
            </a:r>
          </a:p>
        </p:txBody>
      </p:sp>
      <p:sp>
        <p:nvSpPr>
          <p:cNvPr id="11" name="Rounded Rectangle 10"/>
          <p:cNvSpPr/>
          <p:nvPr/>
        </p:nvSpPr>
        <p:spPr bwMode="auto">
          <a:xfrm>
            <a:off x="784920" y="3210028"/>
            <a:ext cx="1296144" cy="288032"/>
          </a:xfrm>
          <a:prstGeom prst="round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latin typeface="Arial" charset="0"/>
              </a:rPr>
              <a:t>AWS VM</a:t>
            </a:r>
          </a:p>
        </p:txBody>
      </p:sp>
      <p:sp>
        <p:nvSpPr>
          <p:cNvPr id="12" name="Rounded Rectangle 11"/>
          <p:cNvSpPr/>
          <p:nvPr/>
        </p:nvSpPr>
        <p:spPr bwMode="auto">
          <a:xfrm>
            <a:off x="937320" y="3362428"/>
            <a:ext cx="1296144" cy="288032"/>
          </a:xfrm>
          <a:prstGeom prst="round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latin typeface="Arial" charset="0"/>
              </a:rPr>
              <a:t>AWS VM</a:t>
            </a:r>
          </a:p>
        </p:txBody>
      </p:sp>
      <p:sp>
        <p:nvSpPr>
          <p:cNvPr id="13" name="Rounded Rectangle 12"/>
          <p:cNvSpPr/>
          <p:nvPr/>
        </p:nvSpPr>
        <p:spPr bwMode="auto">
          <a:xfrm>
            <a:off x="1089720" y="3514828"/>
            <a:ext cx="1296144" cy="288032"/>
          </a:xfrm>
          <a:prstGeom prst="roundRect">
            <a:avLst/>
          </a:pr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GB" sz="1400" b="0" i="0" u="none" strike="noStrike" cap="none" normalizeH="0" baseline="0" dirty="0" smtClean="0">
                <a:ln>
                  <a:noFill/>
                </a:ln>
                <a:solidFill>
                  <a:schemeClr val="tx1"/>
                </a:solidFill>
                <a:effectLst/>
                <a:latin typeface="Arial" charset="0"/>
              </a:rPr>
              <a:t>AWS VM</a:t>
            </a:r>
          </a:p>
        </p:txBody>
      </p:sp>
      <p:cxnSp>
        <p:nvCxnSpPr>
          <p:cNvPr id="15" name="Elbow Connector 14"/>
          <p:cNvCxnSpPr>
            <a:stCxn id="8" idx="3"/>
            <a:endCxn id="9" idx="1"/>
          </p:cNvCxnSpPr>
          <p:nvPr/>
        </p:nvCxnSpPr>
        <p:spPr bwMode="auto">
          <a:xfrm>
            <a:off x="4519409" y="2373161"/>
            <a:ext cx="793631" cy="11769"/>
          </a:xfrm>
          <a:prstGeom prst="bentConnector3">
            <a:avLst/>
          </a:prstGeom>
          <a:noFill/>
          <a:ln w="9525" cap="flat" cmpd="sng" algn="ctr">
            <a:solidFill>
              <a:schemeClr val="tx1"/>
            </a:solidFill>
            <a:prstDash val="solid"/>
            <a:round/>
            <a:headEnd type="none" w="sm" len="sm"/>
            <a:tailEnd type="none" w="sm" len="sm"/>
          </a:ln>
          <a:effectLst/>
          <a:extLst/>
        </p:spPr>
      </p:cxnSp>
      <p:cxnSp>
        <p:nvCxnSpPr>
          <p:cNvPr id="17" name="Elbow Connector 16"/>
          <p:cNvCxnSpPr>
            <a:stCxn id="7" idx="3"/>
            <a:endCxn id="8" idx="1"/>
          </p:cNvCxnSpPr>
          <p:nvPr/>
        </p:nvCxnSpPr>
        <p:spPr bwMode="auto">
          <a:xfrm flipV="1">
            <a:off x="2140587" y="2373161"/>
            <a:ext cx="724181" cy="12058"/>
          </a:xfrm>
          <a:prstGeom prst="bentConnector3">
            <a:avLst/>
          </a:prstGeom>
          <a:noFill/>
          <a:ln w="9525" cap="flat" cmpd="sng" algn="ctr">
            <a:solidFill>
              <a:schemeClr val="tx1"/>
            </a:solidFill>
            <a:prstDash val="solid"/>
            <a:round/>
            <a:headEnd type="none" w="sm" len="sm"/>
            <a:tailEnd type="none" w="sm" len="sm"/>
          </a:ln>
          <a:effectLst/>
          <a:extLst/>
        </p:spPr>
      </p:cxnSp>
      <p:sp>
        <p:nvSpPr>
          <p:cNvPr id="20" name="Right Brace 19"/>
          <p:cNvSpPr/>
          <p:nvPr/>
        </p:nvSpPr>
        <p:spPr bwMode="auto">
          <a:xfrm rot="16200000">
            <a:off x="1308272" y="2004425"/>
            <a:ext cx="223906" cy="1882500"/>
          </a:xfrm>
          <a:prstGeom prst="rightBrace">
            <a:avLst>
              <a:gd name="adj1" fmla="val 8333"/>
              <a:gd name="adj2" fmla="val 48571"/>
            </a:avLst>
          </a:prstGeom>
          <a:noFill/>
          <a:ln w="9525" cap="flat" cmpd="sng" algn="ctr">
            <a:solidFill>
              <a:schemeClr val="tx1"/>
            </a:solidFill>
            <a:prstDash val="solid"/>
            <a:round/>
            <a:headEnd type="none" w="sm" len="sm"/>
            <a:tailEnd type="none" w="sm" len="sm"/>
          </a:ln>
          <a:effectLst/>
          <a:extLst/>
        </p:spPr>
        <p:txBody>
          <a:bodyPr vert="horz" wrap="square" lIns="82800" tIns="46800" rIns="828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charset="0"/>
            </a:endParaRPr>
          </a:p>
        </p:txBody>
      </p:sp>
      <p:sp>
        <p:nvSpPr>
          <p:cNvPr id="39" name="TextBox 38"/>
          <p:cNvSpPr txBox="1"/>
          <p:nvPr/>
        </p:nvSpPr>
        <p:spPr>
          <a:xfrm>
            <a:off x="1928664" y="1568669"/>
            <a:ext cx="1317990" cy="461665"/>
          </a:xfrm>
          <a:prstGeom prst="rect">
            <a:avLst/>
          </a:prstGeom>
          <a:noFill/>
        </p:spPr>
        <p:txBody>
          <a:bodyPr wrap="none" rtlCol="0">
            <a:spAutoFit/>
          </a:bodyPr>
          <a:lstStyle/>
          <a:p>
            <a:r>
              <a:rPr lang="en-GB" sz="1200" dirty="0" smtClean="0"/>
              <a:t>Simple message</a:t>
            </a:r>
          </a:p>
          <a:p>
            <a:r>
              <a:rPr lang="en-GB" sz="1200" dirty="0" smtClean="0"/>
              <a:t>service</a:t>
            </a:r>
            <a:endParaRPr lang="en-GB" sz="1200" dirty="0"/>
          </a:p>
        </p:txBody>
      </p:sp>
      <p:sp>
        <p:nvSpPr>
          <p:cNvPr id="40" name="TextBox 39"/>
          <p:cNvSpPr txBox="1"/>
          <p:nvPr/>
        </p:nvSpPr>
        <p:spPr>
          <a:xfrm>
            <a:off x="4597629" y="1587760"/>
            <a:ext cx="691215" cy="307777"/>
          </a:xfrm>
          <a:prstGeom prst="rect">
            <a:avLst/>
          </a:prstGeom>
          <a:noFill/>
        </p:spPr>
        <p:txBody>
          <a:bodyPr wrap="none" rtlCol="0">
            <a:spAutoFit/>
          </a:bodyPr>
          <a:lstStyle/>
          <a:p>
            <a:r>
              <a:rPr lang="en-GB" sz="1400" dirty="0" smtClean="0"/>
              <a:t>MQTT</a:t>
            </a:r>
            <a:endParaRPr lang="en-GB" sz="1400" dirty="0"/>
          </a:p>
        </p:txBody>
      </p:sp>
      <p:cxnSp>
        <p:nvCxnSpPr>
          <p:cNvPr id="42" name="Straight Connector 41"/>
          <p:cNvCxnSpPr/>
          <p:nvPr/>
        </p:nvCxnSpPr>
        <p:spPr bwMode="auto">
          <a:xfrm>
            <a:off x="4880992" y="2030334"/>
            <a:ext cx="0" cy="1179694"/>
          </a:xfrm>
          <a:prstGeom prst="line">
            <a:avLst/>
          </a:prstGeom>
          <a:solidFill>
            <a:schemeClr val="bg1"/>
          </a:solidFill>
          <a:ln w="9525" cap="flat" cmpd="sng" algn="ctr">
            <a:solidFill>
              <a:schemeClr val="tx1"/>
            </a:solidFill>
            <a:prstDash val="dash"/>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TextBox 42"/>
          <p:cNvSpPr txBox="1"/>
          <p:nvPr/>
        </p:nvSpPr>
        <p:spPr>
          <a:xfrm>
            <a:off x="5048157" y="3037883"/>
            <a:ext cx="2037481" cy="307777"/>
          </a:xfrm>
          <a:prstGeom prst="rect">
            <a:avLst/>
          </a:prstGeom>
          <a:noFill/>
        </p:spPr>
        <p:txBody>
          <a:bodyPr wrap="none" rtlCol="0">
            <a:spAutoFit/>
          </a:bodyPr>
          <a:lstStyle/>
          <a:p>
            <a:r>
              <a:rPr lang="en-GB" sz="1400" dirty="0" smtClean="0"/>
              <a:t>Stand Alone </a:t>
            </a:r>
            <a:r>
              <a:rPr lang="en-GB" sz="1400" dirty="0" err="1" smtClean="0"/>
              <a:t>OpenNMS</a:t>
            </a:r>
            <a:endParaRPr lang="en-GB" sz="1400" dirty="0"/>
          </a:p>
        </p:txBody>
      </p:sp>
      <p:sp>
        <p:nvSpPr>
          <p:cNvPr id="44" name="TextBox 43"/>
          <p:cNvSpPr txBox="1"/>
          <p:nvPr/>
        </p:nvSpPr>
        <p:spPr>
          <a:xfrm>
            <a:off x="3145985" y="3036394"/>
            <a:ext cx="1106137" cy="307777"/>
          </a:xfrm>
          <a:prstGeom prst="rect">
            <a:avLst/>
          </a:prstGeom>
          <a:noFill/>
        </p:spPr>
        <p:txBody>
          <a:bodyPr wrap="none" rtlCol="0">
            <a:spAutoFit/>
          </a:bodyPr>
          <a:lstStyle/>
          <a:p>
            <a:r>
              <a:rPr lang="en-GB" sz="1400" dirty="0" smtClean="0"/>
              <a:t>AWS Cloud</a:t>
            </a:r>
            <a:endParaRPr lang="en-GB" sz="1400" dirty="0"/>
          </a:p>
        </p:txBody>
      </p:sp>
      <p:pic>
        <p:nvPicPr>
          <p:cNvPr id="45" name="Picture 2" descr="C:\Users\cgallen\Documents\workfolder\entimoss\events\2018-06-10_DevJam\image005.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88844" y="3933056"/>
            <a:ext cx="4463208" cy="2392345"/>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3" descr="C:\Users\cgallen\Documents\workfolder\entimoss\events\2018-06-10_DevJam\image001.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6213" y="3933056"/>
            <a:ext cx="4643471" cy="244827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7709769" y="2739509"/>
            <a:ext cx="1851854" cy="369332"/>
          </a:xfrm>
          <a:prstGeom prst="rect">
            <a:avLst/>
          </a:prstGeom>
          <a:noFill/>
        </p:spPr>
        <p:txBody>
          <a:bodyPr wrap="none" rtlCol="0">
            <a:spAutoFit/>
          </a:bodyPr>
          <a:lstStyle/>
          <a:p>
            <a:r>
              <a:rPr lang="en-GB" dirty="0" smtClean="0"/>
              <a:t>With Patrick </a:t>
            </a:r>
            <a:r>
              <a:rPr lang="en-GB" dirty="0" err="1" smtClean="0"/>
              <a:t>Tuit</a:t>
            </a:r>
            <a:endParaRPr lang="en-GB" dirty="0"/>
          </a:p>
        </p:txBody>
      </p:sp>
    </p:spTree>
    <p:extLst>
      <p:ext uri="{BB962C8B-B14F-4D97-AF65-F5344CB8AC3E}">
        <p14:creationId xmlns:p14="http://schemas.microsoft.com/office/powerpoint/2010/main" val="288510747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IoT</a:t>
            </a:r>
            <a:r>
              <a:rPr lang="en-GB" dirty="0" smtClean="0"/>
              <a:t> Device Platforms Investigation</a:t>
            </a:r>
            <a:endParaRPr lang="en-GB" dirty="0"/>
          </a:p>
        </p:txBody>
      </p:sp>
      <p:sp>
        <p:nvSpPr>
          <p:cNvPr id="28" name="TextBox 27"/>
          <p:cNvSpPr txBox="1"/>
          <p:nvPr/>
        </p:nvSpPr>
        <p:spPr>
          <a:xfrm>
            <a:off x="3249891" y="1547495"/>
            <a:ext cx="990977" cy="307777"/>
          </a:xfrm>
          <a:prstGeom prst="rect">
            <a:avLst/>
          </a:prstGeom>
          <a:noFill/>
        </p:spPr>
        <p:txBody>
          <a:bodyPr wrap="none" rtlCol="0">
            <a:spAutoFit/>
          </a:bodyPr>
          <a:lstStyle>
            <a:defPPr>
              <a:defRPr lang="en-GB"/>
            </a:defPPr>
            <a:lvl1pPr>
              <a:defRPr sz="1400"/>
            </a:lvl1pPr>
          </a:lstStyle>
          <a:p>
            <a:r>
              <a:rPr lang="en-GB" dirty="0" err="1" smtClean="0"/>
              <a:t>Javascript</a:t>
            </a:r>
            <a:endParaRPr lang="en-GB" dirty="0"/>
          </a:p>
        </p:txBody>
      </p:sp>
      <p:grpSp>
        <p:nvGrpSpPr>
          <p:cNvPr id="30" name="Group 29"/>
          <p:cNvGrpSpPr/>
          <p:nvPr/>
        </p:nvGrpSpPr>
        <p:grpSpPr>
          <a:xfrm>
            <a:off x="1247765" y="1357567"/>
            <a:ext cx="7848600" cy="5387763"/>
            <a:chOff x="457200" y="241023"/>
            <a:chExt cx="8001000" cy="6464577"/>
          </a:xfrm>
        </p:grpSpPr>
        <p:sp>
          <p:nvSpPr>
            <p:cNvPr id="5" name="Rectangle 4"/>
            <p:cNvSpPr/>
            <p:nvPr/>
          </p:nvSpPr>
          <p:spPr>
            <a:xfrm>
              <a:off x="457200" y="3985364"/>
              <a:ext cx="8001000" cy="6858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err="1" smtClean="0">
                  <a:solidFill>
                    <a:schemeClr val="tx1"/>
                  </a:solidFill>
                </a:rPr>
                <a:t>Rasbian</a:t>
              </a:r>
              <a:r>
                <a:rPr lang="en-GB" sz="1400" dirty="0" smtClean="0">
                  <a:solidFill>
                    <a:schemeClr val="tx1"/>
                  </a:solidFill>
                </a:rPr>
                <a:t> OS</a:t>
              </a:r>
              <a:endParaRPr lang="en-GB" sz="1400" dirty="0">
                <a:solidFill>
                  <a:schemeClr val="tx1"/>
                </a:solidFill>
              </a:endParaRPr>
            </a:p>
          </p:txBody>
        </p:sp>
        <p:sp>
          <p:nvSpPr>
            <p:cNvPr id="6" name="Rectangle 5"/>
            <p:cNvSpPr/>
            <p:nvPr/>
          </p:nvSpPr>
          <p:spPr>
            <a:xfrm>
              <a:off x="457200" y="4747364"/>
              <a:ext cx="8001000" cy="6858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smtClean="0">
                  <a:solidFill>
                    <a:schemeClr val="tx1"/>
                  </a:solidFill>
                </a:rPr>
                <a:t>Pi Hardware</a:t>
              </a:r>
              <a:endParaRPr lang="en-GB" sz="1400" dirty="0">
                <a:solidFill>
                  <a:schemeClr val="tx1"/>
                </a:solidFill>
              </a:endParaRPr>
            </a:p>
          </p:txBody>
        </p:sp>
        <p:sp>
          <p:nvSpPr>
            <p:cNvPr id="7" name="Rectangle 6"/>
            <p:cNvSpPr/>
            <p:nvPr/>
          </p:nvSpPr>
          <p:spPr>
            <a:xfrm>
              <a:off x="5257800" y="4876800"/>
              <a:ext cx="21336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smtClean="0"/>
                <a:t>GPIO</a:t>
              </a:r>
              <a:endParaRPr lang="en-GB" sz="1400" dirty="0"/>
            </a:p>
          </p:txBody>
        </p:sp>
        <p:sp>
          <p:nvSpPr>
            <p:cNvPr id="8" name="Rectangle 7"/>
            <p:cNvSpPr/>
            <p:nvPr/>
          </p:nvSpPr>
          <p:spPr>
            <a:xfrm>
              <a:off x="2209800" y="6172200"/>
              <a:ext cx="1143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smtClean="0"/>
                <a:t>SENSORS</a:t>
              </a:r>
              <a:endParaRPr lang="en-GB" sz="1400" dirty="0"/>
            </a:p>
          </p:txBody>
        </p:sp>
        <p:sp>
          <p:nvSpPr>
            <p:cNvPr id="9" name="Rectangle 8"/>
            <p:cNvSpPr/>
            <p:nvPr/>
          </p:nvSpPr>
          <p:spPr>
            <a:xfrm>
              <a:off x="5029200" y="6172200"/>
              <a:ext cx="11430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smtClean="0"/>
                <a:t>SENSORS</a:t>
              </a:r>
              <a:endParaRPr lang="en-GB" sz="1400" dirty="0"/>
            </a:p>
          </p:txBody>
        </p:sp>
        <p:cxnSp>
          <p:nvCxnSpPr>
            <p:cNvPr id="10" name="Straight Connector 9"/>
            <p:cNvCxnSpPr>
              <a:stCxn id="8" idx="3"/>
              <a:endCxn id="9" idx="1"/>
            </p:cNvCxnSpPr>
            <p:nvPr/>
          </p:nvCxnSpPr>
          <p:spPr>
            <a:xfrm>
              <a:off x="3352800" y="6438900"/>
              <a:ext cx="1676400"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1" name="Elbow Connector 10"/>
            <p:cNvCxnSpPr>
              <a:stCxn id="7" idx="2"/>
              <a:endCxn id="9" idx="0"/>
            </p:cNvCxnSpPr>
            <p:nvPr/>
          </p:nvCxnSpPr>
          <p:spPr>
            <a:xfrm rot="5400000">
              <a:off x="5467350" y="5314950"/>
              <a:ext cx="990600" cy="723900"/>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2" name="Elbow Connector 11"/>
            <p:cNvCxnSpPr>
              <a:stCxn id="7" idx="2"/>
              <a:endCxn id="8" idx="0"/>
            </p:cNvCxnSpPr>
            <p:nvPr/>
          </p:nvCxnSpPr>
          <p:spPr>
            <a:xfrm rot="5400000">
              <a:off x="4057650" y="3905250"/>
              <a:ext cx="990600" cy="3543300"/>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533400" y="3505200"/>
              <a:ext cx="1714500" cy="3048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smtClean="0"/>
                <a:t>Python</a:t>
              </a:r>
              <a:endParaRPr lang="en-GB" sz="1400" dirty="0"/>
            </a:p>
          </p:txBody>
        </p:sp>
        <p:sp>
          <p:nvSpPr>
            <p:cNvPr id="14" name="Rectangle 13"/>
            <p:cNvSpPr/>
            <p:nvPr/>
          </p:nvSpPr>
          <p:spPr>
            <a:xfrm>
              <a:off x="533400" y="2971800"/>
              <a:ext cx="1714500" cy="3048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smtClean="0"/>
                <a:t>Python GPIO Lib</a:t>
              </a:r>
              <a:endParaRPr lang="en-GB" sz="1400" dirty="0"/>
            </a:p>
          </p:txBody>
        </p:sp>
        <p:sp>
          <p:nvSpPr>
            <p:cNvPr id="15" name="Rectangle 14"/>
            <p:cNvSpPr/>
            <p:nvPr/>
          </p:nvSpPr>
          <p:spPr>
            <a:xfrm>
              <a:off x="798487" y="2011544"/>
              <a:ext cx="1143000" cy="8382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smtClean="0"/>
                <a:t>1. Existing Sniffy Scripts</a:t>
              </a:r>
              <a:endParaRPr lang="en-GB" sz="1400" dirty="0"/>
            </a:p>
          </p:txBody>
        </p:sp>
        <p:sp>
          <p:nvSpPr>
            <p:cNvPr id="16" name="Rectangle 15"/>
            <p:cNvSpPr/>
            <p:nvPr/>
          </p:nvSpPr>
          <p:spPr>
            <a:xfrm>
              <a:off x="4114800" y="3429000"/>
              <a:ext cx="426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smtClean="0"/>
                <a:t>Java JDK</a:t>
              </a:r>
              <a:endParaRPr lang="en-GB" sz="1400" dirty="0"/>
            </a:p>
          </p:txBody>
        </p:sp>
        <p:sp>
          <p:nvSpPr>
            <p:cNvPr id="17" name="Rectangle 16"/>
            <p:cNvSpPr/>
            <p:nvPr/>
          </p:nvSpPr>
          <p:spPr>
            <a:xfrm>
              <a:off x="7315200" y="1726017"/>
              <a:ext cx="990600" cy="10171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smtClean="0"/>
                <a:t>2. simple Java Program Sniffy</a:t>
              </a:r>
            </a:p>
            <a:p>
              <a:pPr marL="342900" indent="-342900" algn="ctr">
                <a:buAutoNum type="arabicPeriod"/>
              </a:pPr>
              <a:endParaRPr lang="en-GB" sz="1100" dirty="0"/>
            </a:p>
          </p:txBody>
        </p:sp>
        <p:sp>
          <p:nvSpPr>
            <p:cNvPr id="18" name="Rectangle 17"/>
            <p:cNvSpPr/>
            <p:nvPr/>
          </p:nvSpPr>
          <p:spPr>
            <a:xfrm>
              <a:off x="4114800" y="2895600"/>
              <a:ext cx="426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smtClean="0"/>
                <a:t>Java PI4J  GPIO Lib</a:t>
              </a:r>
              <a:endParaRPr lang="en-GB" sz="1400" dirty="0"/>
            </a:p>
          </p:txBody>
        </p:sp>
        <p:sp>
          <p:nvSpPr>
            <p:cNvPr id="19" name="Rectangle 18"/>
            <p:cNvSpPr/>
            <p:nvPr/>
          </p:nvSpPr>
          <p:spPr>
            <a:xfrm>
              <a:off x="4139055" y="2362200"/>
              <a:ext cx="3023745"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err="1" smtClean="0"/>
                <a:t>OSGi</a:t>
              </a:r>
              <a:r>
                <a:rPr lang="en-GB" sz="1400" dirty="0" smtClean="0"/>
                <a:t> container</a:t>
              </a:r>
              <a:endParaRPr lang="en-GB" sz="1400" dirty="0"/>
            </a:p>
          </p:txBody>
        </p:sp>
        <p:sp>
          <p:nvSpPr>
            <p:cNvPr id="20" name="Rectangle 19"/>
            <p:cNvSpPr/>
            <p:nvPr/>
          </p:nvSpPr>
          <p:spPr>
            <a:xfrm>
              <a:off x="4139055" y="1295401"/>
              <a:ext cx="1219200" cy="914399"/>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smtClean="0"/>
                <a:t>Eclipse Kura</a:t>
              </a:r>
              <a:endParaRPr lang="en-GB" sz="1400" dirty="0"/>
            </a:p>
          </p:txBody>
        </p:sp>
        <p:sp>
          <p:nvSpPr>
            <p:cNvPr id="21" name="Rectangle 20"/>
            <p:cNvSpPr/>
            <p:nvPr/>
          </p:nvSpPr>
          <p:spPr>
            <a:xfrm>
              <a:off x="5638800" y="1268817"/>
              <a:ext cx="1219200" cy="914399"/>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err="1" smtClean="0"/>
                <a:t>OpenHAB</a:t>
              </a:r>
              <a:endParaRPr lang="en-GB" sz="1400" dirty="0"/>
            </a:p>
          </p:txBody>
        </p:sp>
        <p:sp>
          <p:nvSpPr>
            <p:cNvPr id="22" name="Rectangle 21"/>
            <p:cNvSpPr/>
            <p:nvPr/>
          </p:nvSpPr>
          <p:spPr>
            <a:xfrm>
              <a:off x="2396785" y="3505200"/>
              <a:ext cx="1295400" cy="3048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err="1" smtClean="0"/>
                <a:t>NodeJS</a:t>
              </a:r>
              <a:endParaRPr lang="en-GB" sz="1400" dirty="0"/>
            </a:p>
          </p:txBody>
        </p:sp>
        <p:sp>
          <p:nvSpPr>
            <p:cNvPr id="23" name="Rectangle 22"/>
            <p:cNvSpPr/>
            <p:nvPr/>
          </p:nvSpPr>
          <p:spPr>
            <a:xfrm>
              <a:off x="2438400" y="2362200"/>
              <a:ext cx="1371600" cy="9144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smtClean="0"/>
                <a:t>Node Red / GPIO</a:t>
              </a:r>
              <a:endParaRPr lang="en-GB" sz="1400" dirty="0"/>
            </a:p>
          </p:txBody>
        </p:sp>
        <p:sp>
          <p:nvSpPr>
            <p:cNvPr id="24" name="Rectangle 23"/>
            <p:cNvSpPr/>
            <p:nvPr/>
          </p:nvSpPr>
          <p:spPr>
            <a:xfrm>
              <a:off x="4177154" y="838201"/>
              <a:ext cx="1181100" cy="3810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3</a:t>
              </a:r>
              <a:r>
                <a:rPr lang="en-GB" sz="1100" dirty="0" smtClean="0"/>
                <a:t>. Kura Sniffy 3pp</a:t>
              </a:r>
              <a:endParaRPr lang="en-GB" sz="1100" dirty="0"/>
            </a:p>
          </p:txBody>
        </p:sp>
        <p:sp>
          <p:nvSpPr>
            <p:cNvPr id="25" name="Rectangle 24"/>
            <p:cNvSpPr/>
            <p:nvPr/>
          </p:nvSpPr>
          <p:spPr>
            <a:xfrm>
              <a:off x="2438400" y="990600"/>
              <a:ext cx="1371600" cy="121920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4</a:t>
              </a:r>
              <a:r>
                <a:rPr lang="en-GB" sz="1100" dirty="0" smtClean="0"/>
                <a:t>. Node Red Scripting</a:t>
              </a:r>
              <a:endParaRPr lang="en-GB" sz="1100" dirty="0"/>
            </a:p>
          </p:txBody>
        </p:sp>
        <p:sp>
          <p:nvSpPr>
            <p:cNvPr id="26" name="Rectangle 25"/>
            <p:cNvSpPr/>
            <p:nvPr/>
          </p:nvSpPr>
          <p:spPr>
            <a:xfrm>
              <a:off x="5638800" y="762000"/>
              <a:ext cx="1257300" cy="38100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smtClean="0"/>
                <a:t>3b. </a:t>
              </a:r>
              <a:r>
                <a:rPr lang="en-GB" sz="1100" dirty="0" err="1" smtClean="0"/>
                <a:t>OpenHAB</a:t>
              </a:r>
              <a:r>
                <a:rPr lang="en-GB" sz="1100" dirty="0" smtClean="0"/>
                <a:t> Sniffy app</a:t>
              </a:r>
              <a:endParaRPr lang="en-GB" sz="1100" dirty="0"/>
            </a:p>
          </p:txBody>
        </p:sp>
        <p:sp>
          <p:nvSpPr>
            <p:cNvPr id="27" name="TextBox 26"/>
            <p:cNvSpPr txBox="1"/>
            <p:nvPr/>
          </p:nvSpPr>
          <p:spPr>
            <a:xfrm>
              <a:off x="921946" y="1262433"/>
              <a:ext cx="756930" cy="347761"/>
            </a:xfrm>
            <a:prstGeom prst="rect">
              <a:avLst/>
            </a:prstGeom>
            <a:noFill/>
          </p:spPr>
          <p:txBody>
            <a:bodyPr wrap="none" rtlCol="0">
              <a:spAutoFit/>
            </a:bodyPr>
            <a:lstStyle/>
            <a:p>
              <a:r>
                <a:rPr lang="en-GB" sz="1400" dirty="0" smtClean="0"/>
                <a:t>Python</a:t>
              </a:r>
              <a:endParaRPr lang="en-GB" sz="1400" dirty="0"/>
            </a:p>
          </p:txBody>
        </p:sp>
        <p:sp>
          <p:nvSpPr>
            <p:cNvPr id="29" name="TextBox 28"/>
            <p:cNvSpPr txBox="1"/>
            <p:nvPr/>
          </p:nvSpPr>
          <p:spPr>
            <a:xfrm>
              <a:off x="5199730" y="241023"/>
              <a:ext cx="1944942" cy="369290"/>
            </a:xfrm>
            <a:prstGeom prst="rect">
              <a:avLst/>
            </a:prstGeom>
            <a:noFill/>
          </p:spPr>
          <p:txBody>
            <a:bodyPr wrap="none" rtlCol="0">
              <a:spAutoFit/>
            </a:bodyPr>
            <a:lstStyle/>
            <a:p>
              <a:r>
                <a:rPr lang="en-GB" sz="1400" dirty="0" smtClean="0"/>
                <a:t>Java Based Solutions</a:t>
              </a:r>
              <a:endParaRPr lang="en-GB" sz="1400" dirty="0"/>
            </a:p>
          </p:txBody>
        </p:sp>
      </p:grpSp>
      <p:pic>
        <p:nvPicPr>
          <p:cNvPr id="3074" name="Picture 2" descr="C:\Users\cgallen\Documents\workfolder\entimoss\events\2018-09-19-OUCE\workup\raspberryP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1524" y="4570530"/>
            <a:ext cx="1422794" cy="804188"/>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C:\Users\cgallen\Documents\workfolder\entimoss\events\2018-09-19-OUCE\workup\python.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6515" y="2236316"/>
            <a:ext cx="1121750" cy="37681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Users\cgallen\Documents\workfolder\entimoss\events\2018-09-19-OUCE\workup\nodeJS.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79784" y="879353"/>
            <a:ext cx="824367" cy="502663"/>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5" descr="C:\Users\cgallen\Documents\workfolder\entimoss\events\2018-09-19-OUCE\workup\nodeRed.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32865" y="750265"/>
            <a:ext cx="712515" cy="684512"/>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C:\Users\cgallen\Documents\workfolder\entimoss\events\2018-09-19-OUCE\workup\openHabLogo.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550060" y="944360"/>
            <a:ext cx="1440533" cy="315774"/>
          </a:xfrm>
          <a:prstGeom prst="rect">
            <a:avLst/>
          </a:prstGeom>
          <a:noFill/>
          <a:extLst>
            <a:ext uri="{909E8E84-426E-40DD-AFC4-6F175D3DCCD1}">
              <a14:hiddenFill xmlns:a14="http://schemas.microsoft.com/office/drawing/2010/main">
                <a:solidFill>
                  <a:srgbClr val="FFFFFF"/>
                </a:solidFill>
              </a14:hiddenFill>
            </a:ext>
          </a:extLst>
        </p:spPr>
      </p:pic>
      <p:pic>
        <p:nvPicPr>
          <p:cNvPr id="3079" name="Picture 7" descr="C:\Users\cgallen\Documents\workfolder\entimoss\events\2018-09-19-OUCE\workup\EclipseKura.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925372" y="944360"/>
            <a:ext cx="1396545" cy="315389"/>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C:\Users\cgallen\Documents\workfolder\entimoss\events\2018-09-19-OUCE\workup\java.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11524" y="1662687"/>
            <a:ext cx="354796" cy="671383"/>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p:cNvSpPr txBox="1"/>
          <p:nvPr/>
        </p:nvSpPr>
        <p:spPr>
          <a:xfrm>
            <a:off x="176213" y="944360"/>
            <a:ext cx="2828144" cy="923330"/>
          </a:xfrm>
          <a:prstGeom prst="rect">
            <a:avLst/>
          </a:prstGeom>
          <a:noFill/>
        </p:spPr>
        <p:txBody>
          <a:bodyPr wrap="square" rtlCol="0">
            <a:spAutoFit/>
          </a:bodyPr>
          <a:lstStyle/>
          <a:p>
            <a:pPr marL="285750" indent="-285750" algn="l">
              <a:buFont typeface="Arial" panose="020B0604020202020204" pitchFamily="34" charset="0"/>
              <a:buChar char="•"/>
            </a:pPr>
            <a:r>
              <a:rPr lang="en-GB" dirty="0" smtClean="0"/>
              <a:t>Benjamin Horton Masters (</a:t>
            </a:r>
            <a:r>
              <a:rPr lang="en-GB" dirty="0" err="1" smtClean="0"/>
              <a:t>Msc</a:t>
            </a:r>
            <a:r>
              <a:rPr lang="en-GB" dirty="0" smtClean="0"/>
              <a:t>) Student Solent </a:t>
            </a:r>
            <a:r>
              <a:rPr lang="en-GB" dirty="0" err="1" smtClean="0"/>
              <a:t>Uni</a:t>
            </a:r>
            <a:endParaRPr lang="en-GB" dirty="0"/>
          </a:p>
        </p:txBody>
      </p:sp>
    </p:spTree>
    <p:extLst>
      <p:ext uri="{BB962C8B-B14F-4D97-AF65-F5344CB8AC3E}">
        <p14:creationId xmlns:p14="http://schemas.microsoft.com/office/powerpoint/2010/main" val="192299085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Summary</a:t>
            </a:r>
            <a:endParaRPr lang="en-GB" dirty="0"/>
          </a:p>
        </p:txBody>
      </p:sp>
      <p:sp>
        <p:nvSpPr>
          <p:cNvPr id="3" name="Content Placeholder 2"/>
          <p:cNvSpPr>
            <a:spLocks noGrp="1"/>
          </p:cNvSpPr>
          <p:nvPr>
            <p:ph idx="1"/>
          </p:nvPr>
        </p:nvSpPr>
        <p:spPr/>
        <p:txBody>
          <a:bodyPr/>
          <a:lstStyle/>
          <a:p>
            <a:r>
              <a:rPr lang="en-GB" dirty="0" err="1" smtClean="0"/>
              <a:t>OpenNMS</a:t>
            </a:r>
            <a:r>
              <a:rPr lang="en-GB" dirty="0" smtClean="0"/>
              <a:t> now has a very credible </a:t>
            </a:r>
            <a:r>
              <a:rPr lang="en-GB" dirty="0" err="1" smtClean="0"/>
              <a:t>IoT</a:t>
            </a:r>
            <a:r>
              <a:rPr lang="en-GB" dirty="0" smtClean="0"/>
              <a:t> story</a:t>
            </a:r>
          </a:p>
          <a:p>
            <a:pPr lvl="1"/>
            <a:endParaRPr lang="en-GB" dirty="0" smtClean="0"/>
          </a:p>
          <a:p>
            <a:pPr lvl="1"/>
            <a:r>
              <a:rPr lang="en-GB" dirty="0" smtClean="0"/>
              <a:t>Data collection – Cassandra and Elastic Search</a:t>
            </a:r>
          </a:p>
          <a:p>
            <a:pPr lvl="1"/>
            <a:r>
              <a:rPr lang="en-GB" dirty="0" smtClean="0"/>
              <a:t>Drift – streaming protocols</a:t>
            </a:r>
          </a:p>
          <a:p>
            <a:pPr lvl="1"/>
            <a:r>
              <a:rPr lang="en-GB" dirty="0" smtClean="0"/>
              <a:t>Minions</a:t>
            </a:r>
          </a:p>
          <a:p>
            <a:pPr lvl="1"/>
            <a:r>
              <a:rPr lang="en-GB" dirty="0" smtClean="0"/>
              <a:t>New - MQTT plugin</a:t>
            </a:r>
          </a:p>
          <a:p>
            <a:pPr marL="0" indent="0">
              <a:buNone/>
            </a:pPr>
            <a:endParaRPr lang="en-GB" dirty="0"/>
          </a:p>
          <a:p>
            <a:r>
              <a:rPr lang="en-GB" dirty="0"/>
              <a:t>MQTT </a:t>
            </a:r>
            <a:r>
              <a:rPr lang="en-GB" dirty="0" smtClean="0"/>
              <a:t>plugin - still a prototype but appears to work well</a:t>
            </a:r>
          </a:p>
          <a:p>
            <a:pPr lvl="1"/>
            <a:r>
              <a:rPr lang="en-GB" dirty="0"/>
              <a:t>There is a </a:t>
            </a:r>
            <a:r>
              <a:rPr lang="en-GB" dirty="0" err="1"/>
              <a:t>docker</a:t>
            </a:r>
            <a:r>
              <a:rPr lang="en-GB" dirty="0"/>
              <a:t> compose project </a:t>
            </a:r>
            <a:r>
              <a:rPr lang="en-GB" dirty="0" smtClean="0">
                <a:sym typeface="Wingdings" panose="05000000000000000000" pitchFamily="2" charset="2"/>
              </a:rPr>
              <a:t></a:t>
            </a:r>
            <a:endParaRPr lang="en-GB" dirty="0" smtClean="0"/>
          </a:p>
          <a:p>
            <a:endParaRPr lang="en-GB" dirty="0"/>
          </a:p>
          <a:p>
            <a:r>
              <a:rPr lang="en-GB" dirty="0" smtClean="0"/>
              <a:t>Please spread the word</a:t>
            </a:r>
          </a:p>
          <a:p>
            <a:endParaRPr lang="en-GB" dirty="0" smtClean="0"/>
          </a:p>
          <a:p>
            <a:r>
              <a:rPr lang="en-GB" dirty="0" smtClean="0"/>
              <a:t>Try the plugin yourself</a:t>
            </a:r>
          </a:p>
          <a:p>
            <a:endParaRPr lang="en-GB" dirty="0" smtClean="0"/>
          </a:p>
          <a:p>
            <a:r>
              <a:rPr lang="en-GB" dirty="0" smtClean="0"/>
              <a:t>Give us feedback as to what to do next</a:t>
            </a:r>
          </a:p>
        </p:txBody>
      </p:sp>
    </p:spTree>
    <p:extLst>
      <p:ext uri="{BB962C8B-B14F-4D97-AF65-F5344CB8AC3E}">
        <p14:creationId xmlns:p14="http://schemas.microsoft.com/office/powerpoint/2010/main" val="177157915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2535238" y="1992966"/>
            <a:ext cx="4057201" cy="1368708"/>
          </a:xfrm>
        </p:spPr>
        <p:txBody>
          <a:bodyPr/>
          <a:lstStyle/>
          <a:p>
            <a:r>
              <a:rPr lang="en-GB" dirty="0" smtClean="0"/>
              <a:t>Thanks for listening</a:t>
            </a:r>
            <a:br>
              <a:rPr lang="en-GB" dirty="0" smtClean="0"/>
            </a:br>
            <a:r>
              <a:rPr lang="en-GB" dirty="0"/>
              <a:t/>
            </a:r>
            <a:br>
              <a:rPr lang="en-GB" dirty="0"/>
            </a:br>
            <a:r>
              <a:rPr lang="en-GB" dirty="0" smtClean="0"/>
              <a:t>Questions?</a:t>
            </a:r>
            <a:endParaRPr lang="en-GB" dirty="0"/>
          </a:p>
        </p:txBody>
      </p:sp>
      <p:sp>
        <p:nvSpPr>
          <p:cNvPr id="4" name="Subtitle 3"/>
          <p:cNvSpPr>
            <a:spLocks noGrp="1"/>
          </p:cNvSpPr>
          <p:nvPr>
            <p:ph type="subTitle" sz="quarter" idx="1"/>
          </p:nvPr>
        </p:nvSpPr>
        <p:spPr>
          <a:xfrm>
            <a:off x="2547938" y="3789040"/>
            <a:ext cx="6197600" cy="357188"/>
          </a:xfrm>
        </p:spPr>
        <p:txBody>
          <a:bodyPr/>
          <a:lstStyle/>
          <a:p>
            <a:endParaRPr lang="en-GB"/>
          </a:p>
        </p:txBody>
      </p:sp>
    </p:spTree>
    <p:extLst>
      <p:ext uri="{BB962C8B-B14F-4D97-AF65-F5344CB8AC3E}">
        <p14:creationId xmlns:p14="http://schemas.microsoft.com/office/powerpoint/2010/main" val="2498375573"/>
      </p:ext>
    </p:extLst>
  </p:cSld>
  <p:clrMapOvr>
    <a:masterClrMapping/>
  </p:clrMapOvr>
  <p:timing>
    <p:tnLst>
      <p:par>
        <p:cTn id="1" dur="indefinite" restart="never" nodeType="tmRoot"/>
      </p:par>
    </p:tnLst>
  </p:timing>
</p:sld>
</file>

<file path=ppt/theme/theme1.xml><?xml version="1.0" encoding="utf-8"?>
<a:theme xmlns:a="http://schemas.openxmlformats.org/drawingml/2006/main" name="presentation97">
  <a:themeElements>
    <a:clrScheme name="">
      <a:dk1>
        <a:srgbClr val="000000"/>
      </a:dk1>
      <a:lt1>
        <a:srgbClr val="FFFFFF"/>
      </a:lt1>
      <a:dk2>
        <a:srgbClr val="000000"/>
      </a:dk2>
      <a:lt2>
        <a:srgbClr val="B2B2B2"/>
      </a:lt2>
      <a:accent1>
        <a:srgbClr val="3333FF"/>
      </a:accent1>
      <a:accent2>
        <a:srgbClr val="FF9900"/>
      </a:accent2>
      <a:accent3>
        <a:srgbClr val="FFFFFF"/>
      </a:accent3>
      <a:accent4>
        <a:srgbClr val="000000"/>
      </a:accent4>
      <a:accent5>
        <a:srgbClr val="ADADFF"/>
      </a:accent5>
      <a:accent6>
        <a:srgbClr val="E78A00"/>
      </a:accent6>
      <a:hlink>
        <a:srgbClr val="860086"/>
      </a:hlink>
      <a:folHlink>
        <a:srgbClr val="CC0000"/>
      </a:folHlink>
    </a:clrScheme>
    <a:fontScheme name="presentation97">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82800" tIns="46800" rIns="82800" bIns="4680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82800" tIns="46800" rIns="82800" bIns="4680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lnDef>
  </a:objectDefaults>
  <a:extraClrSchemeLst>
    <a:extraClrScheme>
      <a:clrScheme name="presentation97 1">
        <a:dk1>
          <a:srgbClr val="000000"/>
        </a:dk1>
        <a:lt1>
          <a:srgbClr val="FFFFFF"/>
        </a:lt1>
        <a:dk2>
          <a:srgbClr val="FFCC00"/>
        </a:dk2>
        <a:lt2>
          <a:srgbClr val="336699"/>
        </a:lt2>
        <a:accent1>
          <a:srgbClr val="660066"/>
        </a:accent1>
        <a:accent2>
          <a:srgbClr val="0066FF"/>
        </a:accent2>
        <a:accent3>
          <a:srgbClr val="FFFFFF"/>
        </a:accent3>
        <a:accent4>
          <a:srgbClr val="000000"/>
        </a:accent4>
        <a:accent5>
          <a:srgbClr val="B8AAB8"/>
        </a:accent5>
        <a:accent6>
          <a:srgbClr val="005CE7"/>
        </a:accent6>
        <a:hlink>
          <a:srgbClr val="33CC33"/>
        </a:hlink>
        <a:folHlink>
          <a:srgbClr val="FF3300"/>
        </a:folHlink>
      </a:clrScheme>
      <a:clrMap bg1="lt1" tx1="dk1" bg2="lt2" tx2="dk2" accent1="accent1" accent2="accent2" accent3="accent3" accent4="accent4" accent5="accent5" accent6="accent6" hlink="hlink" folHlink="folHlink"/>
    </a:extraClrScheme>
    <a:extraClrScheme>
      <a:clrScheme name="presentation97 2">
        <a:dk1>
          <a:srgbClr val="969696"/>
        </a:dk1>
        <a:lt1>
          <a:srgbClr val="F8F8F8"/>
        </a:lt1>
        <a:dk2>
          <a:srgbClr val="000000"/>
        </a:dk2>
        <a:lt2>
          <a:srgbClr val="FFCC00"/>
        </a:lt2>
        <a:accent1>
          <a:srgbClr val="660066"/>
        </a:accent1>
        <a:accent2>
          <a:srgbClr val="3333CC"/>
        </a:accent2>
        <a:accent3>
          <a:srgbClr val="AAAAAA"/>
        </a:accent3>
        <a:accent4>
          <a:srgbClr val="D4D4D4"/>
        </a:accent4>
        <a:accent5>
          <a:srgbClr val="B8AAB8"/>
        </a:accent5>
        <a:accent6>
          <a:srgbClr val="2D2DB9"/>
        </a:accent6>
        <a:hlink>
          <a:srgbClr val="CCCCFF"/>
        </a:hlink>
        <a:folHlink>
          <a:srgbClr val="FF3300"/>
        </a:folHlink>
      </a:clrScheme>
      <a:clrMap bg1="dk2" tx1="lt1" bg2="dk1" tx2="lt2" accent1="accent1" accent2="accent2" accent3="accent3" accent4="accent4" accent5="accent5" accent6="accent6" hlink="hlink" folHlink="folHlink"/>
    </a:extraClrScheme>
    <a:extraClrScheme>
      <a:clrScheme name="presentation97 3">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presentation97 4">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presentation97 5">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presentation97 6">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presentation97 7">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presentation97 8">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presentation97 9">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presentation97 10">
        <a:dk1>
          <a:srgbClr val="000000"/>
        </a:dk1>
        <a:lt1>
          <a:srgbClr val="FFFFFF"/>
        </a:lt1>
        <a:dk2>
          <a:srgbClr val="FFCC00"/>
        </a:dk2>
        <a:lt2>
          <a:srgbClr val="336699"/>
        </a:lt2>
        <a:accent1>
          <a:srgbClr val="660066"/>
        </a:accent1>
        <a:accent2>
          <a:srgbClr val="0066FF"/>
        </a:accent2>
        <a:accent3>
          <a:srgbClr val="FFFFFF"/>
        </a:accent3>
        <a:accent4>
          <a:srgbClr val="000000"/>
        </a:accent4>
        <a:accent5>
          <a:srgbClr val="B8AAB8"/>
        </a:accent5>
        <a:accent6>
          <a:srgbClr val="005CE7"/>
        </a:accent6>
        <a:hlink>
          <a:srgbClr val="FF33CC"/>
        </a:hlink>
        <a:folHlink>
          <a:srgbClr val="FF3300"/>
        </a:folHlink>
      </a:clrScheme>
      <a:clrMap bg1="lt1" tx1="dk1" bg2="lt2" tx2="dk2" accent1="accent1" accent2="accent2" accent3="accent3" accent4="accent4" accent5="accent5" accent6="accent6" hlink="hlink" folHlink="folHlink"/>
    </a:extraClrScheme>
    <a:extraClrScheme>
      <a:clrScheme name="presentation97 11">
        <a:dk1>
          <a:srgbClr val="000000"/>
        </a:dk1>
        <a:lt1>
          <a:srgbClr val="FFFFFF"/>
        </a:lt1>
        <a:dk2>
          <a:srgbClr val="FFCC00"/>
        </a:dk2>
        <a:lt2>
          <a:srgbClr val="005084"/>
        </a:lt2>
        <a:accent1>
          <a:srgbClr val="660066"/>
        </a:accent1>
        <a:accent2>
          <a:srgbClr val="0066FF"/>
        </a:accent2>
        <a:accent3>
          <a:srgbClr val="FFFFFF"/>
        </a:accent3>
        <a:accent4>
          <a:srgbClr val="000000"/>
        </a:accent4>
        <a:accent5>
          <a:srgbClr val="B8AAB8"/>
        </a:accent5>
        <a:accent6>
          <a:srgbClr val="005CE7"/>
        </a:accent6>
        <a:hlink>
          <a:srgbClr val="FF33CC"/>
        </a:hlink>
        <a:folHlink>
          <a:srgbClr val="FF3300"/>
        </a:folHlink>
      </a:clrScheme>
      <a:clrMap bg1="lt1" tx1="dk1" bg2="lt2" tx2="dk2" accent1="accent1" accent2="accent2" accent3="accent3" accent4="accent4" accent5="accent5" accent6="accent6" hlink="hlink" folHlink="folHlink"/>
    </a:extraClrScheme>
    <a:extraClrScheme>
      <a:clrScheme name="presentation97 12">
        <a:dk1>
          <a:srgbClr val="000000"/>
        </a:dk1>
        <a:lt1>
          <a:srgbClr val="FFFFFF"/>
        </a:lt1>
        <a:dk2>
          <a:srgbClr val="FF9933"/>
        </a:dk2>
        <a:lt2>
          <a:srgbClr val="005084"/>
        </a:lt2>
        <a:accent1>
          <a:srgbClr val="660066"/>
        </a:accent1>
        <a:accent2>
          <a:srgbClr val="33CCCC"/>
        </a:accent2>
        <a:accent3>
          <a:srgbClr val="FFFFFF"/>
        </a:accent3>
        <a:accent4>
          <a:srgbClr val="000000"/>
        </a:accent4>
        <a:accent5>
          <a:srgbClr val="B8AAB8"/>
        </a:accent5>
        <a:accent6>
          <a:srgbClr val="2DB9B9"/>
        </a:accent6>
        <a:hlink>
          <a:srgbClr val="CC3399"/>
        </a:hlink>
        <a:folHlink>
          <a:srgbClr val="FF3300"/>
        </a:folHlink>
      </a:clrScheme>
      <a:clrMap bg1="lt1" tx1="dk1" bg2="lt2" tx2="dk2" accent1="accent1" accent2="accent2" accent3="accent3" accent4="accent4" accent5="accent5" accent6="accent6" hlink="hlink" folHlink="folHlink"/>
    </a:extraClrScheme>
    <a:extraClrScheme>
      <a:clrScheme name="presentation97 13">
        <a:dk1>
          <a:srgbClr val="000000"/>
        </a:dk1>
        <a:lt1>
          <a:srgbClr val="FFFFFF"/>
        </a:lt1>
        <a:dk2>
          <a:srgbClr val="FF9933"/>
        </a:dk2>
        <a:lt2>
          <a:srgbClr val="0066CC"/>
        </a:lt2>
        <a:accent1>
          <a:srgbClr val="660066"/>
        </a:accent1>
        <a:accent2>
          <a:srgbClr val="009999"/>
        </a:accent2>
        <a:accent3>
          <a:srgbClr val="FFFFFF"/>
        </a:accent3>
        <a:accent4>
          <a:srgbClr val="000000"/>
        </a:accent4>
        <a:accent5>
          <a:srgbClr val="B8AAB8"/>
        </a:accent5>
        <a:accent6>
          <a:srgbClr val="008A8A"/>
        </a:accent6>
        <a:hlink>
          <a:srgbClr val="CC3399"/>
        </a:hlink>
        <a:folHlink>
          <a:srgbClr val="FF33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29680</TotalTime>
  <Words>2926</Words>
  <Application>Microsoft Office PowerPoint</Application>
  <PresentationFormat>A4 Paper (210x297 mm)</PresentationFormat>
  <Paragraphs>514</Paragraphs>
  <Slides>28</Slides>
  <Notes>1</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presentation97</vt:lpstr>
      <vt:lpstr>IoT and OpenNMS</vt:lpstr>
      <vt:lpstr>Contents</vt:lpstr>
      <vt:lpstr>IoT Definition</vt:lpstr>
      <vt:lpstr>Emerging IoT Ecosystem</vt:lpstr>
      <vt:lpstr>IoT platforms  - Big Players</vt:lpstr>
      <vt:lpstr>Other Open Source IoT Platform Stacks</vt:lpstr>
      <vt:lpstr>Where could OpenNMS fit?</vt:lpstr>
      <vt:lpstr>Contents</vt:lpstr>
      <vt:lpstr>The IoT protocol MQTT</vt:lpstr>
      <vt:lpstr>MQTT Message</vt:lpstr>
      <vt:lpstr>MQTT Topic</vt:lpstr>
      <vt:lpstr>Contents</vt:lpstr>
      <vt:lpstr>OpenNMS MQTT Plugin</vt:lpstr>
      <vt:lpstr>Summary – OpenNMS MQTT</vt:lpstr>
      <vt:lpstr>How it works</vt:lpstr>
      <vt:lpstr>Basic Structure of Configuration</vt:lpstr>
      <vt:lpstr>Setting up the connection</vt:lpstr>
      <vt:lpstr>Message Data parsers</vt:lpstr>
      <vt:lpstr>Example Complex Payload</vt:lpstr>
      <vt:lpstr>Extracting Node Id from Topic path</vt:lpstr>
      <vt:lpstr>Message Event Handling</vt:lpstr>
      <vt:lpstr>Contents</vt:lpstr>
      <vt:lpstr>Case Study – Monitoring Tailings</vt:lpstr>
      <vt:lpstr>Case Study Southampton Air Pollution Monitoring</vt:lpstr>
      <vt:lpstr>Case Study Receiving Amazon CloudWatch data via Amazon IoT</vt:lpstr>
      <vt:lpstr>IoT Device Platforms Investigation</vt:lpstr>
      <vt:lpstr>Summary</vt:lpstr>
      <vt:lpstr>Thanks for listening  Questions?</vt:lpstr>
    </vt:vector>
  </TitlesOfParts>
  <Company>Northern Telecom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SUN OEM Tour 20 May 1999</dc:title>
  <dc:subject>positioning the new Nortel+Bay Networks</dc:subject>
  <dc:creator>barlier</dc:creator>
  <cp:lastModifiedBy>cgallen</cp:lastModifiedBy>
  <cp:revision>1092</cp:revision>
  <cp:lastPrinted>2018-09-20T14:50:27Z</cp:lastPrinted>
  <dcterms:created xsi:type="dcterms:W3CDTF">1999-06-01T17:11:58Z</dcterms:created>
  <dcterms:modified xsi:type="dcterms:W3CDTF">2018-09-20T14:50:57Z</dcterms:modified>
</cp:coreProperties>
</file>